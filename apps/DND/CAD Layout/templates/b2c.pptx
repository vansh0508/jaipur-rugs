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5"/>
  </p:notesMasterIdLst>
  <p:sldIdLst>
    <p:sldId id="313" r:id="rId2"/>
    <p:sldId id="314" r:id="rId3"/>
    <p:sldId id="287" r:id="rId4"/>
  </p:sldIdLst>
  <p:sldSz cx="7772400" cy="118872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4344" userDrawn="1">
          <p15:clr>
            <a:srgbClr val="A4A3A4"/>
          </p15:clr>
        </p15:guide>
        <p15:guide id="2" pos="3264" userDrawn="1">
          <p15:clr>
            <a:srgbClr val="A4A3A4"/>
          </p15:clr>
        </p15:guide>
        <p15:guide id="3" pos="288" userDrawn="1">
          <p15:clr>
            <a:srgbClr val="A4A3A4"/>
          </p15:clr>
        </p15:guide>
        <p15:guide id="4" pos="4603" userDrawn="1">
          <p15:clr>
            <a:srgbClr val="A4A3A4"/>
          </p15:clr>
        </p15:guide>
        <p15:guide id="5" orient="horz" pos="576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C4425"/>
    <a:srgbClr val="888F57"/>
    <a:srgbClr val="6B4B61"/>
    <a:srgbClr val="3C5E7A"/>
    <a:srgbClr val="829697"/>
    <a:srgbClr val="914637"/>
    <a:srgbClr val="A76350"/>
    <a:srgbClr val="BC8874"/>
    <a:srgbClr val="6E4B3C"/>
    <a:srgbClr val="947A6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077" autoAdjust="0"/>
    <p:restoredTop sz="96135" autoAdjust="0"/>
  </p:normalViewPr>
  <p:slideViewPr>
    <p:cSldViewPr snapToGrid="0" showGuides="1">
      <p:cViewPr>
        <p:scale>
          <a:sx n="66" d="100"/>
          <a:sy n="66" d="100"/>
        </p:scale>
        <p:origin x="666" y="-78"/>
      </p:cViewPr>
      <p:guideLst>
        <p:guide orient="horz" pos="4344"/>
        <p:guide pos="3264"/>
        <p:guide pos="288"/>
        <p:guide pos="4603"/>
        <p:guide orient="horz" pos="576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BA1B5F9-2745-4921-BE8D-322FCCFAD1D4}" type="datetimeFigureOut">
              <a:rPr lang="en-US" smtClean="0"/>
              <a:t>9/19/2026</a:t>
            </a:fld>
            <a:endParaRPr lang="en-US"/>
          </a:p>
        </p:txBody>
      </p:sp>
      <p:sp>
        <p:nvSpPr>
          <p:cNvPr id="4" name="Slide Image Placeholder 3"/>
          <p:cNvSpPr>
            <a:spLocks noGrp="1" noRot="1" noChangeAspect="1"/>
          </p:cNvSpPr>
          <p:nvPr>
            <p:ph type="sldImg" idx="2"/>
          </p:nvPr>
        </p:nvSpPr>
        <p:spPr>
          <a:xfrm>
            <a:off x="2419350" y="1143000"/>
            <a:ext cx="20193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D3E04D4-8DDB-4C0B-A2CE-0EF8FFC98C03}" type="slidenum">
              <a:rPr lang="en-US" smtClean="0"/>
              <a:t>‹#›</a:t>
            </a:fld>
            <a:endParaRPr lang="en-US"/>
          </a:p>
        </p:txBody>
      </p:sp>
    </p:spTree>
    <p:extLst>
      <p:ext uri="{BB962C8B-B14F-4D97-AF65-F5344CB8AC3E}">
        <p14:creationId xmlns:p14="http://schemas.microsoft.com/office/powerpoint/2010/main" val="3263229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591FF6-F004-0E48-CB57-28DD902148D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384F5CF-7CAB-AA3B-DB05-3E09B2960DF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B1173AD-FF9A-4671-A1E4-EA2D616365E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C22E38A-6A58-D82F-90BB-687BFD526C8B}"/>
              </a:ext>
            </a:extLst>
          </p:cNvPr>
          <p:cNvSpPr>
            <a:spLocks noGrp="1"/>
          </p:cNvSpPr>
          <p:nvPr>
            <p:ph type="sldNum" sz="quarter" idx="5"/>
          </p:nvPr>
        </p:nvSpPr>
        <p:spPr/>
        <p:txBody>
          <a:bodyPr/>
          <a:lstStyle/>
          <a:p>
            <a:fld id="{6D3E04D4-8DDB-4C0B-A2CE-0EF8FFC98C03}" type="slidenum">
              <a:rPr lang="en-US" smtClean="0"/>
              <a:t>1</a:t>
            </a:fld>
            <a:endParaRPr lang="en-US"/>
          </a:p>
        </p:txBody>
      </p:sp>
    </p:spTree>
    <p:extLst>
      <p:ext uri="{BB962C8B-B14F-4D97-AF65-F5344CB8AC3E}">
        <p14:creationId xmlns:p14="http://schemas.microsoft.com/office/powerpoint/2010/main" val="172594488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861E6E-3A4E-68EA-1469-826AD7C0407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5E84E2C-58CC-C6BC-7D1E-EFEF316E402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945812D-0125-8008-33F6-85D0C3972E4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E3612F2-4F9D-3173-D457-D5C04BE336B4}"/>
              </a:ext>
            </a:extLst>
          </p:cNvPr>
          <p:cNvSpPr>
            <a:spLocks noGrp="1"/>
          </p:cNvSpPr>
          <p:nvPr>
            <p:ph type="sldNum" sz="quarter" idx="5"/>
          </p:nvPr>
        </p:nvSpPr>
        <p:spPr/>
        <p:txBody>
          <a:bodyPr/>
          <a:lstStyle/>
          <a:p>
            <a:fld id="{6D3E04D4-8DDB-4C0B-A2CE-0EF8FFC98C03}" type="slidenum">
              <a:rPr lang="en-US" smtClean="0"/>
              <a:t>2</a:t>
            </a:fld>
            <a:endParaRPr lang="en-US"/>
          </a:p>
        </p:txBody>
      </p:sp>
    </p:spTree>
    <p:extLst>
      <p:ext uri="{BB962C8B-B14F-4D97-AF65-F5344CB8AC3E}">
        <p14:creationId xmlns:p14="http://schemas.microsoft.com/office/powerpoint/2010/main" val="298273764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582930" y="1945429"/>
            <a:ext cx="6606540" cy="4138507"/>
          </a:xfrm>
        </p:spPr>
        <p:txBody>
          <a:bodyPr anchor="b"/>
          <a:lstStyle>
            <a:lvl1pPr algn="ctr">
              <a:defRPr sz="5100"/>
            </a:lvl1pPr>
          </a:lstStyle>
          <a:p>
            <a:r>
              <a:rPr lang="en-US"/>
              <a:t>Click to edit Master title style</a:t>
            </a:r>
            <a:endParaRPr lang="en-US" dirty="0"/>
          </a:p>
        </p:txBody>
      </p:sp>
      <p:sp>
        <p:nvSpPr>
          <p:cNvPr id="3" name="Subtitle 2"/>
          <p:cNvSpPr>
            <a:spLocks noGrp="1"/>
          </p:cNvSpPr>
          <p:nvPr>
            <p:ph type="subTitle" idx="1"/>
          </p:nvPr>
        </p:nvSpPr>
        <p:spPr>
          <a:xfrm>
            <a:off x="971550" y="6243533"/>
            <a:ext cx="5829300" cy="2869987"/>
          </a:xfrm>
        </p:spPr>
        <p:txBody>
          <a:bodyPr/>
          <a:lstStyle>
            <a:lvl1pPr marL="0" indent="0" algn="ctr">
              <a:buNone/>
              <a:defRPr sz="2040"/>
            </a:lvl1pPr>
            <a:lvl2pPr marL="388620" indent="0" algn="ctr">
              <a:buNone/>
              <a:defRPr sz="1700"/>
            </a:lvl2pPr>
            <a:lvl3pPr marL="777240" indent="0" algn="ctr">
              <a:buNone/>
              <a:defRPr sz="1530"/>
            </a:lvl3pPr>
            <a:lvl4pPr marL="1165860" indent="0" algn="ctr">
              <a:buNone/>
              <a:defRPr sz="1360"/>
            </a:lvl4pPr>
            <a:lvl5pPr marL="1554480" indent="0" algn="ctr">
              <a:buNone/>
              <a:defRPr sz="1360"/>
            </a:lvl5pPr>
            <a:lvl6pPr marL="1943100" indent="0" algn="ctr">
              <a:buNone/>
              <a:defRPr sz="1360"/>
            </a:lvl6pPr>
            <a:lvl7pPr marL="2331720" indent="0" algn="ctr">
              <a:buNone/>
              <a:defRPr sz="1360"/>
            </a:lvl7pPr>
            <a:lvl8pPr marL="2720340" indent="0" algn="ctr">
              <a:buNone/>
              <a:defRPr sz="1360"/>
            </a:lvl8pPr>
            <a:lvl9pPr marL="3108960" indent="0" algn="ctr">
              <a:buNone/>
              <a:defRPr sz="136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E59F97CA-245A-48BA-B134-2EEE86C5EC8A}" type="datetimeFigureOut">
              <a:rPr lang="en-US" smtClean="0"/>
              <a:t>9/19/2026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064FD6E-9B24-4176-B318-6E4F28A5264C}" type="slidenum">
              <a:rPr lang="en-US" smtClean="0"/>
              <a:t>‹#›</a:t>
            </a:fld>
            <a:endParaRPr lang="en-US" dirty="0"/>
          </a:p>
        </p:txBody>
      </p:sp>
    </p:spTree>
    <p:extLst>
      <p:ext uri="{BB962C8B-B14F-4D97-AF65-F5344CB8AC3E}">
        <p14:creationId xmlns:p14="http://schemas.microsoft.com/office/powerpoint/2010/main" val="23449293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59F97CA-245A-48BA-B134-2EEE86C5EC8A}" type="datetimeFigureOut">
              <a:rPr lang="en-US" smtClean="0"/>
              <a:t>9/19/2026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064FD6E-9B24-4176-B318-6E4F28A5264C}" type="slidenum">
              <a:rPr lang="en-US" smtClean="0"/>
              <a:t>‹#›</a:t>
            </a:fld>
            <a:endParaRPr lang="en-US" dirty="0"/>
          </a:p>
        </p:txBody>
      </p:sp>
    </p:spTree>
    <p:extLst>
      <p:ext uri="{BB962C8B-B14F-4D97-AF65-F5344CB8AC3E}">
        <p14:creationId xmlns:p14="http://schemas.microsoft.com/office/powerpoint/2010/main" val="219261637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530305" y="2963549"/>
            <a:ext cx="6703695" cy="4944744"/>
          </a:xfrm>
        </p:spPr>
        <p:txBody>
          <a:bodyPr anchor="b"/>
          <a:lstStyle>
            <a:lvl1pPr>
              <a:defRPr sz="5100"/>
            </a:lvl1pPr>
          </a:lstStyle>
          <a:p>
            <a:r>
              <a:rPr lang="en-US"/>
              <a:t>Click to edit Master title style</a:t>
            </a:r>
            <a:endParaRPr lang="en-US" dirty="0"/>
          </a:p>
        </p:txBody>
      </p:sp>
      <p:sp>
        <p:nvSpPr>
          <p:cNvPr id="3" name="Text Placeholder 2"/>
          <p:cNvSpPr>
            <a:spLocks noGrp="1"/>
          </p:cNvSpPr>
          <p:nvPr>
            <p:ph type="body" idx="1"/>
          </p:nvPr>
        </p:nvSpPr>
        <p:spPr>
          <a:xfrm>
            <a:off x="530305" y="7955072"/>
            <a:ext cx="6703695" cy="2600324"/>
          </a:xfrm>
        </p:spPr>
        <p:txBody>
          <a:bodyPr/>
          <a:lstStyle>
            <a:lvl1pPr marL="0" indent="0">
              <a:buNone/>
              <a:defRPr sz="2040">
                <a:solidFill>
                  <a:schemeClr val="tx1"/>
                </a:solidFill>
              </a:defRPr>
            </a:lvl1pPr>
            <a:lvl2pPr marL="388620" indent="0">
              <a:buNone/>
              <a:defRPr sz="1700">
                <a:solidFill>
                  <a:schemeClr val="tx1">
                    <a:tint val="75000"/>
                  </a:schemeClr>
                </a:solidFill>
              </a:defRPr>
            </a:lvl2pPr>
            <a:lvl3pPr marL="777240" indent="0">
              <a:buNone/>
              <a:defRPr sz="1530">
                <a:solidFill>
                  <a:schemeClr val="tx1">
                    <a:tint val="75000"/>
                  </a:schemeClr>
                </a:solidFill>
              </a:defRPr>
            </a:lvl3pPr>
            <a:lvl4pPr marL="1165860" indent="0">
              <a:buNone/>
              <a:defRPr sz="1360">
                <a:solidFill>
                  <a:schemeClr val="tx1">
                    <a:tint val="75000"/>
                  </a:schemeClr>
                </a:solidFill>
              </a:defRPr>
            </a:lvl4pPr>
            <a:lvl5pPr marL="1554480" indent="0">
              <a:buNone/>
              <a:defRPr sz="1360">
                <a:solidFill>
                  <a:schemeClr val="tx1">
                    <a:tint val="75000"/>
                  </a:schemeClr>
                </a:solidFill>
              </a:defRPr>
            </a:lvl5pPr>
            <a:lvl6pPr marL="1943100" indent="0">
              <a:buNone/>
              <a:defRPr sz="1360">
                <a:solidFill>
                  <a:schemeClr val="tx1">
                    <a:tint val="75000"/>
                  </a:schemeClr>
                </a:solidFill>
              </a:defRPr>
            </a:lvl6pPr>
            <a:lvl7pPr marL="2331720" indent="0">
              <a:buNone/>
              <a:defRPr sz="1360">
                <a:solidFill>
                  <a:schemeClr val="tx1">
                    <a:tint val="75000"/>
                  </a:schemeClr>
                </a:solidFill>
              </a:defRPr>
            </a:lvl7pPr>
            <a:lvl8pPr marL="2720340" indent="0">
              <a:buNone/>
              <a:defRPr sz="1360">
                <a:solidFill>
                  <a:schemeClr val="tx1">
                    <a:tint val="75000"/>
                  </a:schemeClr>
                </a:solidFill>
              </a:defRPr>
            </a:lvl8pPr>
            <a:lvl9pPr marL="3108960" indent="0">
              <a:buNone/>
              <a:defRPr sz="136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59F97CA-245A-48BA-B134-2EEE86C5EC8A}" type="datetimeFigureOut">
              <a:rPr lang="en-US" smtClean="0"/>
              <a:t>9/19/2026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064FD6E-9B24-4176-B318-6E4F28A5264C}" type="slidenum">
              <a:rPr lang="en-US" smtClean="0"/>
              <a:t>‹#›</a:t>
            </a:fld>
            <a:endParaRPr lang="en-US" dirty="0"/>
          </a:p>
        </p:txBody>
      </p:sp>
    </p:spTree>
    <p:extLst>
      <p:ext uri="{BB962C8B-B14F-4D97-AF65-F5344CB8AC3E}">
        <p14:creationId xmlns:p14="http://schemas.microsoft.com/office/powerpoint/2010/main" val="107199612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534353" y="3164417"/>
            <a:ext cx="3303270" cy="754231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3934778" y="3164417"/>
            <a:ext cx="3303270" cy="754231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59F97CA-245A-48BA-B134-2EEE86C5EC8A}" type="datetimeFigureOut">
              <a:rPr lang="en-US" smtClean="0"/>
              <a:t>9/19/2026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8064FD6E-9B24-4176-B318-6E4F28A5264C}" type="slidenum">
              <a:rPr lang="en-US" smtClean="0"/>
              <a:t>‹#›</a:t>
            </a:fld>
            <a:endParaRPr lang="en-US" dirty="0"/>
          </a:p>
        </p:txBody>
      </p:sp>
    </p:spTree>
    <p:extLst>
      <p:ext uri="{BB962C8B-B14F-4D97-AF65-F5344CB8AC3E}">
        <p14:creationId xmlns:p14="http://schemas.microsoft.com/office/powerpoint/2010/main" val="191705567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535365" y="632886"/>
            <a:ext cx="6703695" cy="2297643"/>
          </a:xfrm>
        </p:spPr>
        <p:txBody>
          <a:bodyPr/>
          <a:lstStyle/>
          <a:p>
            <a:r>
              <a:rPr lang="en-US"/>
              <a:t>Click to edit Master title style</a:t>
            </a:r>
            <a:endParaRPr lang="en-US" dirty="0"/>
          </a:p>
        </p:txBody>
      </p:sp>
      <p:sp>
        <p:nvSpPr>
          <p:cNvPr id="3" name="Text Placeholder 2"/>
          <p:cNvSpPr>
            <a:spLocks noGrp="1"/>
          </p:cNvSpPr>
          <p:nvPr>
            <p:ph type="body" idx="1"/>
          </p:nvPr>
        </p:nvSpPr>
        <p:spPr>
          <a:xfrm>
            <a:off x="535366" y="2914016"/>
            <a:ext cx="3288089" cy="1428114"/>
          </a:xfrm>
        </p:spPr>
        <p:txBody>
          <a:bodyPr anchor="b"/>
          <a:lstStyle>
            <a:lvl1pPr marL="0" indent="0">
              <a:buNone/>
              <a:defRPr sz="2040" b="1"/>
            </a:lvl1pPr>
            <a:lvl2pPr marL="388620" indent="0">
              <a:buNone/>
              <a:defRPr sz="1700" b="1"/>
            </a:lvl2pPr>
            <a:lvl3pPr marL="777240" indent="0">
              <a:buNone/>
              <a:defRPr sz="1530" b="1"/>
            </a:lvl3pPr>
            <a:lvl4pPr marL="1165860" indent="0">
              <a:buNone/>
              <a:defRPr sz="1360" b="1"/>
            </a:lvl4pPr>
            <a:lvl5pPr marL="1554480" indent="0">
              <a:buNone/>
              <a:defRPr sz="1360" b="1"/>
            </a:lvl5pPr>
            <a:lvl6pPr marL="1943100" indent="0">
              <a:buNone/>
              <a:defRPr sz="1360" b="1"/>
            </a:lvl6pPr>
            <a:lvl7pPr marL="2331720" indent="0">
              <a:buNone/>
              <a:defRPr sz="1360" b="1"/>
            </a:lvl7pPr>
            <a:lvl8pPr marL="2720340" indent="0">
              <a:buNone/>
              <a:defRPr sz="1360" b="1"/>
            </a:lvl8pPr>
            <a:lvl9pPr marL="3108960" indent="0">
              <a:buNone/>
              <a:defRPr sz="1360" b="1"/>
            </a:lvl9pPr>
          </a:lstStyle>
          <a:p>
            <a:pPr lvl="0"/>
            <a:r>
              <a:rPr lang="en-US"/>
              <a:t>Click to edit Master text styles</a:t>
            </a:r>
          </a:p>
        </p:txBody>
      </p:sp>
      <p:sp>
        <p:nvSpPr>
          <p:cNvPr id="4" name="Content Placeholder 3"/>
          <p:cNvSpPr>
            <a:spLocks noGrp="1"/>
          </p:cNvSpPr>
          <p:nvPr>
            <p:ph sz="half" idx="2"/>
          </p:nvPr>
        </p:nvSpPr>
        <p:spPr>
          <a:xfrm>
            <a:off x="535366" y="4342130"/>
            <a:ext cx="3288089" cy="638661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3934778" y="2914016"/>
            <a:ext cx="3304282" cy="1428114"/>
          </a:xfrm>
        </p:spPr>
        <p:txBody>
          <a:bodyPr anchor="b"/>
          <a:lstStyle>
            <a:lvl1pPr marL="0" indent="0">
              <a:buNone/>
              <a:defRPr sz="2040" b="1"/>
            </a:lvl1pPr>
            <a:lvl2pPr marL="388620" indent="0">
              <a:buNone/>
              <a:defRPr sz="1700" b="1"/>
            </a:lvl2pPr>
            <a:lvl3pPr marL="777240" indent="0">
              <a:buNone/>
              <a:defRPr sz="1530" b="1"/>
            </a:lvl3pPr>
            <a:lvl4pPr marL="1165860" indent="0">
              <a:buNone/>
              <a:defRPr sz="1360" b="1"/>
            </a:lvl4pPr>
            <a:lvl5pPr marL="1554480" indent="0">
              <a:buNone/>
              <a:defRPr sz="1360" b="1"/>
            </a:lvl5pPr>
            <a:lvl6pPr marL="1943100" indent="0">
              <a:buNone/>
              <a:defRPr sz="1360" b="1"/>
            </a:lvl6pPr>
            <a:lvl7pPr marL="2331720" indent="0">
              <a:buNone/>
              <a:defRPr sz="1360" b="1"/>
            </a:lvl7pPr>
            <a:lvl8pPr marL="2720340" indent="0">
              <a:buNone/>
              <a:defRPr sz="1360" b="1"/>
            </a:lvl8pPr>
            <a:lvl9pPr marL="3108960" indent="0">
              <a:buNone/>
              <a:defRPr sz="1360" b="1"/>
            </a:lvl9pPr>
          </a:lstStyle>
          <a:p>
            <a:pPr lvl="0"/>
            <a:r>
              <a:rPr lang="en-US"/>
              <a:t>Click to edit Master text styles</a:t>
            </a:r>
          </a:p>
        </p:txBody>
      </p:sp>
      <p:sp>
        <p:nvSpPr>
          <p:cNvPr id="6" name="Content Placeholder 5"/>
          <p:cNvSpPr>
            <a:spLocks noGrp="1"/>
          </p:cNvSpPr>
          <p:nvPr>
            <p:ph sz="quarter" idx="4"/>
          </p:nvPr>
        </p:nvSpPr>
        <p:spPr>
          <a:xfrm>
            <a:off x="3934778" y="4342130"/>
            <a:ext cx="3304282" cy="638661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E59F97CA-245A-48BA-B134-2EEE86C5EC8A}" type="datetimeFigureOut">
              <a:rPr lang="en-US" smtClean="0"/>
              <a:t>9/19/2026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8064FD6E-9B24-4176-B318-6E4F28A5264C}" type="slidenum">
              <a:rPr lang="en-US" smtClean="0"/>
              <a:t>‹#›</a:t>
            </a:fld>
            <a:endParaRPr lang="en-US" dirty="0"/>
          </a:p>
        </p:txBody>
      </p:sp>
    </p:spTree>
    <p:extLst>
      <p:ext uri="{BB962C8B-B14F-4D97-AF65-F5344CB8AC3E}">
        <p14:creationId xmlns:p14="http://schemas.microsoft.com/office/powerpoint/2010/main" val="140472468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E59F97CA-245A-48BA-B134-2EEE86C5EC8A}" type="datetimeFigureOut">
              <a:rPr lang="en-US" smtClean="0"/>
              <a:t>9/19/2026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8064FD6E-9B24-4176-B318-6E4F28A5264C}" type="slidenum">
              <a:rPr lang="en-US" smtClean="0"/>
              <a:t>‹#›</a:t>
            </a:fld>
            <a:endParaRPr lang="en-US" dirty="0"/>
          </a:p>
        </p:txBody>
      </p:sp>
    </p:spTree>
    <p:extLst>
      <p:ext uri="{BB962C8B-B14F-4D97-AF65-F5344CB8AC3E}">
        <p14:creationId xmlns:p14="http://schemas.microsoft.com/office/powerpoint/2010/main" val="396372413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59F97CA-245A-48BA-B134-2EEE86C5EC8A}" type="datetimeFigureOut">
              <a:rPr lang="en-US" smtClean="0"/>
              <a:t>9/19/2026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8064FD6E-9B24-4176-B318-6E4F28A5264C}" type="slidenum">
              <a:rPr lang="en-US" smtClean="0"/>
              <a:t>‹#›</a:t>
            </a:fld>
            <a:endParaRPr lang="en-US" dirty="0"/>
          </a:p>
        </p:txBody>
      </p:sp>
    </p:spTree>
    <p:extLst>
      <p:ext uri="{BB962C8B-B14F-4D97-AF65-F5344CB8AC3E}">
        <p14:creationId xmlns:p14="http://schemas.microsoft.com/office/powerpoint/2010/main" val="135355713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35365" y="792480"/>
            <a:ext cx="2506801" cy="2773680"/>
          </a:xfrm>
        </p:spPr>
        <p:txBody>
          <a:bodyPr anchor="b"/>
          <a:lstStyle>
            <a:lvl1pPr>
              <a:defRPr sz="2720"/>
            </a:lvl1pPr>
          </a:lstStyle>
          <a:p>
            <a:r>
              <a:rPr lang="en-US"/>
              <a:t>Click to edit Master title style</a:t>
            </a:r>
            <a:endParaRPr lang="en-US" dirty="0"/>
          </a:p>
        </p:txBody>
      </p:sp>
      <p:sp>
        <p:nvSpPr>
          <p:cNvPr id="3" name="Content Placeholder 2"/>
          <p:cNvSpPr>
            <a:spLocks noGrp="1"/>
          </p:cNvSpPr>
          <p:nvPr>
            <p:ph idx="1"/>
          </p:nvPr>
        </p:nvSpPr>
        <p:spPr>
          <a:xfrm>
            <a:off x="3304282" y="1711539"/>
            <a:ext cx="3934778" cy="8447617"/>
          </a:xfrm>
        </p:spPr>
        <p:txBody>
          <a:bodyPr/>
          <a:lstStyle>
            <a:lvl1pPr>
              <a:defRPr sz="2720"/>
            </a:lvl1pPr>
            <a:lvl2pPr>
              <a:defRPr sz="2380"/>
            </a:lvl2pPr>
            <a:lvl3pPr>
              <a:defRPr sz="2040"/>
            </a:lvl3pPr>
            <a:lvl4pPr>
              <a:defRPr sz="1700"/>
            </a:lvl4pPr>
            <a:lvl5pPr>
              <a:defRPr sz="1700"/>
            </a:lvl5pPr>
            <a:lvl6pPr>
              <a:defRPr sz="1700"/>
            </a:lvl6pPr>
            <a:lvl7pPr>
              <a:defRPr sz="1700"/>
            </a:lvl7pPr>
            <a:lvl8pPr>
              <a:defRPr sz="1700"/>
            </a:lvl8pPr>
            <a:lvl9pPr>
              <a:defRPr sz="17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535365" y="3566160"/>
            <a:ext cx="2506801" cy="6606753"/>
          </a:xfrm>
        </p:spPr>
        <p:txBody>
          <a:bodyPr/>
          <a:lstStyle>
            <a:lvl1pPr marL="0" indent="0">
              <a:buNone/>
              <a:defRPr sz="1360"/>
            </a:lvl1pPr>
            <a:lvl2pPr marL="388620" indent="0">
              <a:buNone/>
              <a:defRPr sz="1190"/>
            </a:lvl2pPr>
            <a:lvl3pPr marL="777240" indent="0">
              <a:buNone/>
              <a:defRPr sz="1020"/>
            </a:lvl3pPr>
            <a:lvl4pPr marL="1165860" indent="0">
              <a:buNone/>
              <a:defRPr sz="850"/>
            </a:lvl4pPr>
            <a:lvl5pPr marL="1554480" indent="0">
              <a:buNone/>
              <a:defRPr sz="850"/>
            </a:lvl5pPr>
            <a:lvl6pPr marL="1943100" indent="0">
              <a:buNone/>
              <a:defRPr sz="850"/>
            </a:lvl6pPr>
            <a:lvl7pPr marL="2331720" indent="0">
              <a:buNone/>
              <a:defRPr sz="850"/>
            </a:lvl7pPr>
            <a:lvl8pPr marL="2720340" indent="0">
              <a:buNone/>
              <a:defRPr sz="850"/>
            </a:lvl8pPr>
            <a:lvl9pPr marL="3108960" indent="0">
              <a:buNone/>
              <a:defRPr sz="850"/>
            </a:lvl9pPr>
          </a:lstStyle>
          <a:p>
            <a:pPr lvl="0"/>
            <a:r>
              <a:rPr lang="en-US"/>
              <a:t>Click to edit Master text styles</a:t>
            </a:r>
          </a:p>
        </p:txBody>
      </p:sp>
      <p:sp>
        <p:nvSpPr>
          <p:cNvPr id="5" name="Date Placeholder 4"/>
          <p:cNvSpPr>
            <a:spLocks noGrp="1"/>
          </p:cNvSpPr>
          <p:nvPr>
            <p:ph type="dt" sz="half" idx="10"/>
          </p:nvPr>
        </p:nvSpPr>
        <p:spPr/>
        <p:txBody>
          <a:bodyPr/>
          <a:lstStyle/>
          <a:p>
            <a:fld id="{E59F97CA-245A-48BA-B134-2EEE86C5EC8A}" type="datetimeFigureOut">
              <a:rPr lang="en-US" smtClean="0"/>
              <a:t>9/19/2026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8064FD6E-9B24-4176-B318-6E4F28A5264C}" type="slidenum">
              <a:rPr lang="en-US" smtClean="0"/>
              <a:t>‹#›</a:t>
            </a:fld>
            <a:endParaRPr lang="en-US" dirty="0"/>
          </a:p>
        </p:txBody>
      </p:sp>
    </p:spTree>
    <p:extLst>
      <p:ext uri="{BB962C8B-B14F-4D97-AF65-F5344CB8AC3E}">
        <p14:creationId xmlns:p14="http://schemas.microsoft.com/office/powerpoint/2010/main" val="113648093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35365" y="792480"/>
            <a:ext cx="2506801" cy="2773680"/>
          </a:xfrm>
        </p:spPr>
        <p:txBody>
          <a:bodyPr anchor="b"/>
          <a:lstStyle>
            <a:lvl1pPr>
              <a:defRPr sz="2720"/>
            </a:lvl1pPr>
          </a:lstStyle>
          <a:p>
            <a:r>
              <a:rPr lang="en-US"/>
              <a:t>Click to edit Master title style</a:t>
            </a:r>
            <a:endParaRPr lang="en-US" dirty="0"/>
          </a:p>
        </p:txBody>
      </p:sp>
      <p:sp>
        <p:nvSpPr>
          <p:cNvPr id="3" name="Picture Placeholder 2"/>
          <p:cNvSpPr>
            <a:spLocks noGrp="1" noChangeAspect="1"/>
          </p:cNvSpPr>
          <p:nvPr>
            <p:ph type="pic" idx="1"/>
          </p:nvPr>
        </p:nvSpPr>
        <p:spPr>
          <a:xfrm>
            <a:off x="3304282" y="1711539"/>
            <a:ext cx="3934778" cy="8447617"/>
          </a:xfrm>
        </p:spPr>
        <p:txBody>
          <a:bodyPr anchor="t"/>
          <a:lstStyle>
            <a:lvl1pPr marL="0" indent="0">
              <a:buNone/>
              <a:defRPr sz="2720"/>
            </a:lvl1pPr>
            <a:lvl2pPr marL="388620" indent="0">
              <a:buNone/>
              <a:defRPr sz="2380"/>
            </a:lvl2pPr>
            <a:lvl3pPr marL="777240" indent="0">
              <a:buNone/>
              <a:defRPr sz="2040"/>
            </a:lvl3pPr>
            <a:lvl4pPr marL="1165860" indent="0">
              <a:buNone/>
              <a:defRPr sz="1700"/>
            </a:lvl4pPr>
            <a:lvl5pPr marL="1554480" indent="0">
              <a:buNone/>
              <a:defRPr sz="1700"/>
            </a:lvl5pPr>
            <a:lvl6pPr marL="1943100" indent="0">
              <a:buNone/>
              <a:defRPr sz="1700"/>
            </a:lvl6pPr>
            <a:lvl7pPr marL="2331720" indent="0">
              <a:buNone/>
              <a:defRPr sz="1700"/>
            </a:lvl7pPr>
            <a:lvl8pPr marL="2720340" indent="0">
              <a:buNone/>
              <a:defRPr sz="1700"/>
            </a:lvl8pPr>
            <a:lvl9pPr marL="3108960" indent="0">
              <a:buNone/>
              <a:defRPr sz="1700"/>
            </a:lvl9pPr>
          </a:lstStyle>
          <a:p>
            <a:r>
              <a:rPr lang="en-US" dirty="0"/>
              <a:t>Click icon to add picture</a:t>
            </a:r>
          </a:p>
        </p:txBody>
      </p:sp>
      <p:sp>
        <p:nvSpPr>
          <p:cNvPr id="4" name="Text Placeholder 3"/>
          <p:cNvSpPr>
            <a:spLocks noGrp="1"/>
          </p:cNvSpPr>
          <p:nvPr>
            <p:ph type="body" sz="half" idx="2"/>
          </p:nvPr>
        </p:nvSpPr>
        <p:spPr>
          <a:xfrm>
            <a:off x="535365" y="3566160"/>
            <a:ext cx="2506801" cy="6606753"/>
          </a:xfrm>
        </p:spPr>
        <p:txBody>
          <a:bodyPr/>
          <a:lstStyle>
            <a:lvl1pPr marL="0" indent="0">
              <a:buNone/>
              <a:defRPr sz="1360"/>
            </a:lvl1pPr>
            <a:lvl2pPr marL="388620" indent="0">
              <a:buNone/>
              <a:defRPr sz="1190"/>
            </a:lvl2pPr>
            <a:lvl3pPr marL="777240" indent="0">
              <a:buNone/>
              <a:defRPr sz="1020"/>
            </a:lvl3pPr>
            <a:lvl4pPr marL="1165860" indent="0">
              <a:buNone/>
              <a:defRPr sz="850"/>
            </a:lvl4pPr>
            <a:lvl5pPr marL="1554480" indent="0">
              <a:buNone/>
              <a:defRPr sz="850"/>
            </a:lvl5pPr>
            <a:lvl6pPr marL="1943100" indent="0">
              <a:buNone/>
              <a:defRPr sz="850"/>
            </a:lvl6pPr>
            <a:lvl7pPr marL="2331720" indent="0">
              <a:buNone/>
              <a:defRPr sz="850"/>
            </a:lvl7pPr>
            <a:lvl8pPr marL="2720340" indent="0">
              <a:buNone/>
              <a:defRPr sz="850"/>
            </a:lvl8pPr>
            <a:lvl9pPr marL="3108960" indent="0">
              <a:buNone/>
              <a:defRPr sz="850"/>
            </a:lvl9pPr>
          </a:lstStyle>
          <a:p>
            <a:pPr lvl="0"/>
            <a:r>
              <a:rPr lang="en-US"/>
              <a:t>Click to edit Master text styles</a:t>
            </a:r>
          </a:p>
        </p:txBody>
      </p:sp>
      <p:sp>
        <p:nvSpPr>
          <p:cNvPr id="5" name="Date Placeholder 4"/>
          <p:cNvSpPr>
            <a:spLocks noGrp="1"/>
          </p:cNvSpPr>
          <p:nvPr>
            <p:ph type="dt" sz="half" idx="10"/>
          </p:nvPr>
        </p:nvSpPr>
        <p:spPr/>
        <p:txBody>
          <a:bodyPr/>
          <a:lstStyle/>
          <a:p>
            <a:fld id="{E59F97CA-245A-48BA-B134-2EEE86C5EC8A}" type="datetimeFigureOut">
              <a:rPr lang="en-US" smtClean="0"/>
              <a:t>9/19/2026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8064FD6E-9B24-4176-B318-6E4F28A5264C}" type="slidenum">
              <a:rPr lang="en-US" smtClean="0"/>
              <a:t>‹#›</a:t>
            </a:fld>
            <a:endParaRPr lang="en-US" dirty="0"/>
          </a:p>
        </p:txBody>
      </p:sp>
    </p:spTree>
    <p:extLst>
      <p:ext uri="{BB962C8B-B14F-4D97-AF65-F5344CB8AC3E}">
        <p14:creationId xmlns:p14="http://schemas.microsoft.com/office/powerpoint/2010/main" val="213946529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59F97CA-245A-48BA-B134-2EEE86C5EC8A}" type="datetimeFigureOut">
              <a:rPr lang="en-US" smtClean="0"/>
              <a:t>9/19/2026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064FD6E-9B24-4176-B318-6E4F28A5264C}" type="slidenum">
              <a:rPr lang="en-US" smtClean="0"/>
              <a:t>‹#›</a:t>
            </a:fld>
            <a:endParaRPr lang="en-US" dirty="0"/>
          </a:p>
        </p:txBody>
      </p:sp>
    </p:spTree>
    <p:extLst>
      <p:ext uri="{BB962C8B-B14F-4D97-AF65-F5344CB8AC3E}">
        <p14:creationId xmlns:p14="http://schemas.microsoft.com/office/powerpoint/2010/main" val="102736432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5562124" y="632883"/>
            <a:ext cx="1675924" cy="10073853"/>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534353" y="632883"/>
            <a:ext cx="4930616" cy="1007385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59F97CA-245A-48BA-B134-2EEE86C5EC8A}" type="datetimeFigureOut">
              <a:rPr lang="en-US" smtClean="0"/>
              <a:t>9/19/2026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064FD6E-9B24-4176-B318-6E4F28A5264C}" type="slidenum">
              <a:rPr lang="en-US" smtClean="0"/>
              <a:t>‹#›</a:t>
            </a:fld>
            <a:endParaRPr lang="en-US" dirty="0"/>
          </a:p>
        </p:txBody>
      </p:sp>
    </p:spTree>
    <p:extLst>
      <p:ext uri="{BB962C8B-B14F-4D97-AF65-F5344CB8AC3E}">
        <p14:creationId xmlns:p14="http://schemas.microsoft.com/office/powerpoint/2010/main" val="155209717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34353" y="632886"/>
            <a:ext cx="6703695" cy="229764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534353" y="3164417"/>
            <a:ext cx="6703695" cy="7542319"/>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34353" y="11017676"/>
            <a:ext cx="1748790" cy="632883"/>
          </a:xfrm>
          <a:prstGeom prst="rect">
            <a:avLst/>
          </a:prstGeom>
        </p:spPr>
        <p:txBody>
          <a:bodyPr vert="horz" lIns="91440" tIns="45720" rIns="91440" bIns="45720" rtlCol="0" anchor="ctr"/>
          <a:lstStyle>
            <a:lvl1pPr algn="l">
              <a:defRPr sz="1020">
                <a:solidFill>
                  <a:schemeClr val="tx1">
                    <a:tint val="75000"/>
                  </a:schemeClr>
                </a:solidFill>
              </a:defRPr>
            </a:lvl1pPr>
          </a:lstStyle>
          <a:p>
            <a:fld id="{E59F97CA-245A-48BA-B134-2EEE86C5EC8A}" type="datetimeFigureOut">
              <a:rPr lang="en-US" smtClean="0"/>
              <a:t>9/19/2026</a:t>
            </a:fld>
            <a:endParaRPr lang="en-US" dirty="0"/>
          </a:p>
        </p:txBody>
      </p:sp>
      <p:sp>
        <p:nvSpPr>
          <p:cNvPr id="5" name="Footer Placeholder 4"/>
          <p:cNvSpPr>
            <a:spLocks noGrp="1"/>
          </p:cNvSpPr>
          <p:nvPr>
            <p:ph type="ftr" sz="quarter" idx="3"/>
          </p:nvPr>
        </p:nvSpPr>
        <p:spPr>
          <a:xfrm>
            <a:off x="2574608" y="11017676"/>
            <a:ext cx="2623185" cy="632883"/>
          </a:xfrm>
          <a:prstGeom prst="rect">
            <a:avLst/>
          </a:prstGeom>
        </p:spPr>
        <p:txBody>
          <a:bodyPr vert="horz" lIns="91440" tIns="45720" rIns="91440" bIns="45720" rtlCol="0" anchor="ctr"/>
          <a:lstStyle>
            <a:lvl1pPr algn="ctr">
              <a:defRPr sz="102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5489258" y="11017676"/>
            <a:ext cx="1748790" cy="632883"/>
          </a:xfrm>
          <a:prstGeom prst="rect">
            <a:avLst/>
          </a:prstGeom>
        </p:spPr>
        <p:txBody>
          <a:bodyPr vert="horz" lIns="91440" tIns="45720" rIns="91440" bIns="45720" rtlCol="0" anchor="ctr"/>
          <a:lstStyle>
            <a:lvl1pPr algn="r">
              <a:defRPr sz="1020">
                <a:solidFill>
                  <a:schemeClr val="tx1">
                    <a:tint val="75000"/>
                  </a:schemeClr>
                </a:solidFill>
              </a:defRPr>
            </a:lvl1pPr>
          </a:lstStyle>
          <a:p>
            <a:fld id="{8064FD6E-9B24-4176-B318-6E4F28A5264C}" type="slidenum">
              <a:rPr lang="en-US" smtClean="0"/>
              <a:t>‹#›</a:t>
            </a:fld>
            <a:endParaRPr lang="en-US" dirty="0"/>
          </a:p>
        </p:txBody>
      </p:sp>
    </p:spTree>
    <p:extLst>
      <p:ext uri="{BB962C8B-B14F-4D97-AF65-F5344CB8AC3E}">
        <p14:creationId xmlns:p14="http://schemas.microsoft.com/office/powerpoint/2010/main" val="34699098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777240" rtl="0" eaLnBrk="1" latinLnBrk="0" hangingPunct="1">
        <a:lnSpc>
          <a:spcPct val="90000"/>
        </a:lnSpc>
        <a:spcBef>
          <a:spcPct val="0"/>
        </a:spcBef>
        <a:buNone/>
        <a:defRPr sz="3740" kern="1200">
          <a:solidFill>
            <a:schemeClr val="tx1"/>
          </a:solidFill>
          <a:latin typeface="+mj-lt"/>
          <a:ea typeface="+mj-ea"/>
          <a:cs typeface="+mj-cs"/>
        </a:defRPr>
      </a:lvl1pPr>
    </p:titleStyle>
    <p:bodyStyle>
      <a:lvl1pPr marL="194310" indent="-194310" algn="l" defTabSz="777240" rtl="0" eaLnBrk="1" latinLnBrk="0" hangingPunct="1">
        <a:lnSpc>
          <a:spcPct val="90000"/>
        </a:lnSpc>
        <a:spcBef>
          <a:spcPts val="850"/>
        </a:spcBef>
        <a:buFont typeface="Arial" panose="020B0604020202020204" pitchFamily="34" charset="0"/>
        <a:buChar char="•"/>
        <a:defRPr sz="2380" kern="1200">
          <a:solidFill>
            <a:schemeClr val="tx1"/>
          </a:solidFill>
          <a:latin typeface="+mn-lt"/>
          <a:ea typeface="+mn-ea"/>
          <a:cs typeface="+mn-cs"/>
        </a:defRPr>
      </a:lvl1pPr>
      <a:lvl2pPr marL="582930" indent="-194310" algn="l" defTabSz="777240" rtl="0" eaLnBrk="1" latinLnBrk="0" hangingPunct="1">
        <a:lnSpc>
          <a:spcPct val="90000"/>
        </a:lnSpc>
        <a:spcBef>
          <a:spcPts val="425"/>
        </a:spcBef>
        <a:buFont typeface="Arial" panose="020B0604020202020204" pitchFamily="34" charset="0"/>
        <a:buChar char="•"/>
        <a:defRPr sz="2040" kern="1200">
          <a:solidFill>
            <a:schemeClr val="tx1"/>
          </a:solidFill>
          <a:latin typeface="+mn-lt"/>
          <a:ea typeface="+mn-ea"/>
          <a:cs typeface="+mn-cs"/>
        </a:defRPr>
      </a:lvl2pPr>
      <a:lvl3pPr marL="971550" indent="-194310" algn="l" defTabSz="777240" rtl="0" eaLnBrk="1" latinLnBrk="0" hangingPunct="1">
        <a:lnSpc>
          <a:spcPct val="90000"/>
        </a:lnSpc>
        <a:spcBef>
          <a:spcPts val="425"/>
        </a:spcBef>
        <a:buFont typeface="Arial" panose="020B0604020202020204" pitchFamily="34" charset="0"/>
        <a:buChar char="•"/>
        <a:defRPr sz="1700" kern="1200">
          <a:solidFill>
            <a:schemeClr val="tx1"/>
          </a:solidFill>
          <a:latin typeface="+mn-lt"/>
          <a:ea typeface="+mn-ea"/>
          <a:cs typeface="+mn-cs"/>
        </a:defRPr>
      </a:lvl3pPr>
      <a:lvl4pPr marL="1360170" indent="-194310" algn="l" defTabSz="777240" rtl="0" eaLnBrk="1" latinLnBrk="0" hangingPunct="1">
        <a:lnSpc>
          <a:spcPct val="90000"/>
        </a:lnSpc>
        <a:spcBef>
          <a:spcPts val="425"/>
        </a:spcBef>
        <a:buFont typeface="Arial" panose="020B0604020202020204" pitchFamily="34" charset="0"/>
        <a:buChar char="•"/>
        <a:defRPr sz="1530" kern="1200">
          <a:solidFill>
            <a:schemeClr val="tx1"/>
          </a:solidFill>
          <a:latin typeface="+mn-lt"/>
          <a:ea typeface="+mn-ea"/>
          <a:cs typeface="+mn-cs"/>
        </a:defRPr>
      </a:lvl4pPr>
      <a:lvl5pPr marL="1748790" indent="-194310" algn="l" defTabSz="777240" rtl="0" eaLnBrk="1" latinLnBrk="0" hangingPunct="1">
        <a:lnSpc>
          <a:spcPct val="90000"/>
        </a:lnSpc>
        <a:spcBef>
          <a:spcPts val="425"/>
        </a:spcBef>
        <a:buFont typeface="Arial" panose="020B0604020202020204" pitchFamily="34" charset="0"/>
        <a:buChar char="•"/>
        <a:defRPr sz="1530" kern="1200">
          <a:solidFill>
            <a:schemeClr val="tx1"/>
          </a:solidFill>
          <a:latin typeface="+mn-lt"/>
          <a:ea typeface="+mn-ea"/>
          <a:cs typeface="+mn-cs"/>
        </a:defRPr>
      </a:lvl5pPr>
      <a:lvl6pPr marL="2137410" indent="-194310" algn="l" defTabSz="777240" rtl="0" eaLnBrk="1" latinLnBrk="0" hangingPunct="1">
        <a:lnSpc>
          <a:spcPct val="90000"/>
        </a:lnSpc>
        <a:spcBef>
          <a:spcPts val="425"/>
        </a:spcBef>
        <a:buFont typeface="Arial" panose="020B0604020202020204" pitchFamily="34" charset="0"/>
        <a:buChar char="•"/>
        <a:defRPr sz="1530" kern="1200">
          <a:solidFill>
            <a:schemeClr val="tx1"/>
          </a:solidFill>
          <a:latin typeface="+mn-lt"/>
          <a:ea typeface="+mn-ea"/>
          <a:cs typeface="+mn-cs"/>
        </a:defRPr>
      </a:lvl6pPr>
      <a:lvl7pPr marL="2526030" indent="-194310" algn="l" defTabSz="777240" rtl="0" eaLnBrk="1" latinLnBrk="0" hangingPunct="1">
        <a:lnSpc>
          <a:spcPct val="90000"/>
        </a:lnSpc>
        <a:spcBef>
          <a:spcPts val="425"/>
        </a:spcBef>
        <a:buFont typeface="Arial" panose="020B0604020202020204" pitchFamily="34" charset="0"/>
        <a:buChar char="•"/>
        <a:defRPr sz="1530" kern="1200">
          <a:solidFill>
            <a:schemeClr val="tx1"/>
          </a:solidFill>
          <a:latin typeface="+mn-lt"/>
          <a:ea typeface="+mn-ea"/>
          <a:cs typeface="+mn-cs"/>
        </a:defRPr>
      </a:lvl7pPr>
      <a:lvl8pPr marL="2914650" indent="-194310" algn="l" defTabSz="777240" rtl="0" eaLnBrk="1" latinLnBrk="0" hangingPunct="1">
        <a:lnSpc>
          <a:spcPct val="90000"/>
        </a:lnSpc>
        <a:spcBef>
          <a:spcPts val="425"/>
        </a:spcBef>
        <a:buFont typeface="Arial" panose="020B0604020202020204" pitchFamily="34" charset="0"/>
        <a:buChar char="•"/>
        <a:defRPr sz="1530" kern="1200">
          <a:solidFill>
            <a:schemeClr val="tx1"/>
          </a:solidFill>
          <a:latin typeface="+mn-lt"/>
          <a:ea typeface="+mn-ea"/>
          <a:cs typeface="+mn-cs"/>
        </a:defRPr>
      </a:lvl8pPr>
      <a:lvl9pPr marL="3303270" indent="-194310" algn="l" defTabSz="777240" rtl="0" eaLnBrk="1" latinLnBrk="0" hangingPunct="1">
        <a:lnSpc>
          <a:spcPct val="90000"/>
        </a:lnSpc>
        <a:spcBef>
          <a:spcPts val="425"/>
        </a:spcBef>
        <a:buFont typeface="Arial" panose="020B0604020202020204" pitchFamily="34" charset="0"/>
        <a:buChar char="•"/>
        <a:defRPr sz="1530" kern="1200">
          <a:solidFill>
            <a:schemeClr val="tx1"/>
          </a:solidFill>
          <a:latin typeface="+mn-lt"/>
          <a:ea typeface="+mn-ea"/>
          <a:cs typeface="+mn-cs"/>
        </a:defRPr>
      </a:lvl9pPr>
    </p:bodyStyle>
    <p:otherStyle>
      <a:defPPr>
        <a:defRPr lang="en-US"/>
      </a:defPPr>
      <a:lvl1pPr marL="0" algn="l" defTabSz="777240" rtl="0" eaLnBrk="1" latinLnBrk="0" hangingPunct="1">
        <a:defRPr sz="1530" kern="1200">
          <a:solidFill>
            <a:schemeClr val="tx1"/>
          </a:solidFill>
          <a:latin typeface="+mn-lt"/>
          <a:ea typeface="+mn-ea"/>
          <a:cs typeface="+mn-cs"/>
        </a:defRPr>
      </a:lvl1pPr>
      <a:lvl2pPr marL="388620" algn="l" defTabSz="777240" rtl="0" eaLnBrk="1" latinLnBrk="0" hangingPunct="1">
        <a:defRPr sz="1530" kern="1200">
          <a:solidFill>
            <a:schemeClr val="tx1"/>
          </a:solidFill>
          <a:latin typeface="+mn-lt"/>
          <a:ea typeface="+mn-ea"/>
          <a:cs typeface="+mn-cs"/>
        </a:defRPr>
      </a:lvl2pPr>
      <a:lvl3pPr marL="777240" algn="l" defTabSz="777240" rtl="0" eaLnBrk="1" latinLnBrk="0" hangingPunct="1">
        <a:defRPr sz="1530" kern="1200">
          <a:solidFill>
            <a:schemeClr val="tx1"/>
          </a:solidFill>
          <a:latin typeface="+mn-lt"/>
          <a:ea typeface="+mn-ea"/>
          <a:cs typeface="+mn-cs"/>
        </a:defRPr>
      </a:lvl3pPr>
      <a:lvl4pPr marL="1165860" algn="l" defTabSz="777240" rtl="0" eaLnBrk="1" latinLnBrk="0" hangingPunct="1">
        <a:defRPr sz="1530" kern="1200">
          <a:solidFill>
            <a:schemeClr val="tx1"/>
          </a:solidFill>
          <a:latin typeface="+mn-lt"/>
          <a:ea typeface="+mn-ea"/>
          <a:cs typeface="+mn-cs"/>
        </a:defRPr>
      </a:lvl4pPr>
      <a:lvl5pPr marL="1554480" algn="l" defTabSz="777240" rtl="0" eaLnBrk="1" latinLnBrk="0" hangingPunct="1">
        <a:defRPr sz="1530" kern="1200">
          <a:solidFill>
            <a:schemeClr val="tx1"/>
          </a:solidFill>
          <a:latin typeface="+mn-lt"/>
          <a:ea typeface="+mn-ea"/>
          <a:cs typeface="+mn-cs"/>
        </a:defRPr>
      </a:lvl5pPr>
      <a:lvl6pPr marL="1943100" algn="l" defTabSz="777240" rtl="0" eaLnBrk="1" latinLnBrk="0" hangingPunct="1">
        <a:defRPr sz="1530" kern="1200">
          <a:solidFill>
            <a:schemeClr val="tx1"/>
          </a:solidFill>
          <a:latin typeface="+mn-lt"/>
          <a:ea typeface="+mn-ea"/>
          <a:cs typeface="+mn-cs"/>
        </a:defRPr>
      </a:lvl6pPr>
      <a:lvl7pPr marL="2331720" algn="l" defTabSz="777240" rtl="0" eaLnBrk="1" latinLnBrk="0" hangingPunct="1">
        <a:defRPr sz="1530" kern="1200">
          <a:solidFill>
            <a:schemeClr val="tx1"/>
          </a:solidFill>
          <a:latin typeface="+mn-lt"/>
          <a:ea typeface="+mn-ea"/>
          <a:cs typeface="+mn-cs"/>
        </a:defRPr>
      </a:lvl7pPr>
      <a:lvl8pPr marL="2720340" algn="l" defTabSz="777240" rtl="0" eaLnBrk="1" latinLnBrk="0" hangingPunct="1">
        <a:defRPr sz="1530" kern="1200">
          <a:solidFill>
            <a:schemeClr val="tx1"/>
          </a:solidFill>
          <a:latin typeface="+mn-lt"/>
          <a:ea typeface="+mn-ea"/>
          <a:cs typeface="+mn-cs"/>
        </a:defRPr>
      </a:lvl8pPr>
      <a:lvl9pPr marL="3108960" algn="l" defTabSz="777240" rtl="0" eaLnBrk="1" latinLnBrk="0" hangingPunct="1">
        <a:defRPr sz="153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jpeg"/><Relationship Id="rId4" Type="http://schemas.openxmlformats.org/officeDocument/2006/relationships/image" Target="../media/image2.jpeg"/></Relationships>
</file>

<file path=ppt/slides/_rels/slide2.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2.xml"/><Relationship Id="rId1" Type="http://schemas.openxmlformats.org/officeDocument/2006/relationships/slideLayout" Target="../slideLayouts/slideLayout1.xml"/><Relationship Id="rId5" Type="http://schemas.openxmlformats.org/officeDocument/2006/relationships/image" Target="../media/image3.jpeg"/><Relationship Id="rId4" Type="http://schemas.openxmlformats.org/officeDocument/2006/relationships/image" Target="../media/image2.jpeg"/></Relationships>
</file>

<file path=ppt/slides/_rels/slide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510FA7-1362-3A20-43EC-9954F702ADF3}"/>
            </a:ext>
          </a:extLst>
        </p:cNvPr>
        <p:cNvGrpSpPr/>
        <p:nvPr/>
      </p:nvGrpSpPr>
      <p:grpSpPr>
        <a:xfrm>
          <a:off x="0" y="0"/>
          <a:ext cx="0" cy="0"/>
          <a:chOff x="0" y="0"/>
          <a:chExt cx="0" cy="0"/>
        </a:xfrm>
      </p:grpSpPr>
      <p:pic>
        <p:nvPicPr>
          <p:cNvPr id="23" name="Picture 22">
            <a:extLst>
              <a:ext uri="{FF2B5EF4-FFF2-40B4-BE49-F238E27FC236}">
                <a16:creationId xmlns:a16="http://schemas.microsoft.com/office/drawing/2014/main" id="{E90A8AE8-214E-F34E-E0D8-8824F1B2F19B}"/>
              </a:ext>
            </a:extLst>
          </p:cNvPr>
          <p:cNvPicPr>
            <a:picLocks noChangeAspect="1"/>
          </p:cNvPicPr>
          <p:nvPr/>
        </p:nvPicPr>
        <p:blipFill>
          <a:blip r:embed="rId3">
            <a:extLst>
              <a:ext uri="{28A0092B-C50C-407E-A947-70E740481C1C}">
                <a14:useLocalDpi xmlns:a14="http://schemas.microsoft.com/office/drawing/2010/main" val="0"/>
              </a:ext>
            </a:extLst>
          </a:blip>
          <a:srcRect l="69915" t="21666" b="59065"/>
          <a:stretch/>
        </p:blipFill>
        <p:spPr>
          <a:xfrm>
            <a:off x="5775263" y="7980184"/>
            <a:ext cx="1657235" cy="1709214"/>
          </a:xfrm>
          <a:prstGeom prst="rect">
            <a:avLst/>
          </a:prstGeom>
        </p:spPr>
      </p:pic>
      <p:pic>
        <p:nvPicPr>
          <p:cNvPr id="6" name="Picture 5">
            <a:extLst>
              <a:ext uri="{FF2B5EF4-FFF2-40B4-BE49-F238E27FC236}">
                <a16:creationId xmlns:a16="http://schemas.microsoft.com/office/drawing/2014/main" id="{DE78DE01-9625-03E1-1470-E3691EFA0097}"/>
              </a:ext>
            </a:extLst>
          </p:cNvPr>
          <p:cNvPicPr>
            <a:picLocks noChangeAspect="1"/>
          </p:cNvPicPr>
          <p:nvPr/>
        </p:nvPicPr>
        <p:blipFill>
          <a:blip r:embed="rId3">
            <a:extLst>
              <a:ext uri="{28A0092B-C50C-407E-A947-70E740481C1C}">
                <a14:useLocalDpi xmlns:a14="http://schemas.microsoft.com/office/drawing/2010/main" val="0"/>
              </a:ext>
            </a:extLst>
          </a:blip>
          <a:srcRect b="2665"/>
          <a:stretch/>
        </p:blipFill>
        <p:spPr>
          <a:xfrm>
            <a:off x="909908" y="1715718"/>
            <a:ext cx="3524964" cy="5524841"/>
          </a:xfrm>
          <a:prstGeom prst="rect">
            <a:avLst/>
          </a:prstGeom>
        </p:spPr>
      </p:pic>
      <p:sp>
        <p:nvSpPr>
          <p:cNvPr id="30" name="Rectangle 29">
            <a:extLst>
              <a:ext uri="{FF2B5EF4-FFF2-40B4-BE49-F238E27FC236}">
                <a16:creationId xmlns:a16="http://schemas.microsoft.com/office/drawing/2014/main" id="{E828E354-E4F4-4599-93FF-93E2F1C0403D}"/>
              </a:ext>
            </a:extLst>
          </p:cNvPr>
          <p:cNvSpPr/>
          <p:nvPr/>
        </p:nvSpPr>
        <p:spPr>
          <a:xfrm>
            <a:off x="2429125" y="8445899"/>
            <a:ext cx="1507935" cy="782302"/>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 name="Straight Connector 7">
            <a:extLst>
              <a:ext uri="{FF2B5EF4-FFF2-40B4-BE49-F238E27FC236}">
                <a16:creationId xmlns:a16="http://schemas.microsoft.com/office/drawing/2014/main" id="{DA6B9F19-3D83-3016-3DCE-376EEB3785FD}"/>
              </a:ext>
            </a:extLst>
          </p:cNvPr>
          <p:cNvCxnSpPr>
            <a:cxnSpLocks/>
          </p:cNvCxnSpPr>
          <p:nvPr/>
        </p:nvCxnSpPr>
        <p:spPr>
          <a:xfrm>
            <a:off x="2123089" y="452127"/>
            <a:ext cx="5659821" cy="22336"/>
          </a:xfrm>
          <a:prstGeom prst="line">
            <a:avLst/>
          </a:prstGeom>
          <a:ln w="3175">
            <a:solidFill>
              <a:schemeClr val="accent2"/>
            </a:solidFill>
          </a:ln>
        </p:spPr>
        <p:style>
          <a:lnRef idx="3">
            <a:schemeClr val="dk1"/>
          </a:lnRef>
          <a:fillRef idx="0">
            <a:schemeClr val="dk1"/>
          </a:fillRef>
          <a:effectRef idx="2">
            <a:schemeClr val="dk1"/>
          </a:effectRef>
          <a:fontRef idx="minor">
            <a:schemeClr val="tx1"/>
          </a:fontRef>
        </p:style>
      </p:cxnSp>
      <p:sp>
        <p:nvSpPr>
          <p:cNvPr id="12" name="TextBox 11">
            <a:extLst>
              <a:ext uri="{FF2B5EF4-FFF2-40B4-BE49-F238E27FC236}">
                <a16:creationId xmlns:a16="http://schemas.microsoft.com/office/drawing/2014/main" id="{4F8FA196-6771-DF0A-E54E-549BFD223BCB}"/>
              </a:ext>
            </a:extLst>
          </p:cNvPr>
          <p:cNvSpPr txBox="1"/>
          <p:nvPr/>
        </p:nvSpPr>
        <p:spPr>
          <a:xfrm>
            <a:off x="6347499" y="218716"/>
            <a:ext cx="1977655" cy="246221"/>
          </a:xfrm>
          <a:prstGeom prst="rect">
            <a:avLst/>
          </a:prstGeom>
          <a:noFill/>
        </p:spPr>
        <p:txBody>
          <a:bodyPr wrap="square" rtlCol="0">
            <a:spAutoFit/>
          </a:bodyPr>
          <a:lstStyle/>
          <a:p>
            <a:r>
              <a:rPr lang="en-US" sz="1000" dirty="0">
                <a:solidFill>
                  <a:schemeClr val="tx1">
                    <a:lumMod val="75000"/>
                    <a:lumOff val="25000"/>
                  </a:schemeClr>
                </a:solidFill>
                <a:latin typeface="Microsoft JhengHei Light" panose="020B0304030504040204" pitchFamily="34" charset="-120"/>
                <a:ea typeface="Microsoft JhengHei Light" panose="020B0304030504040204" pitchFamily="34" charset="-120"/>
              </a:rPr>
              <a:t>Date : 19/09/2026</a:t>
            </a:r>
          </a:p>
        </p:txBody>
      </p:sp>
      <p:sp>
        <p:nvSpPr>
          <p:cNvPr id="13" name="TextBox 12">
            <a:extLst>
              <a:ext uri="{FF2B5EF4-FFF2-40B4-BE49-F238E27FC236}">
                <a16:creationId xmlns:a16="http://schemas.microsoft.com/office/drawing/2014/main" id="{516ACEFB-FEBD-47A0-1239-753E360E70DA}"/>
              </a:ext>
            </a:extLst>
          </p:cNvPr>
          <p:cNvSpPr txBox="1"/>
          <p:nvPr/>
        </p:nvSpPr>
        <p:spPr>
          <a:xfrm>
            <a:off x="4024299" y="500787"/>
            <a:ext cx="3553148" cy="246221"/>
          </a:xfrm>
          <a:prstGeom prst="rect">
            <a:avLst/>
          </a:prstGeom>
          <a:noFill/>
        </p:spPr>
        <p:txBody>
          <a:bodyPr wrap="square" rtlCol="0">
            <a:spAutoFit/>
          </a:bodyPr>
          <a:lstStyle/>
          <a:p>
            <a:pPr algn="r"/>
            <a:r>
              <a:rPr lang="en-US" sz="1000" dirty="0">
                <a:solidFill>
                  <a:schemeClr val="tx1">
                    <a:lumMod val="75000"/>
                    <a:lumOff val="25000"/>
                  </a:schemeClr>
                </a:solidFill>
                <a:latin typeface="Microsoft JhengHei Light" panose="020B0304030504040204" pitchFamily="34" charset="-120"/>
                <a:ea typeface="Microsoft JhengHei Light" panose="020B0304030504040204" pitchFamily="34" charset="-120"/>
              </a:rPr>
              <a:t>Customized Project : Divya Somani</a:t>
            </a:r>
          </a:p>
        </p:txBody>
      </p:sp>
      <p:sp>
        <p:nvSpPr>
          <p:cNvPr id="17" name="TextBox 16">
            <a:extLst>
              <a:ext uri="{FF2B5EF4-FFF2-40B4-BE49-F238E27FC236}">
                <a16:creationId xmlns:a16="http://schemas.microsoft.com/office/drawing/2014/main" id="{9BE82662-CE89-2CF8-AF1B-3914241E68E1}"/>
              </a:ext>
            </a:extLst>
          </p:cNvPr>
          <p:cNvSpPr txBox="1"/>
          <p:nvPr/>
        </p:nvSpPr>
        <p:spPr>
          <a:xfrm>
            <a:off x="3526797" y="10933749"/>
            <a:ext cx="3750500" cy="246221"/>
          </a:xfrm>
          <a:prstGeom prst="rect">
            <a:avLst/>
          </a:prstGeom>
          <a:noFill/>
        </p:spPr>
        <p:txBody>
          <a:bodyPr wrap="square" rtlCol="0">
            <a:spAutoFit/>
          </a:bodyPr>
          <a:lstStyle/>
          <a:p>
            <a:r>
              <a:rPr lang="en-US" sz="1000" b="1" dirty="0">
                <a:solidFill>
                  <a:schemeClr val="tx1">
                    <a:lumMod val="65000"/>
                    <a:lumOff val="35000"/>
                  </a:schemeClr>
                </a:solidFill>
                <a:latin typeface="Microsoft JhengHei Light" panose="020B0304030504040204" pitchFamily="34" charset="-120"/>
                <a:ea typeface="Microsoft JhengHei Light" panose="020B0304030504040204" pitchFamily="34" charset="-120"/>
              </a:rPr>
              <a:t>Signature : ________________________________________________ </a:t>
            </a:r>
          </a:p>
        </p:txBody>
      </p:sp>
      <p:sp>
        <p:nvSpPr>
          <p:cNvPr id="18" name="TextBox 17">
            <a:extLst>
              <a:ext uri="{FF2B5EF4-FFF2-40B4-BE49-F238E27FC236}">
                <a16:creationId xmlns:a16="http://schemas.microsoft.com/office/drawing/2014/main" id="{325972CF-3854-348E-DFC6-8351AACAB84E}"/>
              </a:ext>
            </a:extLst>
          </p:cNvPr>
          <p:cNvSpPr txBox="1"/>
          <p:nvPr/>
        </p:nvSpPr>
        <p:spPr>
          <a:xfrm>
            <a:off x="3551067" y="11218889"/>
            <a:ext cx="3612523" cy="246221"/>
          </a:xfrm>
          <a:prstGeom prst="rect">
            <a:avLst/>
          </a:prstGeom>
          <a:noFill/>
        </p:spPr>
        <p:txBody>
          <a:bodyPr wrap="square" rtlCol="0">
            <a:spAutoFit/>
          </a:bodyPr>
          <a:lstStyle/>
          <a:p>
            <a:r>
              <a:rPr lang="en-US" sz="1000" b="1" dirty="0">
                <a:solidFill>
                  <a:schemeClr val="tx1">
                    <a:lumMod val="65000"/>
                    <a:lumOff val="35000"/>
                  </a:schemeClr>
                </a:solidFill>
                <a:latin typeface="Microsoft JhengHei Light" panose="020B0304030504040204" pitchFamily="34" charset="-120"/>
                <a:ea typeface="Microsoft JhengHei Light" panose="020B0304030504040204" pitchFamily="34" charset="-120"/>
              </a:rPr>
              <a:t>Date of Approval :_________________________________________</a:t>
            </a:r>
          </a:p>
        </p:txBody>
      </p:sp>
      <p:sp>
        <p:nvSpPr>
          <p:cNvPr id="19" name="TextBox 18">
            <a:extLst>
              <a:ext uri="{FF2B5EF4-FFF2-40B4-BE49-F238E27FC236}">
                <a16:creationId xmlns:a16="http://schemas.microsoft.com/office/drawing/2014/main" id="{B9A7EE6D-EC49-C637-4CAA-69D8CB0C2A1E}"/>
              </a:ext>
            </a:extLst>
          </p:cNvPr>
          <p:cNvSpPr txBox="1"/>
          <p:nvPr/>
        </p:nvSpPr>
        <p:spPr>
          <a:xfrm>
            <a:off x="353921" y="8002863"/>
            <a:ext cx="2419036" cy="1911998"/>
          </a:xfrm>
          <a:prstGeom prst="rect">
            <a:avLst/>
          </a:prstGeom>
          <a:noFill/>
        </p:spPr>
        <p:txBody>
          <a:bodyPr wrap="square" rtlCol="0">
            <a:spAutoFit/>
          </a:bodyPr>
          <a:lstStyle/>
          <a:p>
            <a:pPr marR="0" algn="l" rtl="0">
              <a:lnSpc>
                <a:spcPts val="1300"/>
              </a:lnSpc>
            </a:pPr>
            <a:r>
              <a:rPr lang="en-US" sz="1400" i="0" u="none" strike="noStrike" baseline="30000" dirty="0">
                <a:solidFill>
                  <a:schemeClr val="tx1">
                    <a:lumMod val="65000"/>
                    <a:lumOff val="35000"/>
                  </a:schemeClr>
                </a:solidFill>
                <a:latin typeface="Microsoft JhengHei Light" panose="020B0304030504040204" pitchFamily="34" charset="-120"/>
                <a:ea typeface="Microsoft JhengHei Light" panose="020B0304030504040204" pitchFamily="34" charset="-120"/>
                <a:cs typeface="Arial" panose="020B0604020202020204" pitchFamily="34" charset="0"/>
              </a:rPr>
              <a:t>SIZE </a:t>
            </a:r>
          </a:p>
          <a:p>
            <a:pPr marR="0" algn="l" rtl="0">
              <a:lnSpc>
                <a:spcPts val="1300"/>
              </a:lnSpc>
            </a:pPr>
            <a:r>
              <a:rPr lang="en-US" sz="1400" i="0" u="none" strike="noStrike" baseline="30000" dirty="0">
                <a:solidFill>
                  <a:schemeClr val="tx1">
                    <a:lumMod val="65000"/>
                    <a:lumOff val="35000"/>
                  </a:schemeClr>
                </a:solidFill>
                <a:latin typeface="Microsoft JhengHei Light" panose="020B0304030504040204" pitchFamily="34" charset="-120"/>
                <a:ea typeface="Microsoft JhengHei Light" panose="020B0304030504040204" pitchFamily="34" charset="-120"/>
                <a:cs typeface="Arial" panose="020B0604020202020204" pitchFamily="34" charset="0"/>
              </a:rPr>
              <a:t>CUSTOMER METRICS  </a:t>
            </a:r>
          </a:p>
          <a:p>
            <a:pPr marR="0" algn="l" rtl="0">
              <a:lnSpc>
                <a:spcPts val="1300"/>
              </a:lnSpc>
            </a:pPr>
            <a:r>
              <a:rPr lang="en-US" sz="1400" i="0" u="none" strike="noStrike" baseline="30000" dirty="0">
                <a:solidFill>
                  <a:schemeClr val="tx1">
                    <a:lumMod val="65000"/>
                    <a:lumOff val="35000"/>
                  </a:schemeClr>
                </a:solidFill>
                <a:latin typeface="Microsoft JhengHei Light" panose="020B0304030504040204" pitchFamily="34" charset="-120"/>
                <a:ea typeface="Microsoft JhengHei Light" panose="020B0304030504040204" pitchFamily="34" charset="-120"/>
                <a:cs typeface="Arial" panose="020B0604020202020204" pitchFamily="34" charset="0"/>
              </a:rPr>
              <a:t>SHAPE </a:t>
            </a:r>
          </a:p>
          <a:p>
            <a:pPr marR="0" algn="l" rtl="0">
              <a:lnSpc>
                <a:spcPts val="1300"/>
              </a:lnSpc>
            </a:pPr>
            <a:r>
              <a:rPr lang="en-US" sz="1400" i="0" u="none" strike="noStrike" baseline="30000" dirty="0">
                <a:solidFill>
                  <a:schemeClr val="tx1">
                    <a:lumMod val="65000"/>
                    <a:lumOff val="35000"/>
                  </a:schemeClr>
                </a:solidFill>
                <a:latin typeface="Microsoft JhengHei Light" panose="020B0304030504040204" pitchFamily="34" charset="-120"/>
                <a:ea typeface="Microsoft JhengHei Light" panose="020B0304030504040204" pitchFamily="34" charset="-120"/>
                <a:cs typeface="Arial" panose="020B0604020202020204" pitchFamily="34" charset="0"/>
              </a:rPr>
              <a:t>RUG QUALITY  </a:t>
            </a:r>
          </a:p>
          <a:p>
            <a:pPr marR="0" algn="l" rtl="0">
              <a:lnSpc>
                <a:spcPts val="1300"/>
              </a:lnSpc>
            </a:pPr>
            <a:r>
              <a:rPr lang="en-US" sz="1400" i="0" u="none" strike="noStrike" baseline="30000" dirty="0">
                <a:solidFill>
                  <a:schemeClr val="tx1">
                    <a:lumMod val="65000"/>
                    <a:lumOff val="35000"/>
                  </a:schemeClr>
                </a:solidFill>
                <a:latin typeface="Microsoft JhengHei Light" panose="020B0304030504040204" pitchFamily="34" charset="-120"/>
                <a:ea typeface="Microsoft JhengHei Light" panose="020B0304030504040204" pitchFamily="34" charset="-120"/>
                <a:cs typeface="Arial" panose="020B0604020202020204" pitchFamily="34" charset="0"/>
              </a:rPr>
              <a:t>FIBRE CONTENT  </a:t>
            </a:r>
          </a:p>
          <a:p>
            <a:pPr marR="0" algn="l" rtl="0">
              <a:lnSpc>
                <a:spcPts val="1300"/>
              </a:lnSpc>
            </a:pPr>
            <a:r>
              <a:rPr lang="en-US" sz="1400" i="0" u="none" strike="noStrike" baseline="30000" dirty="0">
                <a:solidFill>
                  <a:schemeClr val="tx1">
                    <a:lumMod val="65000"/>
                    <a:lumOff val="35000"/>
                  </a:schemeClr>
                </a:solidFill>
                <a:latin typeface="Microsoft JhengHei Light" panose="020B0304030504040204" pitchFamily="34" charset="-120"/>
                <a:ea typeface="Microsoft JhengHei Light" panose="020B0304030504040204" pitchFamily="34" charset="-120"/>
                <a:cs typeface="Arial" panose="020B0604020202020204" pitchFamily="34" charset="0"/>
              </a:rPr>
              <a:t>DYEING TECHNIQUE </a:t>
            </a:r>
          </a:p>
          <a:p>
            <a:pPr marR="0" algn="l" rtl="0">
              <a:lnSpc>
                <a:spcPts val="1300"/>
              </a:lnSpc>
            </a:pPr>
            <a:r>
              <a:rPr lang="en-US" sz="1400" i="0" u="none" strike="noStrike" baseline="30000" dirty="0">
                <a:solidFill>
                  <a:schemeClr val="tx1">
                    <a:lumMod val="65000"/>
                    <a:lumOff val="35000"/>
                  </a:schemeClr>
                </a:solidFill>
                <a:latin typeface="Microsoft JhengHei Light" panose="020B0304030504040204" pitchFamily="34" charset="-120"/>
                <a:ea typeface="Microsoft JhengHei Light" panose="020B0304030504040204" pitchFamily="34" charset="-120"/>
                <a:cs typeface="Arial" panose="020B0604020202020204" pitchFamily="34" charset="0"/>
              </a:rPr>
              <a:t>FINISH EDGE </a:t>
            </a:r>
          </a:p>
          <a:p>
            <a:pPr marR="0" algn="l" rtl="0">
              <a:lnSpc>
                <a:spcPts val="1300"/>
              </a:lnSpc>
            </a:pPr>
            <a:r>
              <a:rPr lang="en-US" sz="1400" i="0" u="none" strike="noStrike" baseline="30000" dirty="0">
                <a:solidFill>
                  <a:schemeClr val="tx1">
                    <a:lumMod val="65000"/>
                    <a:lumOff val="35000"/>
                  </a:schemeClr>
                </a:solidFill>
                <a:latin typeface="Microsoft JhengHei Light" panose="020B0304030504040204" pitchFamily="34" charset="-120"/>
                <a:ea typeface="Microsoft JhengHei Light" panose="020B0304030504040204" pitchFamily="34" charset="-120"/>
                <a:cs typeface="Arial" panose="020B0604020202020204" pitchFamily="34" charset="0"/>
              </a:rPr>
              <a:t>FINISH PILE HEIGHT  </a:t>
            </a:r>
          </a:p>
          <a:p>
            <a:pPr marR="0" algn="l" rtl="0">
              <a:lnSpc>
                <a:spcPts val="1300"/>
              </a:lnSpc>
            </a:pPr>
            <a:r>
              <a:rPr lang="en-US" sz="1400" i="0" u="none" strike="noStrike" baseline="30000" dirty="0">
                <a:solidFill>
                  <a:schemeClr val="tx1">
                    <a:lumMod val="65000"/>
                    <a:lumOff val="35000"/>
                  </a:schemeClr>
                </a:solidFill>
                <a:latin typeface="Microsoft JhengHei Light" panose="020B0304030504040204" pitchFamily="34" charset="-120"/>
                <a:ea typeface="Microsoft JhengHei Light" panose="020B0304030504040204" pitchFamily="34" charset="-120"/>
                <a:cs typeface="Arial" panose="020B0604020202020204" pitchFamily="34" charset="0"/>
              </a:rPr>
              <a:t>FINISH PILE TYPE </a:t>
            </a:r>
          </a:p>
          <a:p>
            <a:pPr marR="0" algn="l" rtl="0">
              <a:lnSpc>
                <a:spcPts val="1300"/>
              </a:lnSpc>
            </a:pPr>
            <a:r>
              <a:rPr lang="en-US" sz="1400" i="0" u="none" strike="noStrike" baseline="30000" dirty="0">
                <a:solidFill>
                  <a:schemeClr val="tx1">
                    <a:lumMod val="65000"/>
                    <a:lumOff val="35000"/>
                  </a:schemeClr>
                </a:solidFill>
                <a:latin typeface="Microsoft JhengHei Light" panose="020B0304030504040204" pitchFamily="34" charset="-120"/>
                <a:ea typeface="Microsoft JhengHei Light" panose="020B0304030504040204" pitchFamily="34" charset="-120"/>
                <a:cs typeface="Arial" panose="020B0604020202020204" pitchFamily="34" charset="0"/>
              </a:rPr>
              <a:t>FINISH BACKING </a:t>
            </a:r>
          </a:p>
          <a:p>
            <a:pPr marR="0" algn="l" rtl="0">
              <a:lnSpc>
                <a:spcPts val="1300"/>
              </a:lnSpc>
            </a:pPr>
            <a:r>
              <a:rPr lang="en-US" sz="1400" baseline="30000" dirty="0">
                <a:solidFill>
                  <a:schemeClr val="tx1">
                    <a:lumMod val="65000"/>
                    <a:lumOff val="35000"/>
                  </a:schemeClr>
                </a:solidFill>
                <a:latin typeface="Microsoft JhengHei Light" panose="020B0304030504040204" pitchFamily="34" charset="-120"/>
                <a:ea typeface="Microsoft JhengHei Light" panose="020B0304030504040204" pitchFamily="34" charset="-120"/>
                <a:cs typeface="Arial" panose="020B0604020202020204" pitchFamily="34" charset="0"/>
              </a:rPr>
              <a:t>FINISH WASH </a:t>
            </a:r>
            <a:endParaRPr lang="en-US" sz="1400" i="0" u="none" strike="noStrike" baseline="30000" dirty="0">
              <a:solidFill>
                <a:schemeClr val="tx1">
                  <a:lumMod val="65000"/>
                  <a:lumOff val="35000"/>
                </a:schemeClr>
              </a:solidFill>
              <a:latin typeface="Microsoft JhengHei Light" panose="020B0304030504040204" pitchFamily="34" charset="-120"/>
              <a:ea typeface="Microsoft JhengHei Light" panose="020B0304030504040204" pitchFamily="34" charset="-120"/>
              <a:cs typeface="Arial" panose="020B0604020202020204" pitchFamily="34" charset="0"/>
            </a:endParaRPr>
          </a:p>
        </p:txBody>
      </p:sp>
      <p:grpSp>
        <p:nvGrpSpPr>
          <p:cNvPr id="14" name="Group 13">
            <a:extLst>
              <a:ext uri="{FF2B5EF4-FFF2-40B4-BE49-F238E27FC236}">
                <a16:creationId xmlns:a16="http://schemas.microsoft.com/office/drawing/2014/main" id="{3861C252-2281-5F93-F3D3-456CCA5BA249}"/>
              </a:ext>
            </a:extLst>
          </p:cNvPr>
          <p:cNvGrpSpPr/>
          <p:nvPr/>
        </p:nvGrpSpPr>
        <p:grpSpPr>
          <a:xfrm>
            <a:off x="896651" y="1675602"/>
            <a:ext cx="3658415" cy="5652052"/>
            <a:chOff x="251699" y="2183122"/>
            <a:chExt cx="4789373" cy="3867260"/>
          </a:xfrm>
        </p:grpSpPr>
        <p:cxnSp>
          <p:nvCxnSpPr>
            <p:cNvPr id="51" name="Straight Arrow Connector 50">
              <a:extLst>
                <a:ext uri="{FF2B5EF4-FFF2-40B4-BE49-F238E27FC236}">
                  <a16:creationId xmlns:a16="http://schemas.microsoft.com/office/drawing/2014/main" id="{9AA91D59-C9B9-C5E6-F38E-E3A39CF9A40F}"/>
                </a:ext>
              </a:extLst>
            </p:cNvPr>
            <p:cNvCxnSpPr>
              <a:cxnSpLocks/>
            </p:cNvCxnSpPr>
            <p:nvPr/>
          </p:nvCxnSpPr>
          <p:spPr>
            <a:xfrm>
              <a:off x="251699" y="6050382"/>
              <a:ext cx="4684761" cy="0"/>
            </a:xfrm>
            <a:prstGeom prst="straightConnector1">
              <a:avLst/>
            </a:prstGeom>
            <a:ln w="12700">
              <a:solidFill>
                <a:schemeClr val="tx1">
                  <a:lumMod val="65000"/>
                  <a:lumOff val="3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B089C1C5-2167-FFE9-35B6-CA0DCE16277B}"/>
                </a:ext>
              </a:extLst>
            </p:cNvPr>
            <p:cNvCxnSpPr>
              <a:cxnSpLocks/>
            </p:cNvCxnSpPr>
            <p:nvPr/>
          </p:nvCxnSpPr>
          <p:spPr>
            <a:xfrm flipH="1">
              <a:off x="5023105" y="2183122"/>
              <a:ext cx="17967" cy="3824646"/>
            </a:xfrm>
            <a:prstGeom prst="straightConnector1">
              <a:avLst/>
            </a:prstGeom>
            <a:ln w="12700">
              <a:solidFill>
                <a:schemeClr val="tx1">
                  <a:lumMod val="65000"/>
                  <a:lumOff val="3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grpSp>
      <p:sp>
        <p:nvSpPr>
          <p:cNvPr id="41" name="TextBox 40">
            <a:extLst>
              <a:ext uri="{FF2B5EF4-FFF2-40B4-BE49-F238E27FC236}">
                <a16:creationId xmlns:a16="http://schemas.microsoft.com/office/drawing/2014/main" id="{CEDB045E-E75B-834F-0268-0699454C56AC}"/>
              </a:ext>
            </a:extLst>
          </p:cNvPr>
          <p:cNvSpPr txBox="1"/>
          <p:nvPr/>
        </p:nvSpPr>
        <p:spPr>
          <a:xfrm>
            <a:off x="1793124" y="8002864"/>
            <a:ext cx="2117540" cy="1911998"/>
          </a:xfrm>
          <a:prstGeom prst="rect">
            <a:avLst/>
          </a:prstGeom>
          <a:noFill/>
        </p:spPr>
        <p:txBody>
          <a:bodyPr wrap="square" rtlCol="0">
            <a:spAutoFit/>
          </a:bodyPr>
          <a:lstStyle/>
          <a:p>
            <a:pPr marR="0" algn="l" rtl="0">
              <a:lnSpc>
                <a:spcPts val="1300"/>
              </a:lnSpc>
            </a:pPr>
            <a:r>
              <a:rPr lang="en-US" sz="1400" baseline="30000" dirty="0">
                <a:solidFill>
                  <a:schemeClr val="tx1">
                    <a:lumMod val="65000"/>
                    <a:lumOff val="35000"/>
                  </a:schemeClr>
                </a:solidFill>
                <a:latin typeface="Microsoft JhengHei Light" panose="020B0304030504040204" pitchFamily="34" charset="-120"/>
                <a:ea typeface="Microsoft JhengHei Light" panose="020B0304030504040204" pitchFamily="34" charset="-120"/>
                <a:cs typeface="Arial" panose="020B0604020202020204" pitchFamily="34" charset="0"/>
              </a:rPr>
              <a:t>: 5’FEET X 8’FEET </a:t>
            </a:r>
            <a:br>
              <a:rPr lang="en-US" sz="1400" baseline="30000" dirty="0">
                <a:solidFill>
                  <a:schemeClr val="tx1">
                    <a:lumMod val="65000"/>
                    <a:lumOff val="35000"/>
                  </a:schemeClr>
                </a:solidFill>
                <a:latin typeface="Microsoft JhengHei Light" panose="020B0304030504040204" pitchFamily="34" charset="-120"/>
                <a:ea typeface="Microsoft JhengHei Light" panose="020B0304030504040204" pitchFamily="34" charset="-120"/>
                <a:cs typeface="Arial" panose="020B0604020202020204" pitchFamily="34" charset="0"/>
              </a:rPr>
            </a:br>
            <a:r>
              <a:rPr lang="en-US" sz="1400" baseline="30000" dirty="0">
                <a:solidFill>
                  <a:schemeClr val="tx1">
                    <a:lumMod val="65000"/>
                    <a:lumOff val="35000"/>
                  </a:schemeClr>
                </a:solidFill>
                <a:latin typeface="Microsoft JhengHei Light" panose="020B0304030504040204" pitchFamily="34" charset="-120"/>
                <a:ea typeface="Microsoft JhengHei Light" panose="020B0304030504040204" pitchFamily="34" charset="-120"/>
                <a:cs typeface="Arial" panose="020B0604020202020204" pitchFamily="34" charset="0"/>
              </a:rPr>
              <a:t>: FEET</a:t>
            </a:r>
            <a:br>
              <a:rPr lang="en-US" sz="1400" baseline="30000" dirty="0">
                <a:solidFill>
                  <a:schemeClr val="tx1">
                    <a:lumMod val="65000"/>
                    <a:lumOff val="35000"/>
                  </a:schemeClr>
                </a:solidFill>
                <a:latin typeface="Microsoft JhengHei Light" panose="020B0304030504040204" pitchFamily="34" charset="-120"/>
                <a:ea typeface="Microsoft JhengHei Light" panose="020B0304030504040204" pitchFamily="34" charset="-120"/>
                <a:cs typeface="Arial" panose="020B0604020202020204" pitchFamily="34" charset="0"/>
              </a:rPr>
            </a:br>
            <a:r>
              <a:rPr lang="en-US" sz="1400" baseline="30000" dirty="0">
                <a:solidFill>
                  <a:schemeClr val="tx1">
                    <a:lumMod val="65000"/>
                    <a:lumOff val="35000"/>
                  </a:schemeClr>
                </a:solidFill>
                <a:latin typeface="Microsoft JhengHei Light" panose="020B0304030504040204" pitchFamily="34" charset="-120"/>
                <a:ea typeface="Microsoft JhengHei Light" panose="020B0304030504040204" pitchFamily="34" charset="-120"/>
                <a:cs typeface="Arial" panose="020B0604020202020204" pitchFamily="34" charset="0"/>
              </a:rPr>
              <a:t>: RCT </a:t>
            </a:r>
            <a:br>
              <a:rPr lang="en-US" sz="1400" baseline="30000" dirty="0">
                <a:solidFill>
                  <a:schemeClr val="tx1">
                    <a:lumMod val="65000"/>
                    <a:lumOff val="35000"/>
                  </a:schemeClr>
                </a:solidFill>
                <a:latin typeface="Microsoft JhengHei Light" panose="020B0304030504040204" pitchFamily="34" charset="-120"/>
                <a:ea typeface="Microsoft JhengHei Light" panose="020B0304030504040204" pitchFamily="34" charset="-120"/>
                <a:cs typeface="Arial" panose="020B0604020202020204" pitchFamily="34" charset="0"/>
              </a:rPr>
            </a:br>
            <a:r>
              <a:rPr lang="en-US" sz="1400" baseline="30000" dirty="0">
                <a:solidFill>
                  <a:schemeClr val="tx1">
                    <a:lumMod val="65000"/>
                    <a:lumOff val="35000"/>
                  </a:schemeClr>
                </a:solidFill>
                <a:latin typeface="Microsoft JhengHei Light" panose="020B0304030504040204" pitchFamily="34" charset="-120"/>
                <a:ea typeface="Microsoft JhengHei Light" panose="020B0304030504040204" pitchFamily="34" charset="-120"/>
                <a:cs typeface="Arial" panose="020B0604020202020204" pitchFamily="34" charset="0"/>
              </a:rPr>
              <a:t>: Hand Knotted 14/14 MS PS </a:t>
            </a:r>
            <a:br>
              <a:rPr lang="en-US" sz="1400" baseline="30000" dirty="0">
                <a:solidFill>
                  <a:schemeClr val="tx1">
                    <a:lumMod val="65000"/>
                    <a:lumOff val="35000"/>
                  </a:schemeClr>
                </a:solidFill>
                <a:latin typeface="Microsoft JhengHei Light" panose="020B0304030504040204" pitchFamily="34" charset="-120"/>
                <a:ea typeface="Microsoft JhengHei Light" panose="020B0304030504040204" pitchFamily="34" charset="-120"/>
                <a:cs typeface="Arial" panose="020B0604020202020204" pitchFamily="34" charset="0"/>
              </a:rPr>
            </a:br>
            <a:r>
              <a:rPr lang="en-US" sz="1400" baseline="30000" dirty="0">
                <a:solidFill>
                  <a:schemeClr val="tx1">
                    <a:lumMod val="65000"/>
                    <a:lumOff val="35000"/>
                  </a:schemeClr>
                </a:solidFill>
                <a:latin typeface="Microsoft JhengHei Light" panose="020B0304030504040204" pitchFamily="34" charset="-120"/>
                <a:ea typeface="Microsoft JhengHei Light" panose="020B0304030504040204" pitchFamily="34" charset="-120"/>
                <a:cs typeface="Arial" panose="020B0604020202020204" pitchFamily="34" charset="0"/>
              </a:rPr>
              <a:t>: Silk</a:t>
            </a:r>
            <a:br>
              <a:rPr lang="en-US" sz="1400" baseline="30000" dirty="0">
                <a:solidFill>
                  <a:schemeClr val="tx1">
                    <a:lumMod val="65000"/>
                    <a:lumOff val="35000"/>
                  </a:schemeClr>
                </a:solidFill>
                <a:latin typeface="Microsoft JhengHei Light" panose="020B0304030504040204" pitchFamily="34" charset="-120"/>
                <a:ea typeface="Microsoft JhengHei Light" panose="020B0304030504040204" pitchFamily="34" charset="-120"/>
                <a:cs typeface="Arial" panose="020B0604020202020204" pitchFamily="34" charset="0"/>
              </a:rPr>
            </a:br>
            <a:r>
              <a:rPr lang="en-US" sz="1400" baseline="30000" dirty="0">
                <a:solidFill>
                  <a:schemeClr val="tx1">
                    <a:lumMod val="65000"/>
                    <a:lumOff val="35000"/>
                  </a:schemeClr>
                </a:solidFill>
                <a:latin typeface="Microsoft JhengHei Light" panose="020B0304030504040204" pitchFamily="34" charset="-120"/>
                <a:ea typeface="Microsoft JhengHei Light" panose="020B0304030504040204" pitchFamily="34" charset="-120"/>
                <a:cs typeface="Arial" panose="020B0604020202020204" pitchFamily="34" charset="0"/>
              </a:rPr>
              <a:t>: </a:t>
            </a:r>
            <a:r>
              <a:rPr lang="en-US" sz="1400" i="0" u="none" strike="noStrike" baseline="30000" dirty="0">
                <a:solidFill>
                  <a:schemeClr val="tx1">
                    <a:lumMod val="65000"/>
                    <a:lumOff val="35000"/>
                  </a:schemeClr>
                </a:solidFill>
                <a:latin typeface="Microsoft JhengHei Light" panose="020B0304030504040204" pitchFamily="34" charset="-120"/>
                <a:ea typeface="Microsoft JhengHei Light" panose="020B0304030504040204" pitchFamily="34" charset="-120"/>
                <a:cs typeface="Arial" panose="020B0604020202020204" pitchFamily="34" charset="0"/>
              </a:rPr>
              <a:t>Standard</a:t>
            </a:r>
          </a:p>
          <a:p>
            <a:pPr marR="0" algn="l" rtl="0">
              <a:lnSpc>
                <a:spcPts val="1300"/>
              </a:lnSpc>
            </a:pPr>
            <a:r>
              <a:rPr lang="en-US" sz="1400" i="0" u="none" strike="noStrike" baseline="30000" dirty="0">
                <a:solidFill>
                  <a:schemeClr val="tx1">
                    <a:lumMod val="65000"/>
                    <a:lumOff val="35000"/>
                  </a:schemeClr>
                </a:solidFill>
                <a:latin typeface="Microsoft JhengHei Light" panose="020B0304030504040204" pitchFamily="34" charset="-120"/>
                <a:ea typeface="Microsoft JhengHei Light" panose="020B0304030504040204" pitchFamily="34" charset="-120"/>
                <a:cs typeface="Arial" panose="020B0604020202020204" pitchFamily="34" charset="0"/>
              </a:rPr>
              <a:t>: 4 side binding </a:t>
            </a:r>
          </a:p>
          <a:p>
            <a:pPr marR="0" algn="l" rtl="0">
              <a:lnSpc>
                <a:spcPts val="1300"/>
              </a:lnSpc>
            </a:pPr>
            <a:r>
              <a:rPr lang="en-US" sz="1400" baseline="30000" dirty="0">
                <a:solidFill>
                  <a:schemeClr val="tx1">
                    <a:lumMod val="65000"/>
                    <a:lumOff val="35000"/>
                  </a:schemeClr>
                </a:solidFill>
                <a:latin typeface="Microsoft JhengHei Light" panose="020B0304030504040204" pitchFamily="34" charset="-120"/>
                <a:ea typeface="Microsoft JhengHei Light" panose="020B0304030504040204" pitchFamily="34" charset="-120"/>
                <a:cs typeface="Arial" panose="020B0604020202020204" pitchFamily="34" charset="0"/>
              </a:rPr>
              <a:t>: Standard</a:t>
            </a:r>
            <a:endParaRPr lang="en-US" sz="1400" i="0" u="none" strike="noStrike" baseline="30000" dirty="0">
              <a:solidFill>
                <a:schemeClr val="tx1">
                  <a:lumMod val="65000"/>
                  <a:lumOff val="35000"/>
                </a:schemeClr>
              </a:solidFill>
              <a:latin typeface="Microsoft JhengHei Light" panose="020B0304030504040204" pitchFamily="34" charset="-120"/>
              <a:ea typeface="Microsoft JhengHei Light" panose="020B0304030504040204" pitchFamily="34" charset="-120"/>
              <a:cs typeface="Arial" panose="020B0604020202020204" pitchFamily="34" charset="0"/>
            </a:endParaRPr>
          </a:p>
          <a:p>
            <a:pPr marR="0" algn="l" rtl="0">
              <a:lnSpc>
                <a:spcPts val="1300"/>
              </a:lnSpc>
            </a:pPr>
            <a:r>
              <a:rPr lang="en-US" sz="1400" i="0" u="none" strike="noStrike" baseline="30000" dirty="0">
                <a:solidFill>
                  <a:schemeClr val="tx1">
                    <a:lumMod val="65000"/>
                    <a:lumOff val="35000"/>
                  </a:schemeClr>
                </a:solidFill>
                <a:latin typeface="Microsoft JhengHei Light" panose="020B0304030504040204" pitchFamily="34" charset="-120"/>
                <a:ea typeface="Microsoft JhengHei Light" panose="020B0304030504040204" pitchFamily="34" charset="-120"/>
                <a:cs typeface="Arial" panose="020B0604020202020204" pitchFamily="34" charset="0"/>
              </a:rPr>
              <a:t>: Cut Pile</a:t>
            </a:r>
            <a:br>
              <a:rPr lang="en-US" sz="1400" baseline="30000" dirty="0">
                <a:solidFill>
                  <a:schemeClr val="tx1">
                    <a:lumMod val="65000"/>
                    <a:lumOff val="35000"/>
                  </a:schemeClr>
                </a:solidFill>
                <a:latin typeface="Microsoft JhengHei Light" panose="020B0304030504040204" pitchFamily="34" charset="-120"/>
                <a:ea typeface="Microsoft JhengHei Light" panose="020B0304030504040204" pitchFamily="34" charset="-120"/>
                <a:cs typeface="Arial" panose="020B0604020202020204" pitchFamily="34" charset="0"/>
              </a:rPr>
            </a:br>
            <a:r>
              <a:rPr lang="en-US" sz="1400" baseline="30000" dirty="0">
                <a:solidFill>
                  <a:schemeClr val="tx1">
                    <a:lumMod val="65000"/>
                    <a:lumOff val="35000"/>
                  </a:schemeClr>
                </a:solidFill>
                <a:latin typeface="Microsoft JhengHei Light" panose="020B0304030504040204" pitchFamily="34" charset="-120"/>
                <a:ea typeface="Microsoft JhengHei Light" panose="020B0304030504040204" pitchFamily="34" charset="-120"/>
                <a:cs typeface="Arial" panose="020B0604020202020204" pitchFamily="34" charset="0"/>
              </a:rPr>
              <a:t>: NO </a:t>
            </a:r>
            <a:r>
              <a:rPr lang="en-US" sz="1400" i="0" u="none" strike="noStrike" baseline="30000" dirty="0">
                <a:solidFill>
                  <a:schemeClr val="tx1">
                    <a:lumMod val="65000"/>
                    <a:lumOff val="35000"/>
                  </a:schemeClr>
                </a:solidFill>
                <a:latin typeface="Microsoft JhengHei Light" panose="020B0304030504040204" pitchFamily="34" charset="-120"/>
                <a:ea typeface="Microsoft JhengHei Light" panose="020B0304030504040204" pitchFamily="34" charset="-120"/>
                <a:cs typeface="Arial" panose="020B0604020202020204" pitchFamily="34" charset="0"/>
              </a:rPr>
              <a:t>Backing </a:t>
            </a:r>
          </a:p>
          <a:p>
            <a:pPr marR="0" algn="l" rtl="0">
              <a:lnSpc>
                <a:spcPts val="1300"/>
              </a:lnSpc>
            </a:pPr>
            <a:r>
              <a:rPr lang="en-US" sz="1400" i="0" u="none" strike="noStrike" baseline="30000" dirty="0">
                <a:solidFill>
                  <a:schemeClr val="tx1">
                    <a:lumMod val="65000"/>
                    <a:lumOff val="35000"/>
                  </a:schemeClr>
                </a:solidFill>
                <a:latin typeface="Microsoft JhengHei Light" panose="020B0304030504040204" pitchFamily="34" charset="-120"/>
                <a:ea typeface="Microsoft JhengHei Light" panose="020B0304030504040204" pitchFamily="34" charset="-120"/>
                <a:cs typeface="Arial" panose="020B0604020202020204" pitchFamily="34" charset="0"/>
              </a:rPr>
              <a:t>: Standard</a:t>
            </a:r>
          </a:p>
        </p:txBody>
      </p:sp>
      <p:pic>
        <p:nvPicPr>
          <p:cNvPr id="5" name="Picture 4">
            <a:extLst>
              <a:ext uri="{FF2B5EF4-FFF2-40B4-BE49-F238E27FC236}">
                <a16:creationId xmlns:a16="http://schemas.microsoft.com/office/drawing/2014/main" id="{7888C10A-1D46-1C64-F8B4-A19FE22715A5}"/>
              </a:ext>
            </a:extLst>
          </p:cNvPr>
          <p:cNvPicPr>
            <a:picLocks noChangeAspect="1"/>
          </p:cNvPicPr>
          <p:nvPr/>
        </p:nvPicPr>
        <p:blipFill rotWithShape="1">
          <a:blip r:embed="rId4">
            <a:extLst>
              <a:ext uri="{28A0092B-C50C-407E-A947-70E740481C1C}">
                <a14:useLocalDpi xmlns:a14="http://schemas.microsoft.com/office/drawing/2010/main" val="0"/>
              </a:ext>
            </a:extLst>
          </a:blip>
          <a:srcRect l="20526" t="48840" r="18681" b="45910"/>
          <a:stretch/>
        </p:blipFill>
        <p:spPr>
          <a:xfrm>
            <a:off x="272504" y="206421"/>
            <a:ext cx="2008477" cy="308444"/>
          </a:xfrm>
          <a:prstGeom prst="rect">
            <a:avLst/>
          </a:prstGeom>
        </p:spPr>
      </p:pic>
      <p:cxnSp>
        <p:nvCxnSpPr>
          <p:cNvPr id="36" name="Straight Connector 35">
            <a:extLst>
              <a:ext uri="{FF2B5EF4-FFF2-40B4-BE49-F238E27FC236}">
                <a16:creationId xmlns:a16="http://schemas.microsoft.com/office/drawing/2014/main" id="{30CD1004-2156-FA15-CFE2-B20B44A116D6}"/>
              </a:ext>
            </a:extLst>
          </p:cNvPr>
          <p:cNvCxnSpPr>
            <a:cxnSpLocks/>
          </p:cNvCxnSpPr>
          <p:nvPr/>
        </p:nvCxnSpPr>
        <p:spPr>
          <a:xfrm>
            <a:off x="2123089" y="452127"/>
            <a:ext cx="5659821" cy="22336"/>
          </a:xfrm>
          <a:prstGeom prst="line">
            <a:avLst/>
          </a:prstGeom>
          <a:ln w="3175">
            <a:solidFill>
              <a:schemeClr val="accent2"/>
            </a:solidFill>
          </a:ln>
        </p:spPr>
        <p:style>
          <a:lnRef idx="3">
            <a:schemeClr val="dk1"/>
          </a:lnRef>
          <a:fillRef idx="0">
            <a:schemeClr val="dk1"/>
          </a:fillRef>
          <a:effectRef idx="2">
            <a:schemeClr val="dk1"/>
          </a:effectRef>
          <a:fontRef idx="minor">
            <a:schemeClr val="tx1"/>
          </a:fontRef>
        </p:style>
      </p:cxnSp>
      <p:sp>
        <p:nvSpPr>
          <p:cNvPr id="37" name="TextBox 36">
            <a:extLst>
              <a:ext uri="{FF2B5EF4-FFF2-40B4-BE49-F238E27FC236}">
                <a16:creationId xmlns:a16="http://schemas.microsoft.com/office/drawing/2014/main" id="{BD7E49F9-D4C4-A437-D900-FFB90511D1E0}"/>
              </a:ext>
            </a:extLst>
          </p:cNvPr>
          <p:cNvSpPr txBox="1"/>
          <p:nvPr/>
        </p:nvSpPr>
        <p:spPr>
          <a:xfrm>
            <a:off x="243953" y="775433"/>
            <a:ext cx="5659821" cy="400110"/>
          </a:xfrm>
          <a:prstGeom prst="rect">
            <a:avLst/>
          </a:prstGeom>
          <a:noFill/>
        </p:spPr>
        <p:txBody>
          <a:bodyPr wrap="square" rtlCol="0">
            <a:spAutoFit/>
          </a:bodyPr>
          <a:lstStyle/>
          <a:p>
            <a:r>
              <a:rPr lang="en-US" sz="1000" b="1" u="sng" dirty="0">
                <a:solidFill>
                  <a:srgbClr val="C00000"/>
                </a:solidFill>
                <a:latin typeface="Microsoft JhengHei" panose="020B0604030504040204" pitchFamily="34" charset="-120"/>
                <a:ea typeface="Microsoft JhengHei" panose="020B0604030504040204" pitchFamily="34" charset="-120"/>
                <a:cs typeface="Arial" panose="020B0604020202020204" pitchFamily="34" charset="0"/>
              </a:rPr>
              <a:t>PD-14229-ASL-05 Apple Green 0201-15 Gold Brown 0502-15-Revision</a:t>
            </a:r>
          </a:p>
          <a:p>
            <a:r>
              <a:rPr lang="en-US" sz="1000" b="1" u="sng" dirty="0">
                <a:solidFill>
                  <a:srgbClr val="C00000"/>
                </a:solidFill>
                <a:latin typeface="Microsoft JhengHei" panose="020B0604030504040204" pitchFamily="34" charset="-120"/>
                <a:ea typeface="Microsoft JhengHei" panose="020B0604030504040204" pitchFamily="34" charset="-120"/>
                <a:cs typeface="Arial" panose="020B0604020202020204" pitchFamily="34" charset="0"/>
              </a:rPr>
              <a:t>Option-1</a:t>
            </a:r>
          </a:p>
        </p:txBody>
      </p:sp>
      <p:sp>
        <p:nvSpPr>
          <p:cNvPr id="38" name="TextBox 37">
            <a:extLst>
              <a:ext uri="{FF2B5EF4-FFF2-40B4-BE49-F238E27FC236}">
                <a16:creationId xmlns:a16="http://schemas.microsoft.com/office/drawing/2014/main" id="{8BF37D16-C8FE-AC90-45CF-953F47E1B060}"/>
              </a:ext>
            </a:extLst>
          </p:cNvPr>
          <p:cNvSpPr txBox="1"/>
          <p:nvPr/>
        </p:nvSpPr>
        <p:spPr>
          <a:xfrm>
            <a:off x="243953" y="522581"/>
            <a:ext cx="4479052" cy="307777"/>
          </a:xfrm>
          <a:prstGeom prst="rect">
            <a:avLst/>
          </a:prstGeom>
          <a:noFill/>
        </p:spPr>
        <p:txBody>
          <a:bodyPr wrap="square" rtlCol="0">
            <a:spAutoFit/>
          </a:bodyPr>
          <a:lstStyle/>
          <a:p>
            <a:r>
              <a:rPr lang="en-US" sz="1400" b="1" u="sng" dirty="0">
                <a:solidFill>
                  <a:schemeClr val="tx1">
                    <a:lumMod val="50000"/>
                    <a:lumOff val="50000"/>
                  </a:schemeClr>
                </a:solidFill>
                <a:latin typeface="Microsoft JhengHei Light" panose="020B0304030504040204" pitchFamily="34" charset="-120"/>
                <a:ea typeface="Microsoft JhengHei Light" panose="020B0304030504040204" pitchFamily="34" charset="-120"/>
              </a:rPr>
              <a:t>Construction : Hand Knotted 14/14 MS PS</a:t>
            </a:r>
          </a:p>
        </p:txBody>
      </p:sp>
      <p:sp>
        <p:nvSpPr>
          <p:cNvPr id="33" name="TextBox 32">
            <a:extLst>
              <a:ext uri="{FF2B5EF4-FFF2-40B4-BE49-F238E27FC236}">
                <a16:creationId xmlns:a16="http://schemas.microsoft.com/office/drawing/2014/main" id="{0477C164-98A9-6AA4-7D81-6AABBF31DD3A}"/>
              </a:ext>
            </a:extLst>
          </p:cNvPr>
          <p:cNvSpPr txBox="1"/>
          <p:nvPr/>
        </p:nvSpPr>
        <p:spPr>
          <a:xfrm rot="16200000">
            <a:off x="3785370" y="3803959"/>
            <a:ext cx="1939846" cy="246221"/>
          </a:xfrm>
          <a:prstGeom prst="rect">
            <a:avLst/>
          </a:prstGeom>
          <a:noFill/>
        </p:spPr>
        <p:txBody>
          <a:bodyPr wrap="square" rtlCol="0">
            <a:spAutoFit/>
          </a:bodyPr>
          <a:lstStyle/>
          <a:p>
            <a:r>
              <a:rPr lang="en-US" sz="1000" dirty="0">
                <a:solidFill>
                  <a:schemeClr val="tx1">
                    <a:lumMod val="65000"/>
                    <a:lumOff val="35000"/>
                  </a:schemeClr>
                </a:solidFill>
                <a:latin typeface="Microsoft JhengHei" panose="020B0604030504040204" pitchFamily="34" charset="-120"/>
                <a:ea typeface="Microsoft JhengHei" panose="020B0604030504040204" pitchFamily="34" charset="-120"/>
                <a:cs typeface="Arial" panose="020B0604020202020204" pitchFamily="34" charset="0"/>
              </a:rPr>
              <a:t>8’FEET</a:t>
            </a:r>
          </a:p>
        </p:txBody>
      </p:sp>
      <p:sp>
        <p:nvSpPr>
          <p:cNvPr id="42" name="TextBox 41">
            <a:extLst>
              <a:ext uri="{FF2B5EF4-FFF2-40B4-BE49-F238E27FC236}">
                <a16:creationId xmlns:a16="http://schemas.microsoft.com/office/drawing/2014/main" id="{E61157BD-3E97-E5E7-484C-9FDA9EDD8308}"/>
              </a:ext>
            </a:extLst>
          </p:cNvPr>
          <p:cNvSpPr txBox="1"/>
          <p:nvPr/>
        </p:nvSpPr>
        <p:spPr>
          <a:xfrm>
            <a:off x="2398814" y="7367070"/>
            <a:ext cx="1939846" cy="246221"/>
          </a:xfrm>
          <a:prstGeom prst="rect">
            <a:avLst/>
          </a:prstGeom>
          <a:noFill/>
        </p:spPr>
        <p:txBody>
          <a:bodyPr wrap="square" rtlCol="0">
            <a:spAutoFit/>
          </a:bodyPr>
          <a:lstStyle/>
          <a:p>
            <a:r>
              <a:rPr lang="en-US" sz="1000" dirty="0">
                <a:solidFill>
                  <a:schemeClr val="tx1">
                    <a:lumMod val="65000"/>
                    <a:lumOff val="35000"/>
                  </a:schemeClr>
                </a:solidFill>
                <a:latin typeface="Microsoft JhengHei" panose="020B0604030504040204" pitchFamily="34" charset="-120"/>
                <a:ea typeface="Microsoft JhengHei" panose="020B0604030504040204" pitchFamily="34" charset="-120"/>
                <a:cs typeface="Arial" panose="020B0604020202020204" pitchFamily="34" charset="0"/>
              </a:rPr>
              <a:t>5’FEET</a:t>
            </a:r>
          </a:p>
        </p:txBody>
      </p:sp>
      <p:sp>
        <p:nvSpPr>
          <p:cNvPr id="43" name="Rectangle 42">
            <a:extLst>
              <a:ext uri="{FF2B5EF4-FFF2-40B4-BE49-F238E27FC236}">
                <a16:creationId xmlns:a16="http://schemas.microsoft.com/office/drawing/2014/main" id="{48632D9C-3A6C-9CB8-E21E-F766AE2986BB}"/>
              </a:ext>
            </a:extLst>
          </p:cNvPr>
          <p:cNvSpPr/>
          <p:nvPr/>
        </p:nvSpPr>
        <p:spPr>
          <a:xfrm>
            <a:off x="3304674" y="10843918"/>
            <a:ext cx="4129847" cy="824565"/>
          </a:xfrm>
          <a:prstGeom prst="rect">
            <a:avLst/>
          </a:prstGeom>
          <a:noFill/>
          <a:ln>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65000"/>
                  <a:lumOff val="35000"/>
                </a:schemeClr>
              </a:solidFill>
            </a:endParaRPr>
          </a:p>
        </p:txBody>
      </p:sp>
      <p:sp>
        <p:nvSpPr>
          <p:cNvPr id="44" name="TextBox 43">
            <a:extLst>
              <a:ext uri="{FF2B5EF4-FFF2-40B4-BE49-F238E27FC236}">
                <a16:creationId xmlns:a16="http://schemas.microsoft.com/office/drawing/2014/main" id="{D43BE813-9FA2-159C-8F5C-69E11782D78E}"/>
              </a:ext>
            </a:extLst>
          </p:cNvPr>
          <p:cNvSpPr txBox="1"/>
          <p:nvPr/>
        </p:nvSpPr>
        <p:spPr>
          <a:xfrm>
            <a:off x="3250904" y="10568810"/>
            <a:ext cx="3750500" cy="246221"/>
          </a:xfrm>
          <a:prstGeom prst="rect">
            <a:avLst/>
          </a:prstGeom>
          <a:noFill/>
        </p:spPr>
        <p:txBody>
          <a:bodyPr wrap="square" rtlCol="0">
            <a:spAutoFit/>
          </a:bodyPr>
          <a:lstStyle/>
          <a:p>
            <a:r>
              <a:rPr lang="en-US" sz="1000" b="1" dirty="0">
                <a:solidFill>
                  <a:schemeClr val="tx1">
                    <a:lumMod val="65000"/>
                    <a:lumOff val="35000"/>
                  </a:schemeClr>
                </a:solidFill>
                <a:latin typeface="Microsoft JhengHei Light" panose="020B0304030504040204" pitchFamily="34" charset="-120"/>
                <a:ea typeface="Microsoft JhengHei Light" panose="020B0304030504040204" pitchFamily="34" charset="-120"/>
              </a:rPr>
              <a:t>Approval Box :-</a:t>
            </a:r>
          </a:p>
        </p:txBody>
      </p:sp>
      <p:grpSp>
        <p:nvGrpSpPr>
          <p:cNvPr id="28" name="Group 27">
            <a:extLst>
              <a:ext uri="{FF2B5EF4-FFF2-40B4-BE49-F238E27FC236}">
                <a16:creationId xmlns:a16="http://schemas.microsoft.com/office/drawing/2014/main" id="{38722D28-06C5-D59A-D036-96C65DE0F2DB}"/>
              </a:ext>
            </a:extLst>
          </p:cNvPr>
          <p:cNvGrpSpPr/>
          <p:nvPr/>
        </p:nvGrpSpPr>
        <p:grpSpPr>
          <a:xfrm>
            <a:off x="5611362" y="7977051"/>
            <a:ext cx="1923699" cy="1796084"/>
            <a:chOff x="251699" y="2183122"/>
            <a:chExt cx="4789373" cy="3867260"/>
          </a:xfrm>
        </p:grpSpPr>
        <p:cxnSp>
          <p:nvCxnSpPr>
            <p:cNvPr id="29" name="Straight Arrow Connector 28">
              <a:extLst>
                <a:ext uri="{FF2B5EF4-FFF2-40B4-BE49-F238E27FC236}">
                  <a16:creationId xmlns:a16="http://schemas.microsoft.com/office/drawing/2014/main" id="{D94C4F0F-A48A-F98D-D629-4C074D35B8C7}"/>
                </a:ext>
              </a:extLst>
            </p:cNvPr>
            <p:cNvCxnSpPr>
              <a:cxnSpLocks/>
            </p:cNvCxnSpPr>
            <p:nvPr/>
          </p:nvCxnSpPr>
          <p:spPr>
            <a:xfrm>
              <a:off x="251699" y="6050382"/>
              <a:ext cx="4684761" cy="0"/>
            </a:xfrm>
            <a:prstGeom prst="straightConnector1">
              <a:avLst/>
            </a:prstGeom>
            <a:ln w="12700">
              <a:solidFill>
                <a:schemeClr val="tx1">
                  <a:lumMod val="65000"/>
                  <a:lumOff val="3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32" name="Straight Arrow Connector 31">
              <a:extLst>
                <a:ext uri="{FF2B5EF4-FFF2-40B4-BE49-F238E27FC236}">
                  <a16:creationId xmlns:a16="http://schemas.microsoft.com/office/drawing/2014/main" id="{08ADAA08-53BC-2E46-92A9-FC05EDEAF0E5}"/>
                </a:ext>
              </a:extLst>
            </p:cNvPr>
            <p:cNvCxnSpPr>
              <a:cxnSpLocks/>
            </p:cNvCxnSpPr>
            <p:nvPr/>
          </p:nvCxnSpPr>
          <p:spPr>
            <a:xfrm flipH="1">
              <a:off x="5023105" y="2183122"/>
              <a:ext cx="17967" cy="3824646"/>
            </a:xfrm>
            <a:prstGeom prst="straightConnector1">
              <a:avLst/>
            </a:prstGeom>
            <a:ln w="12700">
              <a:solidFill>
                <a:schemeClr val="tx1">
                  <a:lumMod val="65000"/>
                  <a:lumOff val="3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grpSp>
      <p:sp>
        <p:nvSpPr>
          <p:cNvPr id="34" name="TextBox 33">
            <a:extLst>
              <a:ext uri="{FF2B5EF4-FFF2-40B4-BE49-F238E27FC236}">
                <a16:creationId xmlns:a16="http://schemas.microsoft.com/office/drawing/2014/main" id="{47FA400A-DC33-D9AE-7B2E-050FC44CA19C}"/>
              </a:ext>
            </a:extLst>
          </p:cNvPr>
          <p:cNvSpPr txBox="1"/>
          <p:nvPr/>
        </p:nvSpPr>
        <p:spPr>
          <a:xfrm rot="16200000">
            <a:off x="6685378" y="8141762"/>
            <a:ext cx="1939846" cy="246221"/>
          </a:xfrm>
          <a:prstGeom prst="rect">
            <a:avLst/>
          </a:prstGeom>
          <a:noFill/>
        </p:spPr>
        <p:txBody>
          <a:bodyPr wrap="square" rtlCol="0">
            <a:spAutoFit/>
          </a:bodyPr>
          <a:lstStyle/>
          <a:p>
            <a:r>
              <a:rPr lang="en-US" sz="1000" dirty="0">
                <a:solidFill>
                  <a:schemeClr val="tx1">
                    <a:lumMod val="65000"/>
                    <a:lumOff val="35000"/>
                  </a:schemeClr>
                </a:solidFill>
                <a:latin typeface="Microsoft JhengHei" panose="020B0604030504040204" pitchFamily="34" charset="-120"/>
                <a:ea typeface="Microsoft JhengHei" panose="020B0604030504040204" pitchFamily="34" charset="-120"/>
                <a:cs typeface="Arial" panose="020B0604020202020204" pitchFamily="34" charset="0"/>
              </a:rPr>
              <a:t>45 CMS </a:t>
            </a:r>
          </a:p>
        </p:txBody>
      </p:sp>
      <p:sp>
        <p:nvSpPr>
          <p:cNvPr id="35" name="TextBox 34">
            <a:extLst>
              <a:ext uri="{FF2B5EF4-FFF2-40B4-BE49-F238E27FC236}">
                <a16:creationId xmlns:a16="http://schemas.microsoft.com/office/drawing/2014/main" id="{9312154D-28C6-3CD4-88E8-67CF5A16B039}"/>
              </a:ext>
            </a:extLst>
          </p:cNvPr>
          <p:cNvSpPr txBox="1"/>
          <p:nvPr/>
        </p:nvSpPr>
        <p:spPr>
          <a:xfrm>
            <a:off x="6089898" y="9801579"/>
            <a:ext cx="1939846" cy="246221"/>
          </a:xfrm>
          <a:prstGeom prst="rect">
            <a:avLst/>
          </a:prstGeom>
          <a:noFill/>
        </p:spPr>
        <p:txBody>
          <a:bodyPr wrap="square" rtlCol="0">
            <a:spAutoFit/>
          </a:bodyPr>
          <a:lstStyle/>
          <a:p>
            <a:r>
              <a:rPr lang="en-US" sz="1000" dirty="0">
                <a:solidFill>
                  <a:schemeClr val="tx1">
                    <a:lumMod val="65000"/>
                    <a:lumOff val="35000"/>
                  </a:schemeClr>
                </a:solidFill>
                <a:latin typeface="Microsoft JhengHei" panose="020B0604030504040204" pitchFamily="34" charset="-120"/>
                <a:ea typeface="Microsoft JhengHei" panose="020B0604030504040204" pitchFamily="34" charset="-120"/>
                <a:cs typeface="Arial" panose="020B0604020202020204" pitchFamily="34" charset="0"/>
              </a:rPr>
              <a:t>45 CMS </a:t>
            </a:r>
          </a:p>
        </p:txBody>
      </p:sp>
      <p:sp>
        <p:nvSpPr>
          <p:cNvPr id="4" name="TextBox 3">
            <a:extLst>
              <a:ext uri="{FF2B5EF4-FFF2-40B4-BE49-F238E27FC236}">
                <a16:creationId xmlns:a16="http://schemas.microsoft.com/office/drawing/2014/main" id="{770E821E-2DC1-B62A-2ECE-1AF1B30E2E6C}"/>
              </a:ext>
            </a:extLst>
          </p:cNvPr>
          <p:cNvSpPr txBox="1"/>
          <p:nvPr/>
        </p:nvSpPr>
        <p:spPr>
          <a:xfrm>
            <a:off x="5328536" y="4558543"/>
            <a:ext cx="2457171" cy="235962"/>
          </a:xfrm>
          <a:prstGeom prst="rect">
            <a:avLst/>
          </a:prstGeom>
          <a:solidFill>
            <a:srgbClr val="829697"/>
          </a:solidFill>
        </p:spPr>
        <p:txBody>
          <a:bodyPr wrap="square" rtlCol="0">
            <a:spAutoFit/>
          </a:bodyPr>
          <a:lstStyle>
            <a:defPPr>
              <a:defRPr lang="en-US"/>
            </a:defPPr>
            <a:lvl1pPr>
              <a:defRPr sz="1692" baseline="30000">
                <a:latin typeface="Microsoft JhengHei" panose="020B0604030504040204" pitchFamily="34" charset="-120"/>
                <a:ea typeface="Microsoft JhengHei" panose="020B0604030504040204" pitchFamily="34" charset="-120"/>
              </a:defRPr>
            </a:lvl1pPr>
          </a:lstStyle>
          <a:p>
            <a:r>
              <a:rPr lang="en-US" sz="1400" dirty="0">
                <a:solidFill>
                  <a:schemeClr val="bg1"/>
                </a:solidFill>
              </a:rPr>
              <a:t>#11. 1112</a:t>
            </a:r>
            <a:r>
              <a:rPr lang="en-US" sz="1400" baseline="30000" dirty="0">
                <a:solidFill>
                  <a:schemeClr val="bg1"/>
                </a:solidFill>
                <a:latin typeface="Microsoft JhengHei" panose="020B0604030504040204" pitchFamily="34" charset="-120"/>
                <a:ea typeface="Microsoft JhengHei" panose="020B0604030504040204" pitchFamily="34" charset="-120"/>
              </a:rPr>
              <a:t>- Silk Cut Pile</a:t>
            </a:r>
          </a:p>
        </p:txBody>
      </p:sp>
      <p:sp>
        <p:nvSpPr>
          <p:cNvPr id="11" name="TextBox 10">
            <a:extLst>
              <a:ext uri="{FF2B5EF4-FFF2-40B4-BE49-F238E27FC236}">
                <a16:creationId xmlns:a16="http://schemas.microsoft.com/office/drawing/2014/main" id="{D9146DF7-2FD4-5BE5-22D4-6B3385EC556F}"/>
              </a:ext>
            </a:extLst>
          </p:cNvPr>
          <p:cNvSpPr txBox="1"/>
          <p:nvPr/>
        </p:nvSpPr>
        <p:spPr>
          <a:xfrm>
            <a:off x="5327219" y="4282203"/>
            <a:ext cx="2457171" cy="235962"/>
          </a:xfrm>
          <a:prstGeom prst="rect">
            <a:avLst/>
          </a:prstGeom>
          <a:solidFill>
            <a:srgbClr val="914637"/>
          </a:solidFill>
        </p:spPr>
        <p:txBody>
          <a:bodyPr wrap="square" rtlCol="0">
            <a:spAutoFit/>
          </a:bodyPr>
          <a:lstStyle/>
          <a:p>
            <a:r>
              <a:rPr lang="en-US" sz="1400" baseline="30000" dirty="0">
                <a:solidFill>
                  <a:schemeClr val="bg1"/>
                </a:solidFill>
                <a:latin typeface="Microsoft JhengHei" panose="020B0604030504040204" pitchFamily="34" charset="-120"/>
                <a:ea typeface="Microsoft JhengHei" panose="020B0604030504040204" pitchFamily="34" charset="-120"/>
              </a:rPr>
              <a:t>#10. 607- Silk Cut Pile</a:t>
            </a:r>
          </a:p>
        </p:txBody>
      </p:sp>
      <p:sp>
        <p:nvSpPr>
          <p:cNvPr id="27" name="TextBox 26">
            <a:extLst>
              <a:ext uri="{FF2B5EF4-FFF2-40B4-BE49-F238E27FC236}">
                <a16:creationId xmlns:a16="http://schemas.microsoft.com/office/drawing/2014/main" id="{8961FB35-9348-BE87-7A59-4B157AD100F8}"/>
              </a:ext>
            </a:extLst>
          </p:cNvPr>
          <p:cNvSpPr txBox="1"/>
          <p:nvPr/>
        </p:nvSpPr>
        <p:spPr>
          <a:xfrm>
            <a:off x="5368595" y="1337767"/>
            <a:ext cx="2377054" cy="246221"/>
          </a:xfrm>
          <a:prstGeom prst="rect">
            <a:avLst/>
          </a:prstGeom>
          <a:noFill/>
        </p:spPr>
        <p:txBody>
          <a:bodyPr wrap="square" rtlCol="0">
            <a:spAutoFit/>
          </a:bodyPr>
          <a:lstStyle/>
          <a:p>
            <a:pPr algn="ctr"/>
            <a:r>
              <a:rPr lang="en-US" sz="1000" dirty="0">
                <a:solidFill>
                  <a:schemeClr val="bg1"/>
                </a:solidFill>
                <a:highlight>
                  <a:srgbClr val="000080"/>
                </a:highlight>
                <a:latin typeface="Microsoft JhengHei" panose="020B0604030504040204" pitchFamily="34" charset="-120"/>
                <a:ea typeface="Microsoft JhengHei" panose="020B0604030504040204" pitchFamily="34" charset="-120"/>
                <a:cs typeface="Arial" panose="020B0604020202020204" pitchFamily="34" charset="0"/>
              </a:rPr>
              <a:t>JRC +ARS  reference  </a:t>
            </a:r>
          </a:p>
        </p:txBody>
      </p:sp>
      <p:sp>
        <p:nvSpPr>
          <p:cNvPr id="39" name="TextBox 38">
            <a:extLst>
              <a:ext uri="{FF2B5EF4-FFF2-40B4-BE49-F238E27FC236}">
                <a16:creationId xmlns:a16="http://schemas.microsoft.com/office/drawing/2014/main" id="{DD723D9C-152D-0599-C5D1-5BAF01C7E051}"/>
              </a:ext>
            </a:extLst>
          </p:cNvPr>
          <p:cNvSpPr txBox="1"/>
          <p:nvPr/>
        </p:nvSpPr>
        <p:spPr>
          <a:xfrm>
            <a:off x="5332431" y="1736392"/>
            <a:ext cx="2457171" cy="235962"/>
          </a:xfrm>
          <a:prstGeom prst="rect">
            <a:avLst/>
          </a:prstGeom>
          <a:solidFill>
            <a:srgbClr val="666666"/>
          </a:solidFill>
        </p:spPr>
        <p:txBody>
          <a:bodyPr wrap="square" rtlCol="0">
            <a:spAutoFit/>
          </a:bodyPr>
          <a:lstStyle/>
          <a:p>
            <a:r>
              <a:rPr lang="en-US" sz="1400" baseline="30000" dirty="0">
                <a:solidFill>
                  <a:schemeClr val="bg1"/>
                </a:solidFill>
                <a:latin typeface="Microsoft JhengHei" panose="020B0604030504040204" pitchFamily="34" charset="-120"/>
                <a:ea typeface="Microsoft JhengHei" panose="020B0604030504040204" pitchFamily="34" charset="-120"/>
              </a:rPr>
              <a:t>#1. 194- Silk Cut Pile</a:t>
            </a:r>
          </a:p>
        </p:txBody>
      </p:sp>
      <p:sp>
        <p:nvSpPr>
          <p:cNvPr id="48" name="TextBox 47">
            <a:extLst>
              <a:ext uri="{FF2B5EF4-FFF2-40B4-BE49-F238E27FC236}">
                <a16:creationId xmlns:a16="http://schemas.microsoft.com/office/drawing/2014/main" id="{28DBE376-5310-F3EA-6E51-7E10B51E5042}"/>
              </a:ext>
            </a:extLst>
          </p:cNvPr>
          <p:cNvSpPr txBox="1"/>
          <p:nvPr/>
        </p:nvSpPr>
        <p:spPr>
          <a:xfrm>
            <a:off x="5377443" y="7081433"/>
            <a:ext cx="1939846" cy="246221"/>
          </a:xfrm>
          <a:prstGeom prst="rect">
            <a:avLst/>
          </a:prstGeom>
          <a:noFill/>
        </p:spPr>
        <p:txBody>
          <a:bodyPr wrap="square" rtlCol="0">
            <a:spAutoFit/>
          </a:bodyPr>
          <a:lstStyle/>
          <a:p>
            <a:r>
              <a:rPr lang="en-US" sz="1000" b="1" u="sng" dirty="0">
                <a:solidFill>
                  <a:srgbClr val="C00000"/>
                </a:solidFill>
                <a:latin typeface="Microsoft JhengHei" panose="020B0604030504040204" pitchFamily="34" charset="-120"/>
                <a:ea typeface="Microsoft JhengHei" panose="020B0604030504040204" pitchFamily="34" charset="-120"/>
                <a:cs typeface="Arial" panose="020B0604020202020204" pitchFamily="34" charset="0"/>
              </a:rPr>
              <a:t>Pile height –7 MM -8 MM</a:t>
            </a:r>
          </a:p>
        </p:txBody>
      </p:sp>
      <p:sp>
        <p:nvSpPr>
          <p:cNvPr id="50" name="TextBox 49">
            <a:extLst>
              <a:ext uri="{FF2B5EF4-FFF2-40B4-BE49-F238E27FC236}">
                <a16:creationId xmlns:a16="http://schemas.microsoft.com/office/drawing/2014/main" id="{3D4C9C97-3D03-27B2-B526-160AA7B1CCB4}"/>
              </a:ext>
            </a:extLst>
          </p:cNvPr>
          <p:cNvSpPr txBox="1"/>
          <p:nvPr/>
        </p:nvSpPr>
        <p:spPr>
          <a:xfrm>
            <a:off x="5333748" y="2012732"/>
            <a:ext cx="2457171" cy="235962"/>
          </a:xfrm>
          <a:prstGeom prst="rect">
            <a:avLst/>
          </a:prstGeom>
          <a:solidFill>
            <a:srgbClr val="B8A982"/>
          </a:solidFill>
        </p:spPr>
        <p:txBody>
          <a:bodyPr wrap="square" rtlCol="0">
            <a:spAutoFit/>
          </a:bodyPr>
          <a:lstStyle>
            <a:defPPr>
              <a:defRPr lang="en-US"/>
            </a:defPPr>
            <a:lvl1pPr>
              <a:defRPr sz="1692" baseline="30000">
                <a:latin typeface="Microsoft JhengHei" panose="020B0604030504040204" pitchFamily="34" charset="-120"/>
                <a:ea typeface="Microsoft JhengHei" panose="020B0604030504040204" pitchFamily="34" charset="-120"/>
              </a:defRPr>
            </a:lvl1pPr>
          </a:lstStyle>
          <a:p>
            <a:r>
              <a:rPr lang="en-US" sz="1400" dirty="0">
                <a:solidFill>
                  <a:schemeClr val="bg1"/>
                </a:solidFill>
              </a:rPr>
              <a:t>#2. 804</a:t>
            </a:r>
            <a:r>
              <a:rPr lang="en-US" sz="1400" baseline="30000" dirty="0">
                <a:solidFill>
                  <a:schemeClr val="bg1"/>
                </a:solidFill>
                <a:latin typeface="Microsoft JhengHei" panose="020B0604030504040204" pitchFamily="34" charset="-120"/>
                <a:ea typeface="Microsoft JhengHei" panose="020B0604030504040204" pitchFamily="34" charset="-120"/>
              </a:rPr>
              <a:t>- Silk Cut Pile</a:t>
            </a:r>
          </a:p>
        </p:txBody>
      </p:sp>
      <p:sp>
        <p:nvSpPr>
          <p:cNvPr id="53" name="TextBox 52">
            <a:extLst>
              <a:ext uri="{FF2B5EF4-FFF2-40B4-BE49-F238E27FC236}">
                <a16:creationId xmlns:a16="http://schemas.microsoft.com/office/drawing/2014/main" id="{6B729C32-916B-5BF2-6023-4B3A250F9936}"/>
              </a:ext>
            </a:extLst>
          </p:cNvPr>
          <p:cNvSpPr txBox="1"/>
          <p:nvPr/>
        </p:nvSpPr>
        <p:spPr>
          <a:xfrm>
            <a:off x="5330692" y="2289230"/>
            <a:ext cx="2457171" cy="235962"/>
          </a:xfrm>
          <a:prstGeom prst="rect">
            <a:avLst/>
          </a:prstGeom>
          <a:solidFill>
            <a:srgbClr val="C9C4B3"/>
          </a:solidFill>
        </p:spPr>
        <p:txBody>
          <a:bodyPr wrap="square" rtlCol="0">
            <a:spAutoFit/>
          </a:bodyPr>
          <a:lstStyle/>
          <a:p>
            <a:r>
              <a:rPr lang="en-US" sz="1400" baseline="30000" dirty="0">
                <a:solidFill>
                  <a:schemeClr val="bg1"/>
                </a:solidFill>
                <a:latin typeface="Microsoft JhengHei" panose="020B0604030504040204" pitchFamily="34" charset="-120"/>
                <a:ea typeface="Microsoft JhengHei" panose="020B0604030504040204" pitchFamily="34" charset="-120"/>
              </a:rPr>
              <a:t>#3. 911- Silk Cut Pile</a:t>
            </a:r>
          </a:p>
        </p:txBody>
      </p:sp>
      <p:sp>
        <p:nvSpPr>
          <p:cNvPr id="55" name="TextBox 54">
            <a:extLst>
              <a:ext uri="{FF2B5EF4-FFF2-40B4-BE49-F238E27FC236}">
                <a16:creationId xmlns:a16="http://schemas.microsoft.com/office/drawing/2014/main" id="{19F7988E-6ADA-4EA3-6101-07AC9BCFE472}"/>
              </a:ext>
            </a:extLst>
          </p:cNvPr>
          <p:cNvSpPr txBox="1"/>
          <p:nvPr/>
        </p:nvSpPr>
        <p:spPr>
          <a:xfrm>
            <a:off x="5332009" y="2576587"/>
            <a:ext cx="2457171" cy="235962"/>
          </a:xfrm>
          <a:prstGeom prst="rect">
            <a:avLst/>
          </a:prstGeom>
          <a:solidFill>
            <a:srgbClr val="D1B369"/>
          </a:solidFill>
        </p:spPr>
        <p:txBody>
          <a:bodyPr wrap="square" rtlCol="0">
            <a:spAutoFit/>
          </a:bodyPr>
          <a:lstStyle>
            <a:defPPr>
              <a:defRPr lang="en-US"/>
            </a:defPPr>
            <a:lvl1pPr>
              <a:defRPr sz="1692" baseline="30000">
                <a:latin typeface="Microsoft JhengHei" panose="020B0604030504040204" pitchFamily="34" charset="-120"/>
                <a:ea typeface="Microsoft JhengHei" panose="020B0604030504040204" pitchFamily="34" charset="-120"/>
              </a:defRPr>
            </a:lvl1pPr>
          </a:lstStyle>
          <a:p>
            <a:r>
              <a:rPr lang="en-US" sz="1400" dirty="0">
                <a:solidFill>
                  <a:schemeClr val="bg1"/>
                </a:solidFill>
              </a:rPr>
              <a:t>#4. 809</a:t>
            </a:r>
            <a:r>
              <a:rPr lang="en-US" sz="1400" baseline="30000" dirty="0">
                <a:solidFill>
                  <a:schemeClr val="bg1"/>
                </a:solidFill>
                <a:latin typeface="Microsoft JhengHei" panose="020B0604030504040204" pitchFamily="34" charset="-120"/>
                <a:ea typeface="Microsoft JhengHei" panose="020B0604030504040204" pitchFamily="34" charset="-120"/>
              </a:rPr>
              <a:t>- Silk Cut Pile</a:t>
            </a:r>
          </a:p>
        </p:txBody>
      </p:sp>
      <p:sp>
        <p:nvSpPr>
          <p:cNvPr id="59" name="TextBox 58">
            <a:extLst>
              <a:ext uri="{FF2B5EF4-FFF2-40B4-BE49-F238E27FC236}">
                <a16:creationId xmlns:a16="http://schemas.microsoft.com/office/drawing/2014/main" id="{BD57C06B-6512-1E55-A162-6F4374E5F7A6}"/>
              </a:ext>
            </a:extLst>
          </p:cNvPr>
          <p:cNvSpPr txBox="1"/>
          <p:nvPr/>
        </p:nvSpPr>
        <p:spPr>
          <a:xfrm>
            <a:off x="5329234" y="2861954"/>
            <a:ext cx="2457171" cy="235962"/>
          </a:xfrm>
          <a:prstGeom prst="rect">
            <a:avLst/>
          </a:prstGeom>
          <a:solidFill>
            <a:srgbClr val="B59143"/>
          </a:solidFill>
        </p:spPr>
        <p:txBody>
          <a:bodyPr wrap="square" rtlCol="0">
            <a:spAutoFit/>
          </a:bodyPr>
          <a:lstStyle/>
          <a:p>
            <a:r>
              <a:rPr lang="en-US" sz="1400" baseline="30000" dirty="0">
                <a:solidFill>
                  <a:schemeClr val="bg1"/>
                </a:solidFill>
                <a:latin typeface="Microsoft JhengHei" panose="020B0604030504040204" pitchFamily="34" charset="-120"/>
                <a:ea typeface="Microsoft JhengHei" panose="020B0604030504040204" pitchFamily="34" charset="-120"/>
              </a:rPr>
              <a:t>#5. 754- Silk Cut Pile</a:t>
            </a:r>
          </a:p>
        </p:txBody>
      </p:sp>
      <p:sp>
        <p:nvSpPr>
          <p:cNvPr id="61" name="TextBox 60">
            <a:extLst>
              <a:ext uri="{FF2B5EF4-FFF2-40B4-BE49-F238E27FC236}">
                <a16:creationId xmlns:a16="http://schemas.microsoft.com/office/drawing/2014/main" id="{622671BA-277B-F483-C766-CC29059DF1BD}"/>
              </a:ext>
            </a:extLst>
          </p:cNvPr>
          <p:cNvSpPr txBox="1"/>
          <p:nvPr/>
        </p:nvSpPr>
        <p:spPr>
          <a:xfrm>
            <a:off x="5330551" y="3149312"/>
            <a:ext cx="2457171" cy="235962"/>
          </a:xfrm>
          <a:prstGeom prst="rect">
            <a:avLst/>
          </a:prstGeom>
          <a:solidFill>
            <a:srgbClr val="947A63"/>
          </a:solidFill>
        </p:spPr>
        <p:txBody>
          <a:bodyPr wrap="square" rtlCol="0">
            <a:spAutoFit/>
          </a:bodyPr>
          <a:lstStyle>
            <a:defPPr>
              <a:defRPr lang="en-US"/>
            </a:defPPr>
            <a:lvl1pPr>
              <a:defRPr sz="1692" baseline="30000">
                <a:latin typeface="Microsoft JhengHei" panose="020B0604030504040204" pitchFamily="34" charset="-120"/>
                <a:ea typeface="Microsoft JhengHei" panose="020B0604030504040204" pitchFamily="34" charset="-120"/>
              </a:defRPr>
            </a:lvl1pPr>
          </a:lstStyle>
          <a:p>
            <a:r>
              <a:rPr lang="en-US" sz="1400" dirty="0">
                <a:solidFill>
                  <a:schemeClr val="bg1"/>
                </a:solidFill>
              </a:rPr>
              <a:t>#6. 511</a:t>
            </a:r>
            <a:r>
              <a:rPr lang="en-US" sz="1400" baseline="30000" dirty="0">
                <a:solidFill>
                  <a:schemeClr val="bg1"/>
                </a:solidFill>
                <a:latin typeface="Microsoft JhengHei" panose="020B0604030504040204" pitchFamily="34" charset="-120"/>
                <a:ea typeface="Microsoft JhengHei" panose="020B0604030504040204" pitchFamily="34" charset="-120"/>
              </a:rPr>
              <a:t>- Silk Cut Pile</a:t>
            </a:r>
          </a:p>
        </p:txBody>
      </p:sp>
      <p:sp>
        <p:nvSpPr>
          <p:cNvPr id="63" name="TextBox 62">
            <a:extLst>
              <a:ext uri="{FF2B5EF4-FFF2-40B4-BE49-F238E27FC236}">
                <a16:creationId xmlns:a16="http://schemas.microsoft.com/office/drawing/2014/main" id="{B7A7C7DD-B122-030D-3838-7450BED717B2}"/>
              </a:ext>
            </a:extLst>
          </p:cNvPr>
          <p:cNvSpPr txBox="1"/>
          <p:nvPr/>
        </p:nvSpPr>
        <p:spPr>
          <a:xfrm>
            <a:off x="5327495" y="3436826"/>
            <a:ext cx="2457171" cy="235962"/>
          </a:xfrm>
          <a:prstGeom prst="rect">
            <a:avLst/>
          </a:prstGeom>
          <a:solidFill>
            <a:srgbClr val="6E4B3C"/>
          </a:solidFill>
        </p:spPr>
        <p:txBody>
          <a:bodyPr wrap="square" rtlCol="0">
            <a:spAutoFit/>
          </a:bodyPr>
          <a:lstStyle/>
          <a:p>
            <a:r>
              <a:rPr lang="en-US" sz="1400" baseline="30000" dirty="0">
                <a:solidFill>
                  <a:schemeClr val="bg1"/>
                </a:solidFill>
                <a:latin typeface="Microsoft JhengHei" panose="020B0604030504040204" pitchFamily="34" charset="-120"/>
                <a:ea typeface="Microsoft JhengHei" panose="020B0604030504040204" pitchFamily="34" charset="-120"/>
              </a:rPr>
              <a:t>#7. 510- Silk Cut Pile</a:t>
            </a:r>
          </a:p>
        </p:txBody>
      </p:sp>
      <p:sp>
        <p:nvSpPr>
          <p:cNvPr id="65" name="TextBox 64">
            <a:extLst>
              <a:ext uri="{FF2B5EF4-FFF2-40B4-BE49-F238E27FC236}">
                <a16:creationId xmlns:a16="http://schemas.microsoft.com/office/drawing/2014/main" id="{FA15CBDB-06A4-66F0-E351-5B7F2AB3CED2}"/>
              </a:ext>
            </a:extLst>
          </p:cNvPr>
          <p:cNvSpPr txBox="1"/>
          <p:nvPr/>
        </p:nvSpPr>
        <p:spPr>
          <a:xfrm>
            <a:off x="5328812" y="3724183"/>
            <a:ext cx="2457171" cy="235962"/>
          </a:xfrm>
          <a:prstGeom prst="rect">
            <a:avLst/>
          </a:prstGeom>
          <a:solidFill>
            <a:srgbClr val="BC8874"/>
          </a:solidFill>
        </p:spPr>
        <p:txBody>
          <a:bodyPr wrap="square" rtlCol="0">
            <a:spAutoFit/>
          </a:bodyPr>
          <a:lstStyle>
            <a:defPPr>
              <a:defRPr lang="en-US"/>
            </a:defPPr>
            <a:lvl1pPr>
              <a:defRPr sz="1692" baseline="30000">
                <a:latin typeface="Microsoft JhengHei" panose="020B0604030504040204" pitchFamily="34" charset="-120"/>
                <a:ea typeface="Microsoft JhengHei" panose="020B0604030504040204" pitchFamily="34" charset="-120"/>
              </a:defRPr>
            </a:lvl1pPr>
          </a:lstStyle>
          <a:p>
            <a:r>
              <a:rPr lang="en-US" sz="1400" dirty="0">
                <a:solidFill>
                  <a:schemeClr val="bg1"/>
                </a:solidFill>
              </a:rPr>
              <a:t>#8. 2652</a:t>
            </a:r>
            <a:r>
              <a:rPr lang="en-US" sz="1400" baseline="30000" dirty="0">
                <a:solidFill>
                  <a:schemeClr val="bg1"/>
                </a:solidFill>
                <a:latin typeface="Microsoft JhengHei" panose="020B0604030504040204" pitchFamily="34" charset="-120"/>
                <a:ea typeface="Microsoft JhengHei" panose="020B0604030504040204" pitchFamily="34" charset="-120"/>
              </a:rPr>
              <a:t>- Silk Cut Pile</a:t>
            </a:r>
          </a:p>
        </p:txBody>
      </p:sp>
      <p:sp>
        <p:nvSpPr>
          <p:cNvPr id="67" name="TextBox 66">
            <a:extLst>
              <a:ext uri="{FF2B5EF4-FFF2-40B4-BE49-F238E27FC236}">
                <a16:creationId xmlns:a16="http://schemas.microsoft.com/office/drawing/2014/main" id="{6029032F-E422-D58B-C0E7-00E1950F7BDD}"/>
              </a:ext>
            </a:extLst>
          </p:cNvPr>
          <p:cNvSpPr txBox="1"/>
          <p:nvPr/>
        </p:nvSpPr>
        <p:spPr>
          <a:xfrm>
            <a:off x="5332269" y="4003049"/>
            <a:ext cx="2457171" cy="235962"/>
          </a:xfrm>
          <a:prstGeom prst="rect">
            <a:avLst/>
          </a:prstGeom>
          <a:solidFill>
            <a:srgbClr val="A76350"/>
          </a:solidFill>
        </p:spPr>
        <p:txBody>
          <a:bodyPr wrap="square" rtlCol="0">
            <a:spAutoFit/>
          </a:bodyPr>
          <a:lstStyle>
            <a:defPPr>
              <a:defRPr lang="en-US"/>
            </a:defPPr>
            <a:lvl1pPr>
              <a:defRPr sz="1692" baseline="30000">
                <a:latin typeface="Microsoft JhengHei" panose="020B0604030504040204" pitchFamily="34" charset="-120"/>
                <a:ea typeface="Microsoft JhengHei" panose="020B0604030504040204" pitchFamily="34" charset="-120"/>
              </a:defRPr>
            </a:lvl1pPr>
          </a:lstStyle>
          <a:p>
            <a:r>
              <a:rPr lang="en-US" sz="1400" dirty="0">
                <a:solidFill>
                  <a:schemeClr val="bg1"/>
                </a:solidFill>
              </a:rPr>
              <a:t>#9. 620</a:t>
            </a:r>
            <a:r>
              <a:rPr lang="en-US" sz="1400" baseline="30000" dirty="0">
                <a:solidFill>
                  <a:schemeClr val="bg1"/>
                </a:solidFill>
                <a:latin typeface="Microsoft JhengHei" panose="020B0604030504040204" pitchFamily="34" charset="-120"/>
                <a:ea typeface="Microsoft JhengHei" panose="020B0604030504040204" pitchFamily="34" charset="-120"/>
              </a:rPr>
              <a:t>- Silk Cut Pile</a:t>
            </a:r>
          </a:p>
        </p:txBody>
      </p:sp>
      <p:sp>
        <p:nvSpPr>
          <p:cNvPr id="69" name="TextBox 68">
            <a:extLst>
              <a:ext uri="{FF2B5EF4-FFF2-40B4-BE49-F238E27FC236}">
                <a16:creationId xmlns:a16="http://schemas.microsoft.com/office/drawing/2014/main" id="{48DF097D-FEDE-C645-7ECE-3CC054554450}"/>
              </a:ext>
            </a:extLst>
          </p:cNvPr>
          <p:cNvSpPr txBox="1"/>
          <p:nvPr/>
        </p:nvSpPr>
        <p:spPr>
          <a:xfrm>
            <a:off x="3183308" y="7879459"/>
            <a:ext cx="2377054" cy="230832"/>
          </a:xfrm>
          <a:prstGeom prst="rect">
            <a:avLst/>
          </a:prstGeom>
          <a:noFill/>
        </p:spPr>
        <p:txBody>
          <a:bodyPr wrap="square" rtlCol="0">
            <a:spAutoFit/>
          </a:bodyPr>
          <a:lstStyle/>
          <a:p>
            <a:pPr algn="ctr"/>
            <a:r>
              <a:rPr lang="en-US" sz="900" dirty="0">
                <a:solidFill>
                  <a:schemeClr val="bg1"/>
                </a:solidFill>
                <a:highlight>
                  <a:srgbClr val="000080"/>
                </a:highlight>
                <a:latin typeface="Microsoft JhengHei" panose="020B0604030504040204" pitchFamily="34" charset="-120"/>
                <a:ea typeface="Microsoft JhengHei" panose="020B0604030504040204" pitchFamily="34" charset="-120"/>
                <a:cs typeface="Arial" panose="020B0604020202020204" pitchFamily="34" charset="0"/>
              </a:rPr>
              <a:t>Rug Image / Design Intent</a:t>
            </a:r>
          </a:p>
        </p:txBody>
      </p:sp>
      <p:sp>
        <p:nvSpPr>
          <p:cNvPr id="2" name="TextBox 1">
            <a:extLst>
              <a:ext uri="{FF2B5EF4-FFF2-40B4-BE49-F238E27FC236}">
                <a16:creationId xmlns:a16="http://schemas.microsoft.com/office/drawing/2014/main" id="{77D37A0D-1F5A-7C9E-DE76-B125102C5DA4}"/>
              </a:ext>
            </a:extLst>
          </p:cNvPr>
          <p:cNvSpPr txBox="1"/>
          <p:nvPr/>
        </p:nvSpPr>
        <p:spPr>
          <a:xfrm>
            <a:off x="213386" y="10319944"/>
            <a:ext cx="3037518" cy="1169551"/>
          </a:xfrm>
          <a:prstGeom prst="rect">
            <a:avLst/>
          </a:prstGeom>
          <a:noFill/>
        </p:spPr>
        <p:txBody>
          <a:bodyPr wrap="square" rtlCol="0">
            <a:spAutoFit/>
          </a:bodyPr>
          <a:lstStyle/>
          <a:p>
            <a:r>
              <a:rPr lang="en-US" sz="1000" b="1" u="sng" dirty="0">
                <a:solidFill>
                  <a:srgbClr val="C00000"/>
                </a:solidFill>
                <a:latin typeface="Microsoft JhengHei" panose="020B0604030504040204" pitchFamily="34" charset="-120"/>
                <a:ea typeface="Microsoft JhengHei" panose="020B0604030504040204" pitchFamily="34" charset="-120"/>
                <a:cs typeface="Arial" panose="020B0604020202020204" pitchFamily="34" charset="0"/>
              </a:rPr>
              <a:t>IMPORTANT: Jaipur Rugs renderings are provided to illustrate pattern and color placement only. Color should be evaluated using actual yarn samples, as digital renderings cannot accurately represent final dyed yarns or handmade production variations.</a:t>
            </a:r>
          </a:p>
        </p:txBody>
      </p:sp>
      <p:pic>
        <p:nvPicPr>
          <p:cNvPr id="7" name="Picture 6">
            <a:extLst>
              <a:ext uri="{FF2B5EF4-FFF2-40B4-BE49-F238E27FC236}">
                <a16:creationId xmlns:a16="http://schemas.microsoft.com/office/drawing/2014/main" id="{2F82225B-F33B-00E5-A6D1-B005028DA178}"/>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432980" y="8233696"/>
            <a:ext cx="2227370" cy="1633405"/>
          </a:xfrm>
          <a:prstGeom prst="rect">
            <a:avLst/>
          </a:prstGeom>
        </p:spPr>
      </p:pic>
      <p:sp>
        <p:nvSpPr>
          <p:cNvPr id="9" name="TextBox 8">
            <a:extLst>
              <a:ext uri="{FF2B5EF4-FFF2-40B4-BE49-F238E27FC236}">
                <a16:creationId xmlns:a16="http://schemas.microsoft.com/office/drawing/2014/main" id="{6A83422B-72E6-43E6-B1D5-7A88F21BD565}"/>
              </a:ext>
            </a:extLst>
          </p:cNvPr>
          <p:cNvSpPr txBox="1"/>
          <p:nvPr/>
        </p:nvSpPr>
        <p:spPr>
          <a:xfrm>
            <a:off x="5328536" y="5671338"/>
            <a:ext cx="2457171" cy="235962"/>
          </a:xfrm>
          <a:prstGeom prst="rect">
            <a:avLst/>
          </a:prstGeom>
          <a:solidFill>
            <a:srgbClr val="3C4425"/>
          </a:solidFill>
        </p:spPr>
        <p:txBody>
          <a:bodyPr wrap="square" rtlCol="0">
            <a:spAutoFit/>
          </a:bodyPr>
          <a:lstStyle>
            <a:defPPr>
              <a:defRPr lang="en-US"/>
            </a:defPPr>
            <a:lvl1pPr>
              <a:defRPr sz="1692" baseline="30000">
                <a:latin typeface="Microsoft JhengHei" panose="020B0604030504040204" pitchFamily="34" charset="-120"/>
                <a:ea typeface="Microsoft JhengHei" panose="020B0604030504040204" pitchFamily="34" charset="-120"/>
              </a:defRPr>
            </a:lvl1pPr>
          </a:lstStyle>
          <a:p>
            <a:r>
              <a:rPr lang="en-US" sz="1400" dirty="0">
                <a:solidFill>
                  <a:schemeClr val="bg1"/>
                </a:solidFill>
              </a:rPr>
              <a:t>#15. 315</a:t>
            </a:r>
            <a:r>
              <a:rPr lang="en-US" sz="1400" baseline="30000" dirty="0">
                <a:solidFill>
                  <a:schemeClr val="bg1"/>
                </a:solidFill>
                <a:latin typeface="Microsoft JhengHei" panose="020B0604030504040204" pitchFamily="34" charset="-120"/>
                <a:ea typeface="Microsoft JhengHei" panose="020B0604030504040204" pitchFamily="34" charset="-120"/>
              </a:rPr>
              <a:t>- Silk Cut Pile</a:t>
            </a:r>
          </a:p>
        </p:txBody>
      </p:sp>
      <p:sp>
        <p:nvSpPr>
          <p:cNvPr id="10" name="TextBox 9">
            <a:extLst>
              <a:ext uri="{FF2B5EF4-FFF2-40B4-BE49-F238E27FC236}">
                <a16:creationId xmlns:a16="http://schemas.microsoft.com/office/drawing/2014/main" id="{2308A93F-C3FA-146A-85C3-A7B3DFFB74B1}"/>
              </a:ext>
            </a:extLst>
          </p:cNvPr>
          <p:cNvSpPr txBox="1"/>
          <p:nvPr/>
        </p:nvSpPr>
        <p:spPr>
          <a:xfrm>
            <a:off x="5327219" y="5394998"/>
            <a:ext cx="2457171" cy="235962"/>
          </a:xfrm>
          <a:prstGeom prst="rect">
            <a:avLst/>
          </a:prstGeom>
          <a:solidFill>
            <a:srgbClr val="888F57"/>
          </a:solidFill>
        </p:spPr>
        <p:txBody>
          <a:bodyPr wrap="square" rtlCol="0">
            <a:spAutoFit/>
          </a:bodyPr>
          <a:lstStyle/>
          <a:p>
            <a:r>
              <a:rPr lang="en-US" sz="1400" baseline="30000" dirty="0">
                <a:solidFill>
                  <a:schemeClr val="bg1"/>
                </a:solidFill>
                <a:latin typeface="Microsoft JhengHei" panose="020B0604030504040204" pitchFamily="34" charset="-120"/>
                <a:ea typeface="Microsoft JhengHei" panose="020B0604030504040204" pitchFamily="34" charset="-120"/>
              </a:rPr>
              <a:t>#14. 202- Silk Cut Pile</a:t>
            </a:r>
          </a:p>
        </p:txBody>
      </p:sp>
      <p:sp>
        <p:nvSpPr>
          <p:cNvPr id="15" name="TextBox 14">
            <a:extLst>
              <a:ext uri="{FF2B5EF4-FFF2-40B4-BE49-F238E27FC236}">
                <a16:creationId xmlns:a16="http://schemas.microsoft.com/office/drawing/2014/main" id="{7BC6F2C0-E70F-6F45-3809-6853C5E1A534}"/>
              </a:ext>
            </a:extLst>
          </p:cNvPr>
          <p:cNvSpPr txBox="1"/>
          <p:nvPr/>
        </p:nvSpPr>
        <p:spPr>
          <a:xfrm>
            <a:off x="5328812" y="4836978"/>
            <a:ext cx="2457171" cy="235962"/>
          </a:xfrm>
          <a:prstGeom prst="rect">
            <a:avLst/>
          </a:prstGeom>
          <a:solidFill>
            <a:srgbClr val="3C5E7A"/>
          </a:solidFill>
        </p:spPr>
        <p:txBody>
          <a:bodyPr wrap="square" rtlCol="0">
            <a:spAutoFit/>
          </a:bodyPr>
          <a:lstStyle>
            <a:defPPr>
              <a:defRPr lang="en-US"/>
            </a:defPPr>
            <a:lvl1pPr>
              <a:defRPr sz="1692" baseline="30000">
                <a:latin typeface="Microsoft JhengHei" panose="020B0604030504040204" pitchFamily="34" charset="-120"/>
                <a:ea typeface="Microsoft JhengHei" panose="020B0604030504040204" pitchFamily="34" charset="-120"/>
              </a:defRPr>
            </a:lvl1pPr>
          </a:lstStyle>
          <a:p>
            <a:r>
              <a:rPr lang="en-US" sz="1400" dirty="0">
                <a:solidFill>
                  <a:schemeClr val="bg1"/>
                </a:solidFill>
              </a:rPr>
              <a:t>#12. 2173-</a:t>
            </a:r>
            <a:r>
              <a:rPr lang="en-US" sz="1400" baseline="30000" dirty="0">
                <a:solidFill>
                  <a:schemeClr val="bg1"/>
                </a:solidFill>
                <a:latin typeface="Microsoft JhengHei" panose="020B0604030504040204" pitchFamily="34" charset="-120"/>
                <a:ea typeface="Microsoft JhengHei" panose="020B0604030504040204" pitchFamily="34" charset="-120"/>
              </a:rPr>
              <a:t> Silk Cut Pile</a:t>
            </a:r>
          </a:p>
        </p:txBody>
      </p:sp>
      <p:sp>
        <p:nvSpPr>
          <p:cNvPr id="16" name="TextBox 15">
            <a:extLst>
              <a:ext uri="{FF2B5EF4-FFF2-40B4-BE49-F238E27FC236}">
                <a16:creationId xmlns:a16="http://schemas.microsoft.com/office/drawing/2014/main" id="{70D6EBE3-D5E5-A516-2455-B0C915E2AF73}"/>
              </a:ext>
            </a:extLst>
          </p:cNvPr>
          <p:cNvSpPr txBox="1"/>
          <p:nvPr/>
        </p:nvSpPr>
        <p:spPr>
          <a:xfrm>
            <a:off x="5322744" y="5115844"/>
            <a:ext cx="2457171" cy="235962"/>
          </a:xfrm>
          <a:prstGeom prst="rect">
            <a:avLst/>
          </a:prstGeom>
          <a:solidFill>
            <a:srgbClr val="6B4B61"/>
          </a:solidFill>
        </p:spPr>
        <p:txBody>
          <a:bodyPr wrap="square" rtlCol="0">
            <a:spAutoFit/>
          </a:bodyPr>
          <a:lstStyle>
            <a:defPPr>
              <a:defRPr lang="en-US"/>
            </a:defPPr>
            <a:lvl1pPr>
              <a:defRPr sz="1692" baseline="30000">
                <a:latin typeface="Microsoft JhengHei" panose="020B0604030504040204" pitchFamily="34" charset="-120"/>
                <a:ea typeface="Microsoft JhengHei" panose="020B0604030504040204" pitchFamily="34" charset="-120"/>
              </a:defRPr>
            </a:lvl1pPr>
          </a:lstStyle>
          <a:p>
            <a:r>
              <a:rPr lang="en-US" sz="1400" dirty="0">
                <a:solidFill>
                  <a:schemeClr val="bg1"/>
                </a:solidFill>
              </a:rPr>
              <a:t>#13. 622</a:t>
            </a:r>
            <a:r>
              <a:rPr lang="en-US" sz="1400" baseline="30000" dirty="0">
                <a:solidFill>
                  <a:schemeClr val="bg1"/>
                </a:solidFill>
                <a:latin typeface="Microsoft JhengHei" panose="020B0604030504040204" pitchFamily="34" charset="-120"/>
                <a:ea typeface="Microsoft JhengHei" panose="020B0604030504040204" pitchFamily="34" charset="-120"/>
              </a:rPr>
              <a:t>- Silk Cut Pile</a:t>
            </a:r>
          </a:p>
        </p:txBody>
      </p:sp>
    </p:spTree>
    <p:extLst>
      <p:ext uri="{BB962C8B-B14F-4D97-AF65-F5344CB8AC3E}">
        <p14:creationId xmlns:p14="http://schemas.microsoft.com/office/powerpoint/2010/main" val="348140487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944929-F30F-D2AF-640D-3783E4075D84}"/>
            </a:ext>
          </a:extLst>
        </p:cNvPr>
        <p:cNvGrpSpPr/>
        <p:nvPr/>
      </p:nvGrpSpPr>
      <p:grpSpPr>
        <a:xfrm>
          <a:off x="0" y="0"/>
          <a:ext cx="0" cy="0"/>
          <a:chOff x="0" y="0"/>
          <a:chExt cx="0" cy="0"/>
        </a:xfrm>
      </p:grpSpPr>
      <p:pic>
        <p:nvPicPr>
          <p:cNvPr id="21" name="Picture 20">
            <a:extLst>
              <a:ext uri="{FF2B5EF4-FFF2-40B4-BE49-F238E27FC236}">
                <a16:creationId xmlns:a16="http://schemas.microsoft.com/office/drawing/2014/main" id="{188B0CCC-B9DE-0DC8-1974-2BF33B5DCDAD}"/>
              </a:ext>
            </a:extLst>
          </p:cNvPr>
          <p:cNvPicPr>
            <a:picLocks noChangeAspect="1"/>
          </p:cNvPicPr>
          <p:nvPr/>
        </p:nvPicPr>
        <p:blipFill>
          <a:blip r:embed="rId3">
            <a:extLst>
              <a:ext uri="{28A0092B-C50C-407E-A947-70E740481C1C}">
                <a14:useLocalDpi xmlns:a14="http://schemas.microsoft.com/office/drawing/2010/main" val="0"/>
              </a:ext>
            </a:extLst>
          </a:blip>
          <a:srcRect l="70070" t="24477" b="56867"/>
          <a:stretch/>
        </p:blipFill>
        <p:spPr>
          <a:xfrm>
            <a:off x="5756396" y="8002378"/>
            <a:ext cx="1678126" cy="1684294"/>
          </a:xfrm>
          <a:prstGeom prst="rect">
            <a:avLst/>
          </a:prstGeom>
        </p:spPr>
      </p:pic>
      <p:pic>
        <p:nvPicPr>
          <p:cNvPr id="20" name="Picture 19">
            <a:extLst>
              <a:ext uri="{FF2B5EF4-FFF2-40B4-BE49-F238E27FC236}">
                <a16:creationId xmlns:a16="http://schemas.microsoft.com/office/drawing/2014/main" id="{06843744-A24A-F6CE-4502-B38116BB739A}"/>
              </a:ext>
            </a:extLst>
          </p:cNvPr>
          <p:cNvPicPr>
            <a:picLocks noChangeAspect="1"/>
          </p:cNvPicPr>
          <p:nvPr/>
        </p:nvPicPr>
        <p:blipFill>
          <a:blip r:embed="rId3">
            <a:extLst>
              <a:ext uri="{28A0092B-C50C-407E-A947-70E740481C1C}">
                <a14:useLocalDpi xmlns:a14="http://schemas.microsoft.com/office/drawing/2010/main" val="0"/>
              </a:ext>
            </a:extLst>
          </a:blip>
          <a:srcRect b="2159"/>
          <a:stretch/>
        </p:blipFill>
        <p:spPr>
          <a:xfrm>
            <a:off x="927648" y="1732284"/>
            <a:ext cx="3526508" cy="5555955"/>
          </a:xfrm>
          <a:prstGeom prst="rect">
            <a:avLst/>
          </a:prstGeom>
        </p:spPr>
      </p:pic>
      <p:sp>
        <p:nvSpPr>
          <p:cNvPr id="30" name="Rectangle 29">
            <a:extLst>
              <a:ext uri="{FF2B5EF4-FFF2-40B4-BE49-F238E27FC236}">
                <a16:creationId xmlns:a16="http://schemas.microsoft.com/office/drawing/2014/main" id="{DB440211-E42F-5C57-0ECD-668B00DC1C5C}"/>
              </a:ext>
            </a:extLst>
          </p:cNvPr>
          <p:cNvSpPr/>
          <p:nvPr/>
        </p:nvSpPr>
        <p:spPr>
          <a:xfrm>
            <a:off x="2429125" y="8445899"/>
            <a:ext cx="1507935" cy="782302"/>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 name="Straight Connector 7">
            <a:extLst>
              <a:ext uri="{FF2B5EF4-FFF2-40B4-BE49-F238E27FC236}">
                <a16:creationId xmlns:a16="http://schemas.microsoft.com/office/drawing/2014/main" id="{DB2FDF7C-0457-0DD8-11E8-F370FCE4C4B5}"/>
              </a:ext>
            </a:extLst>
          </p:cNvPr>
          <p:cNvCxnSpPr>
            <a:cxnSpLocks/>
          </p:cNvCxnSpPr>
          <p:nvPr/>
        </p:nvCxnSpPr>
        <p:spPr>
          <a:xfrm>
            <a:off x="2123089" y="452127"/>
            <a:ext cx="5659821" cy="22336"/>
          </a:xfrm>
          <a:prstGeom prst="line">
            <a:avLst/>
          </a:prstGeom>
          <a:ln w="3175">
            <a:solidFill>
              <a:schemeClr val="accent2"/>
            </a:solidFill>
          </a:ln>
        </p:spPr>
        <p:style>
          <a:lnRef idx="3">
            <a:schemeClr val="dk1"/>
          </a:lnRef>
          <a:fillRef idx="0">
            <a:schemeClr val="dk1"/>
          </a:fillRef>
          <a:effectRef idx="2">
            <a:schemeClr val="dk1"/>
          </a:effectRef>
          <a:fontRef idx="minor">
            <a:schemeClr val="tx1"/>
          </a:fontRef>
        </p:style>
      </p:cxnSp>
      <p:sp>
        <p:nvSpPr>
          <p:cNvPr id="12" name="TextBox 11">
            <a:extLst>
              <a:ext uri="{FF2B5EF4-FFF2-40B4-BE49-F238E27FC236}">
                <a16:creationId xmlns:a16="http://schemas.microsoft.com/office/drawing/2014/main" id="{5EBAC017-514C-698E-93FB-44EF775F84F9}"/>
              </a:ext>
            </a:extLst>
          </p:cNvPr>
          <p:cNvSpPr txBox="1"/>
          <p:nvPr/>
        </p:nvSpPr>
        <p:spPr>
          <a:xfrm>
            <a:off x="6347499" y="218716"/>
            <a:ext cx="1977655" cy="246221"/>
          </a:xfrm>
          <a:prstGeom prst="rect">
            <a:avLst/>
          </a:prstGeom>
          <a:noFill/>
        </p:spPr>
        <p:txBody>
          <a:bodyPr wrap="square" rtlCol="0">
            <a:spAutoFit/>
          </a:bodyPr>
          <a:lstStyle/>
          <a:p>
            <a:r>
              <a:rPr lang="en-US" sz="1000" dirty="0">
                <a:solidFill>
                  <a:schemeClr val="tx1">
                    <a:lumMod val="75000"/>
                    <a:lumOff val="25000"/>
                  </a:schemeClr>
                </a:solidFill>
                <a:latin typeface="Microsoft JhengHei Light" panose="020B0304030504040204" pitchFamily="34" charset="-120"/>
                <a:ea typeface="Microsoft JhengHei Light" panose="020B0304030504040204" pitchFamily="34" charset="-120"/>
              </a:rPr>
              <a:t>Date : 19/09/2026</a:t>
            </a:r>
          </a:p>
        </p:txBody>
      </p:sp>
      <p:sp>
        <p:nvSpPr>
          <p:cNvPr id="13" name="TextBox 12">
            <a:extLst>
              <a:ext uri="{FF2B5EF4-FFF2-40B4-BE49-F238E27FC236}">
                <a16:creationId xmlns:a16="http://schemas.microsoft.com/office/drawing/2014/main" id="{A1F7BB5E-DC95-A12D-0FCE-188A866E0A71}"/>
              </a:ext>
            </a:extLst>
          </p:cNvPr>
          <p:cNvSpPr txBox="1"/>
          <p:nvPr/>
        </p:nvSpPr>
        <p:spPr>
          <a:xfrm>
            <a:off x="4024299" y="500787"/>
            <a:ext cx="3553148" cy="246221"/>
          </a:xfrm>
          <a:prstGeom prst="rect">
            <a:avLst/>
          </a:prstGeom>
          <a:noFill/>
        </p:spPr>
        <p:txBody>
          <a:bodyPr wrap="square" rtlCol="0">
            <a:spAutoFit/>
          </a:bodyPr>
          <a:lstStyle/>
          <a:p>
            <a:pPr algn="r"/>
            <a:r>
              <a:rPr lang="en-US" sz="1000" dirty="0">
                <a:solidFill>
                  <a:schemeClr val="tx1">
                    <a:lumMod val="75000"/>
                    <a:lumOff val="25000"/>
                  </a:schemeClr>
                </a:solidFill>
                <a:latin typeface="Microsoft JhengHei Light" panose="020B0304030504040204" pitchFamily="34" charset="-120"/>
                <a:ea typeface="Microsoft JhengHei Light" panose="020B0304030504040204" pitchFamily="34" charset="-120"/>
              </a:rPr>
              <a:t>Customized Project : Divya Somani</a:t>
            </a:r>
          </a:p>
        </p:txBody>
      </p:sp>
      <p:sp>
        <p:nvSpPr>
          <p:cNvPr id="17" name="TextBox 16">
            <a:extLst>
              <a:ext uri="{FF2B5EF4-FFF2-40B4-BE49-F238E27FC236}">
                <a16:creationId xmlns:a16="http://schemas.microsoft.com/office/drawing/2014/main" id="{89E29410-FDCE-C6C2-5598-6CD44EB30349}"/>
              </a:ext>
            </a:extLst>
          </p:cNvPr>
          <p:cNvSpPr txBox="1"/>
          <p:nvPr/>
        </p:nvSpPr>
        <p:spPr>
          <a:xfrm>
            <a:off x="3526797" y="10933749"/>
            <a:ext cx="3750500" cy="246221"/>
          </a:xfrm>
          <a:prstGeom prst="rect">
            <a:avLst/>
          </a:prstGeom>
          <a:noFill/>
        </p:spPr>
        <p:txBody>
          <a:bodyPr wrap="square" rtlCol="0">
            <a:spAutoFit/>
          </a:bodyPr>
          <a:lstStyle/>
          <a:p>
            <a:r>
              <a:rPr lang="en-US" sz="1000" b="1" dirty="0">
                <a:solidFill>
                  <a:schemeClr val="tx1">
                    <a:lumMod val="65000"/>
                    <a:lumOff val="35000"/>
                  </a:schemeClr>
                </a:solidFill>
                <a:latin typeface="Microsoft JhengHei Light" panose="020B0304030504040204" pitchFamily="34" charset="-120"/>
                <a:ea typeface="Microsoft JhengHei Light" panose="020B0304030504040204" pitchFamily="34" charset="-120"/>
              </a:rPr>
              <a:t>Signature : ________________________________________________ </a:t>
            </a:r>
          </a:p>
        </p:txBody>
      </p:sp>
      <p:sp>
        <p:nvSpPr>
          <p:cNvPr id="18" name="TextBox 17">
            <a:extLst>
              <a:ext uri="{FF2B5EF4-FFF2-40B4-BE49-F238E27FC236}">
                <a16:creationId xmlns:a16="http://schemas.microsoft.com/office/drawing/2014/main" id="{DA815821-44A1-2E46-3CF3-9293F64B7AC2}"/>
              </a:ext>
            </a:extLst>
          </p:cNvPr>
          <p:cNvSpPr txBox="1"/>
          <p:nvPr/>
        </p:nvSpPr>
        <p:spPr>
          <a:xfrm>
            <a:off x="3551067" y="11218889"/>
            <a:ext cx="3612523" cy="246221"/>
          </a:xfrm>
          <a:prstGeom prst="rect">
            <a:avLst/>
          </a:prstGeom>
          <a:noFill/>
        </p:spPr>
        <p:txBody>
          <a:bodyPr wrap="square" rtlCol="0">
            <a:spAutoFit/>
          </a:bodyPr>
          <a:lstStyle/>
          <a:p>
            <a:r>
              <a:rPr lang="en-US" sz="1000" b="1" dirty="0">
                <a:solidFill>
                  <a:schemeClr val="tx1">
                    <a:lumMod val="65000"/>
                    <a:lumOff val="35000"/>
                  </a:schemeClr>
                </a:solidFill>
                <a:latin typeface="Microsoft JhengHei Light" panose="020B0304030504040204" pitchFamily="34" charset="-120"/>
                <a:ea typeface="Microsoft JhengHei Light" panose="020B0304030504040204" pitchFamily="34" charset="-120"/>
              </a:rPr>
              <a:t>Date of Approval :_________________________________________</a:t>
            </a:r>
          </a:p>
        </p:txBody>
      </p:sp>
      <p:sp>
        <p:nvSpPr>
          <p:cNvPr id="19" name="TextBox 18">
            <a:extLst>
              <a:ext uri="{FF2B5EF4-FFF2-40B4-BE49-F238E27FC236}">
                <a16:creationId xmlns:a16="http://schemas.microsoft.com/office/drawing/2014/main" id="{2FB24222-3401-4C8A-2632-4C860AEC655C}"/>
              </a:ext>
            </a:extLst>
          </p:cNvPr>
          <p:cNvSpPr txBox="1"/>
          <p:nvPr/>
        </p:nvSpPr>
        <p:spPr>
          <a:xfrm>
            <a:off x="353921" y="8002863"/>
            <a:ext cx="2419036" cy="1911998"/>
          </a:xfrm>
          <a:prstGeom prst="rect">
            <a:avLst/>
          </a:prstGeom>
          <a:noFill/>
        </p:spPr>
        <p:txBody>
          <a:bodyPr wrap="square" rtlCol="0">
            <a:spAutoFit/>
          </a:bodyPr>
          <a:lstStyle/>
          <a:p>
            <a:pPr marR="0" algn="l" rtl="0">
              <a:lnSpc>
                <a:spcPts val="1300"/>
              </a:lnSpc>
            </a:pPr>
            <a:r>
              <a:rPr lang="en-US" sz="1400" i="0" u="none" strike="noStrike" baseline="30000" dirty="0">
                <a:solidFill>
                  <a:schemeClr val="tx1">
                    <a:lumMod val="65000"/>
                    <a:lumOff val="35000"/>
                  </a:schemeClr>
                </a:solidFill>
                <a:latin typeface="Microsoft JhengHei Light" panose="020B0304030504040204" pitchFamily="34" charset="-120"/>
                <a:ea typeface="Microsoft JhengHei Light" panose="020B0304030504040204" pitchFamily="34" charset="-120"/>
                <a:cs typeface="Arial" panose="020B0604020202020204" pitchFamily="34" charset="0"/>
              </a:rPr>
              <a:t>SIZE </a:t>
            </a:r>
          </a:p>
          <a:p>
            <a:pPr marR="0" algn="l" rtl="0">
              <a:lnSpc>
                <a:spcPts val="1300"/>
              </a:lnSpc>
            </a:pPr>
            <a:r>
              <a:rPr lang="en-US" sz="1400" i="0" u="none" strike="noStrike" baseline="30000" dirty="0">
                <a:solidFill>
                  <a:schemeClr val="tx1">
                    <a:lumMod val="65000"/>
                    <a:lumOff val="35000"/>
                  </a:schemeClr>
                </a:solidFill>
                <a:latin typeface="Microsoft JhengHei Light" panose="020B0304030504040204" pitchFamily="34" charset="-120"/>
                <a:ea typeface="Microsoft JhengHei Light" panose="020B0304030504040204" pitchFamily="34" charset="-120"/>
                <a:cs typeface="Arial" panose="020B0604020202020204" pitchFamily="34" charset="0"/>
              </a:rPr>
              <a:t>CUSTOMER METRICS  </a:t>
            </a:r>
          </a:p>
          <a:p>
            <a:pPr marR="0" algn="l" rtl="0">
              <a:lnSpc>
                <a:spcPts val="1300"/>
              </a:lnSpc>
            </a:pPr>
            <a:r>
              <a:rPr lang="en-US" sz="1400" i="0" u="none" strike="noStrike" baseline="30000" dirty="0">
                <a:solidFill>
                  <a:schemeClr val="tx1">
                    <a:lumMod val="65000"/>
                    <a:lumOff val="35000"/>
                  </a:schemeClr>
                </a:solidFill>
                <a:latin typeface="Microsoft JhengHei Light" panose="020B0304030504040204" pitchFamily="34" charset="-120"/>
                <a:ea typeface="Microsoft JhengHei Light" panose="020B0304030504040204" pitchFamily="34" charset="-120"/>
                <a:cs typeface="Arial" panose="020B0604020202020204" pitchFamily="34" charset="0"/>
              </a:rPr>
              <a:t>SHAPE </a:t>
            </a:r>
          </a:p>
          <a:p>
            <a:pPr marR="0" algn="l" rtl="0">
              <a:lnSpc>
                <a:spcPts val="1300"/>
              </a:lnSpc>
            </a:pPr>
            <a:r>
              <a:rPr lang="en-US" sz="1400" i="0" u="none" strike="noStrike" baseline="30000" dirty="0">
                <a:solidFill>
                  <a:schemeClr val="tx1">
                    <a:lumMod val="65000"/>
                    <a:lumOff val="35000"/>
                  </a:schemeClr>
                </a:solidFill>
                <a:latin typeface="Microsoft JhengHei Light" panose="020B0304030504040204" pitchFamily="34" charset="-120"/>
                <a:ea typeface="Microsoft JhengHei Light" panose="020B0304030504040204" pitchFamily="34" charset="-120"/>
                <a:cs typeface="Arial" panose="020B0604020202020204" pitchFamily="34" charset="0"/>
              </a:rPr>
              <a:t>RUG QUALITY  </a:t>
            </a:r>
          </a:p>
          <a:p>
            <a:pPr marR="0" algn="l" rtl="0">
              <a:lnSpc>
                <a:spcPts val="1300"/>
              </a:lnSpc>
            </a:pPr>
            <a:r>
              <a:rPr lang="en-US" sz="1400" i="0" u="none" strike="noStrike" baseline="30000" dirty="0">
                <a:solidFill>
                  <a:schemeClr val="tx1">
                    <a:lumMod val="65000"/>
                    <a:lumOff val="35000"/>
                  </a:schemeClr>
                </a:solidFill>
                <a:latin typeface="Microsoft JhengHei Light" panose="020B0304030504040204" pitchFamily="34" charset="-120"/>
                <a:ea typeface="Microsoft JhengHei Light" panose="020B0304030504040204" pitchFamily="34" charset="-120"/>
                <a:cs typeface="Arial" panose="020B0604020202020204" pitchFamily="34" charset="0"/>
              </a:rPr>
              <a:t>FIBRE CONTENT  </a:t>
            </a:r>
          </a:p>
          <a:p>
            <a:pPr marR="0" algn="l" rtl="0">
              <a:lnSpc>
                <a:spcPts val="1300"/>
              </a:lnSpc>
            </a:pPr>
            <a:r>
              <a:rPr lang="en-US" sz="1400" i="0" u="none" strike="noStrike" baseline="30000" dirty="0">
                <a:solidFill>
                  <a:schemeClr val="tx1">
                    <a:lumMod val="65000"/>
                    <a:lumOff val="35000"/>
                  </a:schemeClr>
                </a:solidFill>
                <a:latin typeface="Microsoft JhengHei Light" panose="020B0304030504040204" pitchFamily="34" charset="-120"/>
                <a:ea typeface="Microsoft JhengHei Light" panose="020B0304030504040204" pitchFamily="34" charset="-120"/>
                <a:cs typeface="Arial" panose="020B0604020202020204" pitchFamily="34" charset="0"/>
              </a:rPr>
              <a:t>DYEING TECHNIQUE </a:t>
            </a:r>
          </a:p>
          <a:p>
            <a:pPr marR="0" algn="l" rtl="0">
              <a:lnSpc>
                <a:spcPts val="1300"/>
              </a:lnSpc>
            </a:pPr>
            <a:r>
              <a:rPr lang="en-US" sz="1400" i="0" u="none" strike="noStrike" baseline="30000" dirty="0">
                <a:solidFill>
                  <a:schemeClr val="tx1">
                    <a:lumMod val="65000"/>
                    <a:lumOff val="35000"/>
                  </a:schemeClr>
                </a:solidFill>
                <a:latin typeface="Microsoft JhengHei Light" panose="020B0304030504040204" pitchFamily="34" charset="-120"/>
                <a:ea typeface="Microsoft JhengHei Light" panose="020B0304030504040204" pitchFamily="34" charset="-120"/>
                <a:cs typeface="Arial" panose="020B0604020202020204" pitchFamily="34" charset="0"/>
              </a:rPr>
              <a:t>FINISH EDGE </a:t>
            </a:r>
          </a:p>
          <a:p>
            <a:pPr marR="0" algn="l" rtl="0">
              <a:lnSpc>
                <a:spcPts val="1300"/>
              </a:lnSpc>
            </a:pPr>
            <a:r>
              <a:rPr lang="en-US" sz="1400" i="0" u="none" strike="noStrike" baseline="30000" dirty="0">
                <a:solidFill>
                  <a:schemeClr val="tx1">
                    <a:lumMod val="65000"/>
                    <a:lumOff val="35000"/>
                  </a:schemeClr>
                </a:solidFill>
                <a:latin typeface="Microsoft JhengHei Light" panose="020B0304030504040204" pitchFamily="34" charset="-120"/>
                <a:ea typeface="Microsoft JhengHei Light" panose="020B0304030504040204" pitchFamily="34" charset="-120"/>
                <a:cs typeface="Arial" panose="020B0604020202020204" pitchFamily="34" charset="0"/>
              </a:rPr>
              <a:t>FINISH PILE HEIGHT  </a:t>
            </a:r>
          </a:p>
          <a:p>
            <a:pPr marR="0" algn="l" rtl="0">
              <a:lnSpc>
                <a:spcPts val="1300"/>
              </a:lnSpc>
            </a:pPr>
            <a:r>
              <a:rPr lang="en-US" sz="1400" i="0" u="none" strike="noStrike" baseline="30000" dirty="0">
                <a:solidFill>
                  <a:schemeClr val="tx1">
                    <a:lumMod val="65000"/>
                    <a:lumOff val="35000"/>
                  </a:schemeClr>
                </a:solidFill>
                <a:latin typeface="Microsoft JhengHei Light" panose="020B0304030504040204" pitchFamily="34" charset="-120"/>
                <a:ea typeface="Microsoft JhengHei Light" panose="020B0304030504040204" pitchFamily="34" charset="-120"/>
                <a:cs typeface="Arial" panose="020B0604020202020204" pitchFamily="34" charset="0"/>
              </a:rPr>
              <a:t>FINISH PILE TYPE </a:t>
            </a:r>
          </a:p>
          <a:p>
            <a:pPr marR="0" algn="l" rtl="0">
              <a:lnSpc>
                <a:spcPts val="1300"/>
              </a:lnSpc>
            </a:pPr>
            <a:r>
              <a:rPr lang="en-US" sz="1400" i="0" u="none" strike="noStrike" baseline="30000" dirty="0">
                <a:solidFill>
                  <a:schemeClr val="tx1">
                    <a:lumMod val="65000"/>
                    <a:lumOff val="35000"/>
                  </a:schemeClr>
                </a:solidFill>
                <a:latin typeface="Microsoft JhengHei Light" panose="020B0304030504040204" pitchFamily="34" charset="-120"/>
                <a:ea typeface="Microsoft JhengHei Light" panose="020B0304030504040204" pitchFamily="34" charset="-120"/>
                <a:cs typeface="Arial" panose="020B0604020202020204" pitchFamily="34" charset="0"/>
              </a:rPr>
              <a:t>FINISH BACKING </a:t>
            </a:r>
          </a:p>
          <a:p>
            <a:pPr marR="0" algn="l" rtl="0">
              <a:lnSpc>
                <a:spcPts val="1300"/>
              </a:lnSpc>
            </a:pPr>
            <a:r>
              <a:rPr lang="en-US" sz="1400" baseline="30000" dirty="0">
                <a:solidFill>
                  <a:schemeClr val="tx1">
                    <a:lumMod val="65000"/>
                    <a:lumOff val="35000"/>
                  </a:schemeClr>
                </a:solidFill>
                <a:latin typeface="Microsoft JhengHei Light" panose="020B0304030504040204" pitchFamily="34" charset="-120"/>
                <a:ea typeface="Microsoft JhengHei Light" panose="020B0304030504040204" pitchFamily="34" charset="-120"/>
                <a:cs typeface="Arial" panose="020B0604020202020204" pitchFamily="34" charset="0"/>
              </a:rPr>
              <a:t>FINISH WASH </a:t>
            </a:r>
            <a:endParaRPr lang="en-US" sz="1400" i="0" u="none" strike="noStrike" baseline="30000" dirty="0">
              <a:solidFill>
                <a:schemeClr val="tx1">
                  <a:lumMod val="65000"/>
                  <a:lumOff val="35000"/>
                </a:schemeClr>
              </a:solidFill>
              <a:latin typeface="Microsoft JhengHei Light" panose="020B0304030504040204" pitchFamily="34" charset="-120"/>
              <a:ea typeface="Microsoft JhengHei Light" panose="020B0304030504040204" pitchFamily="34" charset="-120"/>
              <a:cs typeface="Arial" panose="020B0604020202020204" pitchFamily="34" charset="0"/>
            </a:endParaRPr>
          </a:p>
        </p:txBody>
      </p:sp>
      <p:grpSp>
        <p:nvGrpSpPr>
          <p:cNvPr id="14" name="Group 13">
            <a:extLst>
              <a:ext uri="{FF2B5EF4-FFF2-40B4-BE49-F238E27FC236}">
                <a16:creationId xmlns:a16="http://schemas.microsoft.com/office/drawing/2014/main" id="{34C7A1E9-24C3-BE44-C35E-3112841CAFDB}"/>
              </a:ext>
            </a:extLst>
          </p:cNvPr>
          <p:cNvGrpSpPr/>
          <p:nvPr/>
        </p:nvGrpSpPr>
        <p:grpSpPr>
          <a:xfrm>
            <a:off x="896651" y="1675602"/>
            <a:ext cx="3658415" cy="5652052"/>
            <a:chOff x="251699" y="2183122"/>
            <a:chExt cx="4789373" cy="3867260"/>
          </a:xfrm>
        </p:grpSpPr>
        <p:cxnSp>
          <p:nvCxnSpPr>
            <p:cNvPr id="51" name="Straight Arrow Connector 50">
              <a:extLst>
                <a:ext uri="{FF2B5EF4-FFF2-40B4-BE49-F238E27FC236}">
                  <a16:creationId xmlns:a16="http://schemas.microsoft.com/office/drawing/2014/main" id="{3B2A2DEA-E767-CEB0-84A3-8121CC401787}"/>
                </a:ext>
              </a:extLst>
            </p:cNvPr>
            <p:cNvCxnSpPr>
              <a:cxnSpLocks/>
            </p:cNvCxnSpPr>
            <p:nvPr/>
          </p:nvCxnSpPr>
          <p:spPr>
            <a:xfrm>
              <a:off x="251699" y="6050382"/>
              <a:ext cx="4684761" cy="0"/>
            </a:xfrm>
            <a:prstGeom prst="straightConnector1">
              <a:avLst/>
            </a:prstGeom>
            <a:ln w="12700">
              <a:solidFill>
                <a:schemeClr val="tx1">
                  <a:lumMod val="65000"/>
                  <a:lumOff val="3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22713410-FBBA-99AB-AB3E-7DE6E9D79960}"/>
                </a:ext>
              </a:extLst>
            </p:cNvPr>
            <p:cNvCxnSpPr>
              <a:cxnSpLocks/>
            </p:cNvCxnSpPr>
            <p:nvPr/>
          </p:nvCxnSpPr>
          <p:spPr>
            <a:xfrm flipH="1">
              <a:off x="5023105" y="2183122"/>
              <a:ext cx="17967" cy="3824646"/>
            </a:xfrm>
            <a:prstGeom prst="straightConnector1">
              <a:avLst/>
            </a:prstGeom>
            <a:ln w="12700">
              <a:solidFill>
                <a:schemeClr val="tx1">
                  <a:lumMod val="65000"/>
                  <a:lumOff val="3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grpSp>
      <p:sp>
        <p:nvSpPr>
          <p:cNvPr id="41" name="TextBox 40">
            <a:extLst>
              <a:ext uri="{FF2B5EF4-FFF2-40B4-BE49-F238E27FC236}">
                <a16:creationId xmlns:a16="http://schemas.microsoft.com/office/drawing/2014/main" id="{6C8ACADF-DC93-E807-64B2-FAE32782CBAF}"/>
              </a:ext>
            </a:extLst>
          </p:cNvPr>
          <p:cNvSpPr txBox="1"/>
          <p:nvPr/>
        </p:nvSpPr>
        <p:spPr>
          <a:xfrm>
            <a:off x="1793124" y="8002864"/>
            <a:ext cx="2117540" cy="1911998"/>
          </a:xfrm>
          <a:prstGeom prst="rect">
            <a:avLst/>
          </a:prstGeom>
          <a:noFill/>
        </p:spPr>
        <p:txBody>
          <a:bodyPr wrap="square" rtlCol="0">
            <a:spAutoFit/>
          </a:bodyPr>
          <a:lstStyle/>
          <a:p>
            <a:pPr marR="0" algn="l" rtl="0">
              <a:lnSpc>
                <a:spcPts val="1300"/>
              </a:lnSpc>
            </a:pPr>
            <a:r>
              <a:rPr lang="en-US" sz="1400" baseline="30000" dirty="0">
                <a:solidFill>
                  <a:schemeClr val="tx1">
                    <a:lumMod val="65000"/>
                    <a:lumOff val="35000"/>
                  </a:schemeClr>
                </a:solidFill>
                <a:latin typeface="Microsoft JhengHei Light" panose="020B0304030504040204" pitchFamily="34" charset="-120"/>
                <a:ea typeface="Microsoft JhengHei Light" panose="020B0304030504040204" pitchFamily="34" charset="-120"/>
                <a:cs typeface="Arial" panose="020B0604020202020204" pitchFamily="34" charset="0"/>
              </a:rPr>
              <a:t>: 5’FEET X 8’FEET </a:t>
            </a:r>
            <a:br>
              <a:rPr lang="en-US" sz="1400" baseline="30000" dirty="0">
                <a:solidFill>
                  <a:schemeClr val="tx1">
                    <a:lumMod val="65000"/>
                    <a:lumOff val="35000"/>
                  </a:schemeClr>
                </a:solidFill>
                <a:latin typeface="Microsoft JhengHei Light" panose="020B0304030504040204" pitchFamily="34" charset="-120"/>
                <a:ea typeface="Microsoft JhengHei Light" panose="020B0304030504040204" pitchFamily="34" charset="-120"/>
                <a:cs typeface="Arial" panose="020B0604020202020204" pitchFamily="34" charset="0"/>
              </a:rPr>
            </a:br>
            <a:r>
              <a:rPr lang="en-US" sz="1400" baseline="30000" dirty="0">
                <a:solidFill>
                  <a:schemeClr val="tx1">
                    <a:lumMod val="65000"/>
                    <a:lumOff val="35000"/>
                  </a:schemeClr>
                </a:solidFill>
                <a:latin typeface="Microsoft JhengHei Light" panose="020B0304030504040204" pitchFamily="34" charset="-120"/>
                <a:ea typeface="Microsoft JhengHei Light" panose="020B0304030504040204" pitchFamily="34" charset="-120"/>
                <a:cs typeface="Arial" panose="020B0604020202020204" pitchFamily="34" charset="0"/>
              </a:rPr>
              <a:t>: FEET</a:t>
            </a:r>
            <a:br>
              <a:rPr lang="en-US" sz="1400" baseline="30000" dirty="0">
                <a:solidFill>
                  <a:schemeClr val="tx1">
                    <a:lumMod val="65000"/>
                    <a:lumOff val="35000"/>
                  </a:schemeClr>
                </a:solidFill>
                <a:latin typeface="Microsoft JhengHei Light" panose="020B0304030504040204" pitchFamily="34" charset="-120"/>
                <a:ea typeface="Microsoft JhengHei Light" panose="020B0304030504040204" pitchFamily="34" charset="-120"/>
                <a:cs typeface="Arial" panose="020B0604020202020204" pitchFamily="34" charset="0"/>
              </a:rPr>
            </a:br>
            <a:r>
              <a:rPr lang="en-US" sz="1400" baseline="30000" dirty="0">
                <a:solidFill>
                  <a:schemeClr val="tx1">
                    <a:lumMod val="65000"/>
                    <a:lumOff val="35000"/>
                  </a:schemeClr>
                </a:solidFill>
                <a:latin typeface="Microsoft JhengHei Light" panose="020B0304030504040204" pitchFamily="34" charset="-120"/>
                <a:ea typeface="Microsoft JhengHei Light" panose="020B0304030504040204" pitchFamily="34" charset="-120"/>
                <a:cs typeface="Arial" panose="020B0604020202020204" pitchFamily="34" charset="0"/>
              </a:rPr>
              <a:t>: RCT </a:t>
            </a:r>
            <a:br>
              <a:rPr lang="en-US" sz="1400" baseline="30000" dirty="0">
                <a:solidFill>
                  <a:schemeClr val="tx1">
                    <a:lumMod val="65000"/>
                    <a:lumOff val="35000"/>
                  </a:schemeClr>
                </a:solidFill>
                <a:latin typeface="Microsoft JhengHei Light" panose="020B0304030504040204" pitchFamily="34" charset="-120"/>
                <a:ea typeface="Microsoft JhengHei Light" panose="020B0304030504040204" pitchFamily="34" charset="-120"/>
                <a:cs typeface="Arial" panose="020B0604020202020204" pitchFamily="34" charset="0"/>
              </a:rPr>
            </a:br>
            <a:r>
              <a:rPr lang="en-US" sz="1400" baseline="30000" dirty="0">
                <a:solidFill>
                  <a:schemeClr val="tx1">
                    <a:lumMod val="65000"/>
                    <a:lumOff val="35000"/>
                  </a:schemeClr>
                </a:solidFill>
                <a:latin typeface="Microsoft JhengHei Light" panose="020B0304030504040204" pitchFamily="34" charset="-120"/>
                <a:ea typeface="Microsoft JhengHei Light" panose="020B0304030504040204" pitchFamily="34" charset="-120"/>
                <a:cs typeface="Arial" panose="020B0604020202020204" pitchFamily="34" charset="0"/>
              </a:rPr>
              <a:t>: Hand Knotted 14/14 MS PS </a:t>
            </a:r>
            <a:br>
              <a:rPr lang="en-US" sz="1400" baseline="30000" dirty="0">
                <a:solidFill>
                  <a:schemeClr val="tx1">
                    <a:lumMod val="65000"/>
                    <a:lumOff val="35000"/>
                  </a:schemeClr>
                </a:solidFill>
                <a:latin typeface="Microsoft JhengHei Light" panose="020B0304030504040204" pitchFamily="34" charset="-120"/>
                <a:ea typeface="Microsoft JhengHei Light" panose="020B0304030504040204" pitchFamily="34" charset="-120"/>
                <a:cs typeface="Arial" panose="020B0604020202020204" pitchFamily="34" charset="0"/>
              </a:rPr>
            </a:br>
            <a:r>
              <a:rPr lang="en-US" sz="1400" baseline="30000" dirty="0">
                <a:solidFill>
                  <a:schemeClr val="tx1">
                    <a:lumMod val="65000"/>
                    <a:lumOff val="35000"/>
                  </a:schemeClr>
                </a:solidFill>
                <a:latin typeface="Microsoft JhengHei Light" panose="020B0304030504040204" pitchFamily="34" charset="-120"/>
                <a:ea typeface="Microsoft JhengHei Light" panose="020B0304030504040204" pitchFamily="34" charset="-120"/>
                <a:cs typeface="Arial" panose="020B0604020202020204" pitchFamily="34" charset="0"/>
              </a:rPr>
              <a:t>: Silk</a:t>
            </a:r>
            <a:br>
              <a:rPr lang="en-US" sz="1400" baseline="30000" dirty="0">
                <a:solidFill>
                  <a:schemeClr val="tx1">
                    <a:lumMod val="65000"/>
                    <a:lumOff val="35000"/>
                  </a:schemeClr>
                </a:solidFill>
                <a:latin typeface="Microsoft JhengHei Light" panose="020B0304030504040204" pitchFamily="34" charset="-120"/>
                <a:ea typeface="Microsoft JhengHei Light" panose="020B0304030504040204" pitchFamily="34" charset="-120"/>
                <a:cs typeface="Arial" panose="020B0604020202020204" pitchFamily="34" charset="0"/>
              </a:rPr>
            </a:br>
            <a:r>
              <a:rPr lang="en-US" sz="1400" baseline="30000" dirty="0">
                <a:solidFill>
                  <a:schemeClr val="tx1">
                    <a:lumMod val="65000"/>
                    <a:lumOff val="35000"/>
                  </a:schemeClr>
                </a:solidFill>
                <a:latin typeface="Microsoft JhengHei Light" panose="020B0304030504040204" pitchFamily="34" charset="-120"/>
                <a:ea typeface="Microsoft JhengHei Light" panose="020B0304030504040204" pitchFamily="34" charset="-120"/>
                <a:cs typeface="Arial" panose="020B0604020202020204" pitchFamily="34" charset="0"/>
              </a:rPr>
              <a:t>: </a:t>
            </a:r>
            <a:r>
              <a:rPr lang="en-US" sz="1400" i="0" u="none" strike="noStrike" baseline="30000" dirty="0">
                <a:solidFill>
                  <a:schemeClr val="tx1">
                    <a:lumMod val="65000"/>
                    <a:lumOff val="35000"/>
                  </a:schemeClr>
                </a:solidFill>
                <a:latin typeface="Microsoft JhengHei Light" panose="020B0304030504040204" pitchFamily="34" charset="-120"/>
                <a:ea typeface="Microsoft JhengHei Light" panose="020B0304030504040204" pitchFamily="34" charset="-120"/>
                <a:cs typeface="Arial" panose="020B0604020202020204" pitchFamily="34" charset="0"/>
              </a:rPr>
              <a:t>Standard</a:t>
            </a:r>
          </a:p>
          <a:p>
            <a:pPr marR="0" algn="l" rtl="0">
              <a:lnSpc>
                <a:spcPts val="1300"/>
              </a:lnSpc>
            </a:pPr>
            <a:r>
              <a:rPr lang="en-US" sz="1400" i="0" u="none" strike="noStrike" baseline="30000" dirty="0">
                <a:solidFill>
                  <a:schemeClr val="tx1">
                    <a:lumMod val="65000"/>
                    <a:lumOff val="35000"/>
                  </a:schemeClr>
                </a:solidFill>
                <a:latin typeface="Microsoft JhengHei Light" panose="020B0304030504040204" pitchFamily="34" charset="-120"/>
                <a:ea typeface="Microsoft JhengHei Light" panose="020B0304030504040204" pitchFamily="34" charset="-120"/>
                <a:cs typeface="Arial" panose="020B0604020202020204" pitchFamily="34" charset="0"/>
              </a:rPr>
              <a:t>: 4 side binding </a:t>
            </a:r>
          </a:p>
          <a:p>
            <a:pPr marR="0" algn="l" rtl="0">
              <a:lnSpc>
                <a:spcPts val="1300"/>
              </a:lnSpc>
            </a:pPr>
            <a:r>
              <a:rPr lang="en-US" sz="1400" baseline="30000" dirty="0">
                <a:solidFill>
                  <a:schemeClr val="tx1">
                    <a:lumMod val="65000"/>
                    <a:lumOff val="35000"/>
                  </a:schemeClr>
                </a:solidFill>
                <a:latin typeface="Microsoft JhengHei Light" panose="020B0304030504040204" pitchFamily="34" charset="-120"/>
                <a:ea typeface="Microsoft JhengHei Light" panose="020B0304030504040204" pitchFamily="34" charset="-120"/>
                <a:cs typeface="Arial" panose="020B0604020202020204" pitchFamily="34" charset="0"/>
              </a:rPr>
              <a:t>: Standard</a:t>
            </a:r>
            <a:endParaRPr lang="en-US" sz="1400" i="0" u="none" strike="noStrike" baseline="30000" dirty="0">
              <a:solidFill>
                <a:schemeClr val="tx1">
                  <a:lumMod val="65000"/>
                  <a:lumOff val="35000"/>
                </a:schemeClr>
              </a:solidFill>
              <a:latin typeface="Microsoft JhengHei Light" panose="020B0304030504040204" pitchFamily="34" charset="-120"/>
              <a:ea typeface="Microsoft JhengHei Light" panose="020B0304030504040204" pitchFamily="34" charset="-120"/>
              <a:cs typeface="Arial" panose="020B0604020202020204" pitchFamily="34" charset="0"/>
            </a:endParaRPr>
          </a:p>
          <a:p>
            <a:pPr marR="0" algn="l" rtl="0">
              <a:lnSpc>
                <a:spcPts val="1300"/>
              </a:lnSpc>
            </a:pPr>
            <a:r>
              <a:rPr lang="en-US" sz="1400" i="0" u="none" strike="noStrike" baseline="30000" dirty="0">
                <a:solidFill>
                  <a:schemeClr val="tx1">
                    <a:lumMod val="65000"/>
                    <a:lumOff val="35000"/>
                  </a:schemeClr>
                </a:solidFill>
                <a:latin typeface="Microsoft JhengHei Light" panose="020B0304030504040204" pitchFamily="34" charset="-120"/>
                <a:ea typeface="Microsoft JhengHei Light" panose="020B0304030504040204" pitchFamily="34" charset="-120"/>
                <a:cs typeface="Arial" panose="020B0604020202020204" pitchFamily="34" charset="0"/>
              </a:rPr>
              <a:t>: Cut Pile</a:t>
            </a:r>
            <a:br>
              <a:rPr lang="en-US" sz="1400" baseline="30000" dirty="0">
                <a:solidFill>
                  <a:schemeClr val="tx1">
                    <a:lumMod val="65000"/>
                    <a:lumOff val="35000"/>
                  </a:schemeClr>
                </a:solidFill>
                <a:latin typeface="Microsoft JhengHei Light" panose="020B0304030504040204" pitchFamily="34" charset="-120"/>
                <a:ea typeface="Microsoft JhengHei Light" panose="020B0304030504040204" pitchFamily="34" charset="-120"/>
                <a:cs typeface="Arial" panose="020B0604020202020204" pitchFamily="34" charset="0"/>
              </a:rPr>
            </a:br>
            <a:r>
              <a:rPr lang="en-US" sz="1400" baseline="30000" dirty="0">
                <a:solidFill>
                  <a:schemeClr val="tx1">
                    <a:lumMod val="65000"/>
                    <a:lumOff val="35000"/>
                  </a:schemeClr>
                </a:solidFill>
                <a:latin typeface="Microsoft JhengHei Light" panose="020B0304030504040204" pitchFamily="34" charset="-120"/>
                <a:ea typeface="Microsoft JhengHei Light" panose="020B0304030504040204" pitchFamily="34" charset="-120"/>
                <a:cs typeface="Arial" panose="020B0604020202020204" pitchFamily="34" charset="0"/>
              </a:rPr>
              <a:t>: NO </a:t>
            </a:r>
            <a:r>
              <a:rPr lang="en-US" sz="1400" i="0" u="none" strike="noStrike" baseline="30000" dirty="0">
                <a:solidFill>
                  <a:schemeClr val="tx1">
                    <a:lumMod val="65000"/>
                    <a:lumOff val="35000"/>
                  </a:schemeClr>
                </a:solidFill>
                <a:latin typeface="Microsoft JhengHei Light" panose="020B0304030504040204" pitchFamily="34" charset="-120"/>
                <a:ea typeface="Microsoft JhengHei Light" panose="020B0304030504040204" pitchFamily="34" charset="-120"/>
                <a:cs typeface="Arial" panose="020B0604020202020204" pitchFamily="34" charset="0"/>
              </a:rPr>
              <a:t>Backing </a:t>
            </a:r>
          </a:p>
          <a:p>
            <a:pPr marR="0" algn="l" rtl="0">
              <a:lnSpc>
                <a:spcPts val="1300"/>
              </a:lnSpc>
            </a:pPr>
            <a:r>
              <a:rPr lang="en-US" sz="1400" i="0" u="none" strike="noStrike" baseline="30000" dirty="0">
                <a:solidFill>
                  <a:schemeClr val="tx1">
                    <a:lumMod val="65000"/>
                    <a:lumOff val="35000"/>
                  </a:schemeClr>
                </a:solidFill>
                <a:latin typeface="Microsoft JhengHei Light" panose="020B0304030504040204" pitchFamily="34" charset="-120"/>
                <a:ea typeface="Microsoft JhengHei Light" panose="020B0304030504040204" pitchFamily="34" charset="-120"/>
                <a:cs typeface="Arial" panose="020B0604020202020204" pitchFamily="34" charset="0"/>
              </a:rPr>
              <a:t>: Standard</a:t>
            </a:r>
          </a:p>
        </p:txBody>
      </p:sp>
      <p:pic>
        <p:nvPicPr>
          <p:cNvPr id="5" name="Picture 4">
            <a:extLst>
              <a:ext uri="{FF2B5EF4-FFF2-40B4-BE49-F238E27FC236}">
                <a16:creationId xmlns:a16="http://schemas.microsoft.com/office/drawing/2014/main" id="{064B356A-45E5-0DE4-4838-737625A5B1B0}"/>
              </a:ext>
            </a:extLst>
          </p:cNvPr>
          <p:cNvPicPr>
            <a:picLocks noChangeAspect="1"/>
          </p:cNvPicPr>
          <p:nvPr/>
        </p:nvPicPr>
        <p:blipFill rotWithShape="1">
          <a:blip r:embed="rId4">
            <a:extLst>
              <a:ext uri="{28A0092B-C50C-407E-A947-70E740481C1C}">
                <a14:useLocalDpi xmlns:a14="http://schemas.microsoft.com/office/drawing/2010/main" val="0"/>
              </a:ext>
            </a:extLst>
          </a:blip>
          <a:srcRect l="20526" t="48840" r="18681" b="45910"/>
          <a:stretch/>
        </p:blipFill>
        <p:spPr>
          <a:xfrm>
            <a:off x="272504" y="206421"/>
            <a:ext cx="2008477" cy="308444"/>
          </a:xfrm>
          <a:prstGeom prst="rect">
            <a:avLst/>
          </a:prstGeom>
        </p:spPr>
      </p:pic>
      <p:cxnSp>
        <p:nvCxnSpPr>
          <p:cNvPr id="36" name="Straight Connector 35">
            <a:extLst>
              <a:ext uri="{FF2B5EF4-FFF2-40B4-BE49-F238E27FC236}">
                <a16:creationId xmlns:a16="http://schemas.microsoft.com/office/drawing/2014/main" id="{F5471E22-08E4-B917-8EC7-A4BFDF528DF6}"/>
              </a:ext>
            </a:extLst>
          </p:cNvPr>
          <p:cNvCxnSpPr>
            <a:cxnSpLocks/>
          </p:cNvCxnSpPr>
          <p:nvPr/>
        </p:nvCxnSpPr>
        <p:spPr>
          <a:xfrm>
            <a:off x="2123089" y="452127"/>
            <a:ext cx="5659821" cy="22336"/>
          </a:xfrm>
          <a:prstGeom prst="line">
            <a:avLst/>
          </a:prstGeom>
          <a:ln w="3175">
            <a:solidFill>
              <a:schemeClr val="accent2"/>
            </a:solidFill>
          </a:ln>
        </p:spPr>
        <p:style>
          <a:lnRef idx="3">
            <a:schemeClr val="dk1"/>
          </a:lnRef>
          <a:fillRef idx="0">
            <a:schemeClr val="dk1"/>
          </a:fillRef>
          <a:effectRef idx="2">
            <a:schemeClr val="dk1"/>
          </a:effectRef>
          <a:fontRef idx="minor">
            <a:schemeClr val="tx1"/>
          </a:fontRef>
        </p:style>
      </p:cxnSp>
      <p:sp>
        <p:nvSpPr>
          <p:cNvPr id="37" name="TextBox 36">
            <a:extLst>
              <a:ext uri="{FF2B5EF4-FFF2-40B4-BE49-F238E27FC236}">
                <a16:creationId xmlns:a16="http://schemas.microsoft.com/office/drawing/2014/main" id="{99D1BA4F-0754-8E9B-796C-7792974F3664}"/>
              </a:ext>
            </a:extLst>
          </p:cNvPr>
          <p:cNvSpPr txBox="1"/>
          <p:nvPr/>
        </p:nvSpPr>
        <p:spPr>
          <a:xfrm>
            <a:off x="243953" y="775433"/>
            <a:ext cx="5659821" cy="400110"/>
          </a:xfrm>
          <a:prstGeom prst="rect">
            <a:avLst/>
          </a:prstGeom>
          <a:noFill/>
        </p:spPr>
        <p:txBody>
          <a:bodyPr wrap="square" rtlCol="0">
            <a:spAutoFit/>
          </a:bodyPr>
          <a:lstStyle/>
          <a:p>
            <a:r>
              <a:rPr lang="en-US" sz="1000" b="1" u="sng" dirty="0">
                <a:solidFill>
                  <a:srgbClr val="C00000"/>
                </a:solidFill>
                <a:latin typeface="Microsoft JhengHei" panose="020B0604030504040204" pitchFamily="34" charset="-120"/>
                <a:ea typeface="Microsoft JhengHei" panose="020B0604030504040204" pitchFamily="34" charset="-120"/>
                <a:cs typeface="Arial" panose="020B0604020202020204" pitchFamily="34" charset="0"/>
              </a:rPr>
              <a:t>PD-14229-ASL-05 Apple Green 0201-15 Gold Brown 0502-15-Revision</a:t>
            </a:r>
          </a:p>
          <a:p>
            <a:r>
              <a:rPr lang="en-US" sz="1000" b="1" u="sng" dirty="0">
                <a:solidFill>
                  <a:srgbClr val="C00000"/>
                </a:solidFill>
                <a:latin typeface="Microsoft JhengHei" panose="020B0604030504040204" pitchFamily="34" charset="-120"/>
                <a:ea typeface="Microsoft JhengHei" panose="020B0604030504040204" pitchFamily="34" charset="-120"/>
                <a:cs typeface="Arial" panose="020B0604020202020204" pitchFamily="34" charset="0"/>
              </a:rPr>
              <a:t>Option-2</a:t>
            </a:r>
          </a:p>
        </p:txBody>
      </p:sp>
      <p:sp>
        <p:nvSpPr>
          <p:cNvPr id="38" name="TextBox 37">
            <a:extLst>
              <a:ext uri="{FF2B5EF4-FFF2-40B4-BE49-F238E27FC236}">
                <a16:creationId xmlns:a16="http://schemas.microsoft.com/office/drawing/2014/main" id="{C9706048-ABAA-2C83-5B60-1CEA07E2B2AA}"/>
              </a:ext>
            </a:extLst>
          </p:cNvPr>
          <p:cNvSpPr txBox="1"/>
          <p:nvPr/>
        </p:nvSpPr>
        <p:spPr>
          <a:xfrm>
            <a:off x="243953" y="522581"/>
            <a:ext cx="4479052" cy="307777"/>
          </a:xfrm>
          <a:prstGeom prst="rect">
            <a:avLst/>
          </a:prstGeom>
          <a:noFill/>
        </p:spPr>
        <p:txBody>
          <a:bodyPr wrap="square" rtlCol="0">
            <a:spAutoFit/>
          </a:bodyPr>
          <a:lstStyle/>
          <a:p>
            <a:r>
              <a:rPr lang="en-US" sz="1400" b="1" u="sng" dirty="0">
                <a:solidFill>
                  <a:schemeClr val="tx1">
                    <a:lumMod val="50000"/>
                    <a:lumOff val="50000"/>
                  </a:schemeClr>
                </a:solidFill>
                <a:latin typeface="Microsoft JhengHei Light" panose="020B0304030504040204" pitchFamily="34" charset="-120"/>
                <a:ea typeface="Microsoft JhengHei Light" panose="020B0304030504040204" pitchFamily="34" charset="-120"/>
              </a:rPr>
              <a:t>Construction : Hand Knotted 14/14 MS PS</a:t>
            </a:r>
          </a:p>
        </p:txBody>
      </p:sp>
      <p:sp>
        <p:nvSpPr>
          <p:cNvPr id="33" name="TextBox 32">
            <a:extLst>
              <a:ext uri="{FF2B5EF4-FFF2-40B4-BE49-F238E27FC236}">
                <a16:creationId xmlns:a16="http://schemas.microsoft.com/office/drawing/2014/main" id="{EFD51E7B-EE92-EF6C-A025-7687F0EF173B}"/>
              </a:ext>
            </a:extLst>
          </p:cNvPr>
          <p:cNvSpPr txBox="1"/>
          <p:nvPr/>
        </p:nvSpPr>
        <p:spPr>
          <a:xfrm rot="16200000">
            <a:off x="3785370" y="3803959"/>
            <a:ext cx="1939846" cy="246221"/>
          </a:xfrm>
          <a:prstGeom prst="rect">
            <a:avLst/>
          </a:prstGeom>
          <a:noFill/>
        </p:spPr>
        <p:txBody>
          <a:bodyPr wrap="square" rtlCol="0">
            <a:spAutoFit/>
          </a:bodyPr>
          <a:lstStyle/>
          <a:p>
            <a:r>
              <a:rPr lang="en-US" sz="1000" dirty="0">
                <a:solidFill>
                  <a:schemeClr val="tx1">
                    <a:lumMod val="65000"/>
                    <a:lumOff val="35000"/>
                  </a:schemeClr>
                </a:solidFill>
                <a:latin typeface="Microsoft JhengHei" panose="020B0604030504040204" pitchFamily="34" charset="-120"/>
                <a:ea typeface="Microsoft JhengHei" panose="020B0604030504040204" pitchFamily="34" charset="-120"/>
                <a:cs typeface="Arial" panose="020B0604020202020204" pitchFamily="34" charset="0"/>
              </a:rPr>
              <a:t>8’FEET</a:t>
            </a:r>
          </a:p>
        </p:txBody>
      </p:sp>
      <p:sp>
        <p:nvSpPr>
          <p:cNvPr id="42" name="TextBox 41">
            <a:extLst>
              <a:ext uri="{FF2B5EF4-FFF2-40B4-BE49-F238E27FC236}">
                <a16:creationId xmlns:a16="http://schemas.microsoft.com/office/drawing/2014/main" id="{71D9A8DA-F041-A815-3138-60E52030D9AF}"/>
              </a:ext>
            </a:extLst>
          </p:cNvPr>
          <p:cNvSpPr txBox="1"/>
          <p:nvPr/>
        </p:nvSpPr>
        <p:spPr>
          <a:xfrm>
            <a:off x="2398814" y="7367070"/>
            <a:ext cx="1939846" cy="246221"/>
          </a:xfrm>
          <a:prstGeom prst="rect">
            <a:avLst/>
          </a:prstGeom>
          <a:noFill/>
        </p:spPr>
        <p:txBody>
          <a:bodyPr wrap="square" rtlCol="0">
            <a:spAutoFit/>
          </a:bodyPr>
          <a:lstStyle/>
          <a:p>
            <a:r>
              <a:rPr lang="en-US" sz="1000" dirty="0">
                <a:solidFill>
                  <a:schemeClr val="tx1">
                    <a:lumMod val="65000"/>
                    <a:lumOff val="35000"/>
                  </a:schemeClr>
                </a:solidFill>
                <a:latin typeface="Microsoft JhengHei" panose="020B0604030504040204" pitchFamily="34" charset="-120"/>
                <a:ea typeface="Microsoft JhengHei" panose="020B0604030504040204" pitchFamily="34" charset="-120"/>
                <a:cs typeface="Arial" panose="020B0604020202020204" pitchFamily="34" charset="0"/>
              </a:rPr>
              <a:t>5’FEET</a:t>
            </a:r>
          </a:p>
        </p:txBody>
      </p:sp>
      <p:sp>
        <p:nvSpPr>
          <p:cNvPr id="43" name="Rectangle 42">
            <a:extLst>
              <a:ext uri="{FF2B5EF4-FFF2-40B4-BE49-F238E27FC236}">
                <a16:creationId xmlns:a16="http://schemas.microsoft.com/office/drawing/2014/main" id="{3FE67FF7-9599-DFBB-9C05-DDBDCD2B6A4F}"/>
              </a:ext>
            </a:extLst>
          </p:cNvPr>
          <p:cNvSpPr/>
          <p:nvPr/>
        </p:nvSpPr>
        <p:spPr>
          <a:xfrm>
            <a:off x="3304674" y="10843918"/>
            <a:ext cx="4129847" cy="824565"/>
          </a:xfrm>
          <a:prstGeom prst="rect">
            <a:avLst/>
          </a:prstGeom>
          <a:noFill/>
          <a:ln>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65000"/>
                  <a:lumOff val="35000"/>
                </a:schemeClr>
              </a:solidFill>
            </a:endParaRPr>
          </a:p>
        </p:txBody>
      </p:sp>
      <p:sp>
        <p:nvSpPr>
          <p:cNvPr id="44" name="TextBox 43">
            <a:extLst>
              <a:ext uri="{FF2B5EF4-FFF2-40B4-BE49-F238E27FC236}">
                <a16:creationId xmlns:a16="http://schemas.microsoft.com/office/drawing/2014/main" id="{C89E6738-F38C-32C1-62F9-B649942C8375}"/>
              </a:ext>
            </a:extLst>
          </p:cNvPr>
          <p:cNvSpPr txBox="1"/>
          <p:nvPr/>
        </p:nvSpPr>
        <p:spPr>
          <a:xfrm>
            <a:off x="3250904" y="10568810"/>
            <a:ext cx="3750500" cy="246221"/>
          </a:xfrm>
          <a:prstGeom prst="rect">
            <a:avLst/>
          </a:prstGeom>
          <a:noFill/>
        </p:spPr>
        <p:txBody>
          <a:bodyPr wrap="square" rtlCol="0">
            <a:spAutoFit/>
          </a:bodyPr>
          <a:lstStyle/>
          <a:p>
            <a:r>
              <a:rPr lang="en-US" sz="1000" b="1" dirty="0">
                <a:solidFill>
                  <a:schemeClr val="tx1">
                    <a:lumMod val="65000"/>
                    <a:lumOff val="35000"/>
                  </a:schemeClr>
                </a:solidFill>
                <a:latin typeface="Microsoft JhengHei Light" panose="020B0304030504040204" pitchFamily="34" charset="-120"/>
                <a:ea typeface="Microsoft JhengHei Light" panose="020B0304030504040204" pitchFamily="34" charset="-120"/>
              </a:rPr>
              <a:t>Approval Box :-</a:t>
            </a:r>
          </a:p>
        </p:txBody>
      </p:sp>
      <p:grpSp>
        <p:nvGrpSpPr>
          <p:cNvPr id="28" name="Group 27">
            <a:extLst>
              <a:ext uri="{FF2B5EF4-FFF2-40B4-BE49-F238E27FC236}">
                <a16:creationId xmlns:a16="http://schemas.microsoft.com/office/drawing/2014/main" id="{FED7879B-315E-9CF3-B850-8919BA66CE3D}"/>
              </a:ext>
            </a:extLst>
          </p:cNvPr>
          <p:cNvGrpSpPr/>
          <p:nvPr/>
        </p:nvGrpSpPr>
        <p:grpSpPr>
          <a:xfrm>
            <a:off x="5611362" y="7977051"/>
            <a:ext cx="1923699" cy="1796084"/>
            <a:chOff x="251699" y="2183122"/>
            <a:chExt cx="4789373" cy="3867260"/>
          </a:xfrm>
        </p:grpSpPr>
        <p:cxnSp>
          <p:nvCxnSpPr>
            <p:cNvPr id="29" name="Straight Arrow Connector 28">
              <a:extLst>
                <a:ext uri="{FF2B5EF4-FFF2-40B4-BE49-F238E27FC236}">
                  <a16:creationId xmlns:a16="http://schemas.microsoft.com/office/drawing/2014/main" id="{D539C7CC-FACE-663F-CA1F-3E7208B65443}"/>
                </a:ext>
              </a:extLst>
            </p:cNvPr>
            <p:cNvCxnSpPr>
              <a:cxnSpLocks/>
            </p:cNvCxnSpPr>
            <p:nvPr/>
          </p:nvCxnSpPr>
          <p:spPr>
            <a:xfrm>
              <a:off x="251699" y="6050382"/>
              <a:ext cx="4684761" cy="0"/>
            </a:xfrm>
            <a:prstGeom prst="straightConnector1">
              <a:avLst/>
            </a:prstGeom>
            <a:ln w="12700">
              <a:solidFill>
                <a:schemeClr val="tx1">
                  <a:lumMod val="65000"/>
                  <a:lumOff val="3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32" name="Straight Arrow Connector 31">
              <a:extLst>
                <a:ext uri="{FF2B5EF4-FFF2-40B4-BE49-F238E27FC236}">
                  <a16:creationId xmlns:a16="http://schemas.microsoft.com/office/drawing/2014/main" id="{10876A46-E6BA-1BCB-F7AD-DA1887A5C58D}"/>
                </a:ext>
              </a:extLst>
            </p:cNvPr>
            <p:cNvCxnSpPr>
              <a:cxnSpLocks/>
            </p:cNvCxnSpPr>
            <p:nvPr/>
          </p:nvCxnSpPr>
          <p:spPr>
            <a:xfrm flipH="1">
              <a:off x="5023105" y="2183122"/>
              <a:ext cx="17967" cy="3824646"/>
            </a:xfrm>
            <a:prstGeom prst="straightConnector1">
              <a:avLst/>
            </a:prstGeom>
            <a:ln w="12700">
              <a:solidFill>
                <a:schemeClr val="tx1">
                  <a:lumMod val="65000"/>
                  <a:lumOff val="3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grpSp>
      <p:sp>
        <p:nvSpPr>
          <p:cNvPr id="34" name="TextBox 33">
            <a:extLst>
              <a:ext uri="{FF2B5EF4-FFF2-40B4-BE49-F238E27FC236}">
                <a16:creationId xmlns:a16="http://schemas.microsoft.com/office/drawing/2014/main" id="{6CF98B90-C9FE-53B7-7457-9110FE57A0C5}"/>
              </a:ext>
            </a:extLst>
          </p:cNvPr>
          <p:cNvSpPr txBox="1"/>
          <p:nvPr/>
        </p:nvSpPr>
        <p:spPr>
          <a:xfrm rot="16200000">
            <a:off x="6685378" y="8141762"/>
            <a:ext cx="1939846" cy="246221"/>
          </a:xfrm>
          <a:prstGeom prst="rect">
            <a:avLst/>
          </a:prstGeom>
          <a:noFill/>
        </p:spPr>
        <p:txBody>
          <a:bodyPr wrap="square" rtlCol="0">
            <a:spAutoFit/>
          </a:bodyPr>
          <a:lstStyle/>
          <a:p>
            <a:r>
              <a:rPr lang="en-US" sz="1000" dirty="0">
                <a:solidFill>
                  <a:schemeClr val="tx1">
                    <a:lumMod val="65000"/>
                    <a:lumOff val="35000"/>
                  </a:schemeClr>
                </a:solidFill>
                <a:latin typeface="Microsoft JhengHei" panose="020B0604030504040204" pitchFamily="34" charset="-120"/>
                <a:ea typeface="Microsoft JhengHei" panose="020B0604030504040204" pitchFamily="34" charset="-120"/>
                <a:cs typeface="Arial" panose="020B0604020202020204" pitchFamily="34" charset="0"/>
              </a:rPr>
              <a:t>45 CMS </a:t>
            </a:r>
          </a:p>
        </p:txBody>
      </p:sp>
      <p:sp>
        <p:nvSpPr>
          <p:cNvPr id="35" name="TextBox 34">
            <a:extLst>
              <a:ext uri="{FF2B5EF4-FFF2-40B4-BE49-F238E27FC236}">
                <a16:creationId xmlns:a16="http://schemas.microsoft.com/office/drawing/2014/main" id="{D4497D57-0384-681F-1A58-1EF8C9A1BD29}"/>
              </a:ext>
            </a:extLst>
          </p:cNvPr>
          <p:cNvSpPr txBox="1"/>
          <p:nvPr/>
        </p:nvSpPr>
        <p:spPr>
          <a:xfrm>
            <a:off x="6089898" y="9801579"/>
            <a:ext cx="1939846" cy="246221"/>
          </a:xfrm>
          <a:prstGeom prst="rect">
            <a:avLst/>
          </a:prstGeom>
          <a:noFill/>
        </p:spPr>
        <p:txBody>
          <a:bodyPr wrap="square" rtlCol="0">
            <a:spAutoFit/>
          </a:bodyPr>
          <a:lstStyle/>
          <a:p>
            <a:r>
              <a:rPr lang="en-US" sz="1000" dirty="0">
                <a:solidFill>
                  <a:schemeClr val="tx1">
                    <a:lumMod val="65000"/>
                    <a:lumOff val="35000"/>
                  </a:schemeClr>
                </a:solidFill>
                <a:latin typeface="Microsoft JhengHei" panose="020B0604030504040204" pitchFamily="34" charset="-120"/>
                <a:ea typeface="Microsoft JhengHei" panose="020B0604030504040204" pitchFamily="34" charset="-120"/>
                <a:cs typeface="Arial" panose="020B0604020202020204" pitchFamily="34" charset="0"/>
              </a:rPr>
              <a:t>45 CMS </a:t>
            </a:r>
          </a:p>
        </p:txBody>
      </p:sp>
      <p:sp>
        <p:nvSpPr>
          <p:cNvPr id="4" name="TextBox 3">
            <a:extLst>
              <a:ext uri="{FF2B5EF4-FFF2-40B4-BE49-F238E27FC236}">
                <a16:creationId xmlns:a16="http://schemas.microsoft.com/office/drawing/2014/main" id="{4A16059E-7F9A-A80E-16B4-D75473B31D6A}"/>
              </a:ext>
            </a:extLst>
          </p:cNvPr>
          <p:cNvSpPr txBox="1"/>
          <p:nvPr/>
        </p:nvSpPr>
        <p:spPr>
          <a:xfrm>
            <a:off x="5328536" y="4558543"/>
            <a:ext cx="2457171" cy="235962"/>
          </a:xfrm>
          <a:prstGeom prst="rect">
            <a:avLst/>
          </a:prstGeom>
          <a:solidFill>
            <a:srgbClr val="829697"/>
          </a:solidFill>
        </p:spPr>
        <p:txBody>
          <a:bodyPr wrap="square" rtlCol="0">
            <a:spAutoFit/>
          </a:bodyPr>
          <a:lstStyle>
            <a:defPPr>
              <a:defRPr lang="en-US"/>
            </a:defPPr>
            <a:lvl1pPr>
              <a:defRPr sz="1692" baseline="30000">
                <a:latin typeface="Microsoft JhengHei" panose="020B0604030504040204" pitchFamily="34" charset="-120"/>
                <a:ea typeface="Microsoft JhengHei" panose="020B0604030504040204" pitchFamily="34" charset="-120"/>
              </a:defRPr>
            </a:lvl1pPr>
          </a:lstStyle>
          <a:p>
            <a:r>
              <a:rPr lang="en-US" sz="1400" dirty="0">
                <a:solidFill>
                  <a:schemeClr val="bg1"/>
                </a:solidFill>
              </a:rPr>
              <a:t>#11. 1112</a:t>
            </a:r>
            <a:r>
              <a:rPr lang="en-US" sz="1400" baseline="30000" dirty="0">
                <a:solidFill>
                  <a:schemeClr val="bg1"/>
                </a:solidFill>
                <a:latin typeface="Microsoft JhengHei" panose="020B0604030504040204" pitchFamily="34" charset="-120"/>
                <a:ea typeface="Microsoft JhengHei" panose="020B0604030504040204" pitchFamily="34" charset="-120"/>
              </a:rPr>
              <a:t>- Silk Cut Pile</a:t>
            </a:r>
          </a:p>
        </p:txBody>
      </p:sp>
      <p:sp>
        <p:nvSpPr>
          <p:cNvPr id="11" name="TextBox 10">
            <a:extLst>
              <a:ext uri="{FF2B5EF4-FFF2-40B4-BE49-F238E27FC236}">
                <a16:creationId xmlns:a16="http://schemas.microsoft.com/office/drawing/2014/main" id="{7C1E3F09-E553-8CF0-83D9-39B5F04B7713}"/>
              </a:ext>
            </a:extLst>
          </p:cNvPr>
          <p:cNvSpPr txBox="1"/>
          <p:nvPr/>
        </p:nvSpPr>
        <p:spPr>
          <a:xfrm>
            <a:off x="5327219" y="4282203"/>
            <a:ext cx="2457171" cy="235962"/>
          </a:xfrm>
          <a:prstGeom prst="rect">
            <a:avLst/>
          </a:prstGeom>
          <a:solidFill>
            <a:srgbClr val="914637"/>
          </a:solidFill>
        </p:spPr>
        <p:txBody>
          <a:bodyPr wrap="square" rtlCol="0">
            <a:spAutoFit/>
          </a:bodyPr>
          <a:lstStyle/>
          <a:p>
            <a:r>
              <a:rPr lang="en-US" sz="1400" baseline="30000" dirty="0">
                <a:solidFill>
                  <a:schemeClr val="bg1"/>
                </a:solidFill>
                <a:latin typeface="Microsoft JhengHei" panose="020B0604030504040204" pitchFamily="34" charset="-120"/>
                <a:ea typeface="Microsoft JhengHei" panose="020B0604030504040204" pitchFamily="34" charset="-120"/>
              </a:rPr>
              <a:t>#10. 607- Silk Cut Pile</a:t>
            </a:r>
          </a:p>
        </p:txBody>
      </p:sp>
      <p:sp>
        <p:nvSpPr>
          <p:cNvPr id="27" name="TextBox 26">
            <a:extLst>
              <a:ext uri="{FF2B5EF4-FFF2-40B4-BE49-F238E27FC236}">
                <a16:creationId xmlns:a16="http://schemas.microsoft.com/office/drawing/2014/main" id="{8F248121-148C-D9D0-196D-AF1CEB6C907F}"/>
              </a:ext>
            </a:extLst>
          </p:cNvPr>
          <p:cNvSpPr txBox="1"/>
          <p:nvPr/>
        </p:nvSpPr>
        <p:spPr>
          <a:xfrm>
            <a:off x="5368595" y="1337767"/>
            <a:ext cx="2377054" cy="246221"/>
          </a:xfrm>
          <a:prstGeom prst="rect">
            <a:avLst/>
          </a:prstGeom>
          <a:noFill/>
        </p:spPr>
        <p:txBody>
          <a:bodyPr wrap="square" rtlCol="0">
            <a:spAutoFit/>
          </a:bodyPr>
          <a:lstStyle/>
          <a:p>
            <a:pPr algn="ctr"/>
            <a:r>
              <a:rPr lang="en-US" sz="1000" dirty="0">
                <a:solidFill>
                  <a:schemeClr val="bg1"/>
                </a:solidFill>
                <a:highlight>
                  <a:srgbClr val="000080"/>
                </a:highlight>
                <a:latin typeface="Microsoft JhengHei" panose="020B0604030504040204" pitchFamily="34" charset="-120"/>
                <a:ea typeface="Microsoft JhengHei" panose="020B0604030504040204" pitchFamily="34" charset="-120"/>
                <a:cs typeface="Arial" panose="020B0604020202020204" pitchFamily="34" charset="0"/>
              </a:rPr>
              <a:t>JRC +ARS  reference  </a:t>
            </a:r>
          </a:p>
        </p:txBody>
      </p:sp>
      <p:sp>
        <p:nvSpPr>
          <p:cNvPr id="39" name="TextBox 38">
            <a:extLst>
              <a:ext uri="{FF2B5EF4-FFF2-40B4-BE49-F238E27FC236}">
                <a16:creationId xmlns:a16="http://schemas.microsoft.com/office/drawing/2014/main" id="{3D9CB76F-3094-0D9F-1C16-5118AED9A1D4}"/>
              </a:ext>
            </a:extLst>
          </p:cNvPr>
          <p:cNvSpPr txBox="1"/>
          <p:nvPr/>
        </p:nvSpPr>
        <p:spPr>
          <a:xfrm>
            <a:off x="5332431" y="1736392"/>
            <a:ext cx="2457171" cy="235962"/>
          </a:xfrm>
          <a:prstGeom prst="rect">
            <a:avLst/>
          </a:prstGeom>
          <a:solidFill>
            <a:srgbClr val="666666"/>
          </a:solidFill>
        </p:spPr>
        <p:txBody>
          <a:bodyPr wrap="square" rtlCol="0">
            <a:spAutoFit/>
          </a:bodyPr>
          <a:lstStyle/>
          <a:p>
            <a:r>
              <a:rPr lang="en-US" sz="1400" baseline="30000" dirty="0">
                <a:solidFill>
                  <a:schemeClr val="bg1"/>
                </a:solidFill>
                <a:latin typeface="Microsoft JhengHei" panose="020B0604030504040204" pitchFamily="34" charset="-120"/>
                <a:ea typeface="Microsoft JhengHei" panose="020B0604030504040204" pitchFamily="34" charset="-120"/>
              </a:rPr>
              <a:t>#1. 194- Silk Cut Pile</a:t>
            </a:r>
          </a:p>
        </p:txBody>
      </p:sp>
      <p:sp>
        <p:nvSpPr>
          <p:cNvPr id="48" name="TextBox 47">
            <a:extLst>
              <a:ext uri="{FF2B5EF4-FFF2-40B4-BE49-F238E27FC236}">
                <a16:creationId xmlns:a16="http://schemas.microsoft.com/office/drawing/2014/main" id="{FFBCB8AA-6DE7-E82E-32CE-12939BEAF80C}"/>
              </a:ext>
            </a:extLst>
          </p:cNvPr>
          <p:cNvSpPr txBox="1"/>
          <p:nvPr/>
        </p:nvSpPr>
        <p:spPr>
          <a:xfrm>
            <a:off x="5377443" y="7081433"/>
            <a:ext cx="1939846" cy="246221"/>
          </a:xfrm>
          <a:prstGeom prst="rect">
            <a:avLst/>
          </a:prstGeom>
          <a:noFill/>
        </p:spPr>
        <p:txBody>
          <a:bodyPr wrap="square" rtlCol="0">
            <a:spAutoFit/>
          </a:bodyPr>
          <a:lstStyle/>
          <a:p>
            <a:r>
              <a:rPr lang="en-US" sz="1000" b="1" u="sng" dirty="0">
                <a:solidFill>
                  <a:srgbClr val="C00000"/>
                </a:solidFill>
                <a:latin typeface="Microsoft JhengHei" panose="020B0604030504040204" pitchFamily="34" charset="-120"/>
                <a:ea typeface="Microsoft JhengHei" panose="020B0604030504040204" pitchFamily="34" charset="-120"/>
                <a:cs typeface="Arial" panose="020B0604020202020204" pitchFamily="34" charset="0"/>
              </a:rPr>
              <a:t>Pile height –7 MM -8 MM</a:t>
            </a:r>
          </a:p>
        </p:txBody>
      </p:sp>
      <p:sp>
        <p:nvSpPr>
          <p:cNvPr id="50" name="TextBox 49">
            <a:extLst>
              <a:ext uri="{FF2B5EF4-FFF2-40B4-BE49-F238E27FC236}">
                <a16:creationId xmlns:a16="http://schemas.microsoft.com/office/drawing/2014/main" id="{399BD836-FC4C-9BAF-ECEE-AE3B665250B0}"/>
              </a:ext>
            </a:extLst>
          </p:cNvPr>
          <p:cNvSpPr txBox="1"/>
          <p:nvPr/>
        </p:nvSpPr>
        <p:spPr>
          <a:xfrm>
            <a:off x="5333748" y="2012732"/>
            <a:ext cx="2457171" cy="235962"/>
          </a:xfrm>
          <a:prstGeom prst="rect">
            <a:avLst/>
          </a:prstGeom>
          <a:solidFill>
            <a:srgbClr val="B8A982"/>
          </a:solidFill>
        </p:spPr>
        <p:txBody>
          <a:bodyPr wrap="square" rtlCol="0">
            <a:spAutoFit/>
          </a:bodyPr>
          <a:lstStyle>
            <a:defPPr>
              <a:defRPr lang="en-US"/>
            </a:defPPr>
            <a:lvl1pPr>
              <a:defRPr sz="1692" baseline="30000">
                <a:latin typeface="Microsoft JhengHei" panose="020B0604030504040204" pitchFamily="34" charset="-120"/>
                <a:ea typeface="Microsoft JhengHei" panose="020B0604030504040204" pitchFamily="34" charset="-120"/>
              </a:defRPr>
            </a:lvl1pPr>
          </a:lstStyle>
          <a:p>
            <a:r>
              <a:rPr lang="en-US" sz="1400" dirty="0">
                <a:solidFill>
                  <a:schemeClr val="bg1"/>
                </a:solidFill>
              </a:rPr>
              <a:t>#2. 804</a:t>
            </a:r>
            <a:r>
              <a:rPr lang="en-US" sz="1400" baseline="30000" dirty="0">
                <a:solidFill>
                  <a:schemeClr val="bg1"/>
                </a:solidFill>
                <a:latin typeface="Microsoft JhengHei" panose="020B0604030504040204" pitchFamily="34" charset="-120"/>
                <a:ea typeface="Microsoft JhengHei" panose="020B0604030504040204" pitchFamily="34" charset="-120"/>
              </a:rPr>
              <a:t>- Silk Cut Pile</a:t>
            </a:r>
          </a:p>
        </p:txBody>
      </p:sp>
      <p:sp>
        <p:nvSpPr>
          <p:cNvPr id="53" name="TextBox 52">
            <a:extLst>
              <a:ext uri="{FF2B5EF4-FFF2-40B4-BE49-F238E27FC236}">
                <a16:creationId xmlns:a16="http://schemas.microsoft.com/office/drawing/2014/main" id="{966A2C7C-86A4-17C2-205C-BE459A6A4F02}"/>
              </a:ext>
            </a:extLst>
          </p:cNvPr>
          <p:cNvSpPr txBox="1"/>
          <p:nvPr/>
        </p:nvSpPr>
        <p:spPr>
          <a:xfrm>
            <a:off x="5330692" y="2289230"/>
            <a:ext cx="2457171" cy="235962"/>
          </a:xfrm>
          <a:prstGeom prst="rect">
            <a:avLst/>
          </a:prstGeom>
          <a:solidFill>
            <a:srgbClr val="C9C4B3"/>
          </a:solidFill>
        </p:spPr>
        <p:txBody>
          <a:bodyPr wrap="square" rtlCol="0">
            <a:spAutoFit/>
          </a:bodyPr>
          <a:lstStyle/>
          <a:p>
            <a:r>
              <a:rPr lang="en-US" sz="1400" baseline="30000" dirty="0">
                <a:solidFill>
                  <a:schemeClr val="bg1"/>
                </a:solidFill>
                <a:latin typeface="Microsoft JhengHei" panose="020B0604030504040204" pitchFamily="34" charset="-120"/>
                <a:ea typeface="Microsoft JhengHei" panose="020B0604030504040204" pitchFamily="34" charset="-120"/>
              </a:rPr>
              <a:t>#3. 911- Silk Cut Pile</a:t>
            </a:r>
          </a:p>
        </p:txBody>
      </p:sp>
      <p:sp>
        <p:nvSpPr>
          <p:cNvPr id="55" name="TextBox 54">
            <a:extLst>
              <a:ext uri="{FF2B5EF4-FFF2-40B4-BE49-F238E27FC236}">
                <a16:creationId xmlns:a16="http://schemas.microsoft.com/office/drawing/2014/main" id="{5C7F9DDA-D367-A166-FE38-C13050B2E8C5}"/>
              </a:ext>
            </a:extLst>
          </p:cNvPr>
          <p:cNvSpPr txBox="1"/>
          <p:nvPr/>
        </p:nvSpPr>
        <p:spPr>
          <a:xfrm>
            <a:off x="5332009" y="2576587"/>
            <a:ext cx="2457171" cy="235962"/>
          </a:xfrm>
          <a:prstGeom prst="rect">
            <a:avLst/>
          </a:prstGeom>
          <a:solidFill>
            <a:srgbClr val="D1B369"/>
          </a:solidFill>
        </p:spPr>
        <p:txBody>
          <a:bodyPr wrap="square" rtlCol="0">
            <a:spAutoFit/>
          </a:bodyPr>
          <a:lstStyle>
            <a:defPPr>
              <a:defRPr lang="en-US"/>
            </a:defPPr>
            <a:lvl1pPr>
              <a:defRPr sz="1692" baseline="30000">
                <a:latin typeface="Microsoft JhengHei" panose="020B0604030504040204" pitchFamily="34" charset="-120"/>
                <a:ea typeface="Microsoft JhengHei" panose="020B0604030504040204" pitchFamily="34" charset="-120"/>
              </a:defRPr>
            </a:lvl1pPr>
          </a:lstStyle>
          <a:p>
            <a:r>
              <a:rPr lang="en-US" sz="1400" dirty="0">
                <a:solidFill>
                  <a:schemeClr val="bg1"/>
                </a:solidFill>
              </a:rPr>
              <a:t>#4. 809</a:t>
            </a:r>
            <a:r>
              <a:rPr lang="en-US" sz="1400" baseline="30000" dirty="0">
                <a:solidFill>
                  <a:schemeClr val="bg1"/>
                </a:solidFill>
                <a:latin typeface="Microsoft JhengHei" panose="020B0604030504040204" pitchFamily="34" charset="-120"/>
                <a:ea typeface="Microsoft JhengHei" panose="020B0604030504040204" pitchFamily="34" charset="-120"/>
              </a:rPr>
              <a:t>- Silk Cut Pile</a:t>
            </a:r>
          </a:p>
        </p:txBody>
      </p:sp>
      <p:sp>
        <p:nvSpPr>
          <p:cNvPr id="59" name="TextBox 58">
            <a:extLst>
              <a:ext uri="{FF2B5EF4-FFF2-40B4-BE49-F238E27FC236}">
                <a16:creationId xmlns:a16="http://schemas.microsoft.com/office/drawing/2014/main" id="{4CFA891E-AB98-A225-2DEA-A4BCDD623A44}"/>
              </a:ext>
            </a:extLst>
          </p:cNvPr>
          <p:cNvSpPr txBox="1"/>
          <p:nvPr/>
        </p:nvSpPr>
        <p:spPr>
          <a:xfrm>
            <a:off x="5329234" y="2861954"/>
            <a:ext cx="2457171" cy="235962"/>
          </a:xfrm>
          <a:prstGeom prst="rect">
            <a:avLst/>
          </a:prstGeom>
          <a:solidFill>
            <a:srgbClr val="B59143"/>
          </a:solidFill>
        </p:spPr>
        <p:txBody>
          <a:bodyPr wrap="square" rtlCol="0">
            <a:spAutoFit/>
          </a:bodyPr>
          <a:lstStyle/>
          <a:p>
            <a:r>
              <a:rPr lang="en-US" sz="1400" baseline="30000" dirty="0">
                <a:solidFill>
                  <a:schemeClr val="bg1"/>
                </a:solidFill>
                <a:latin typeface="Microsoft JhengHei" panose="020B0604030504040204" pitchFamily="34" charset="-120"/>
                <a:ea typeface="Microsoft JhengHei" panose="020B0604030504040204" pitchFamily="34" charset="-120"/>
              </a:rPr>
              <a:t>#5. 754- Silk Cut Pile</a:t>
            </a:r>
          </a:p>
        </p:txBody>
      </p:sp>
      <p:sp>
        <p:nvSpPr>
          <p:cNvPr id="61" name="TextBox 60">
            <a:extLst>
              <a:ext uri="{FF2B5EF4-FFF2-40B4-BE49-F238E27FC236}">
                <a16:creationId xmlns:a16="http://schemas.microsoft.com/office/drawing/2014/main" id="{DD7DDE52-C211-BA27-7ABD-75B6DA94B71B}"/>
              </a:ext>
            </a:extLst>
          </p:cNvPr>
          <p:cNvSpPr txBox="1"/>
          <p:nvPr/>
        </p:nvSpPr>
        <p:spPr>
          <a:xfrm>
            <a:off x="5330551" y="3149312"/>
            <a:ext cx="2457171" cy="235962"/>
          </a:xfrm>
          <a:prstGeom prst="rect">
            <a:avLst/>
          </a:prstGeom>
          <a:solidFill>
            <a:srgbClr val="947A63"/>
          </a:solidFill>
        </p:spPr>
        <p:txBody>
          <a:bodyPr wrap="square" rtlCol="0">
            <a:spAutoFit/>
          </a:bodyPr>
          <a:lstStyle>
            <a:defPPr>
              <a:defRPr lang="en-US"/>
            </a:defPPr>
            <a:lvl1pPr>
              <a:defRPr sz="1692" baseline="30000">
                <a:latin typeface="Microsoft JhengHei" panose="020B0604030504040204" pitchFamily="34" charset="-120"/>
                <a:ea typeface="Microsoft JhengHei" panose="020B0604030504040204" pitchFamily="34" charset="-120"/>
              </a:defRPr>
            </a:lvl1pPr>
          </a:lstStyle>
          <a:p>
            <a:r>
              <a:rPr lang="en-US" sz="1400" dirty="0">
                <a:solidFill>
                  <a:schemeClr val="bg1"/>
                </a:solidFill>
              </a:rPr>
              <a:t>#6. 511</a:t>
            </a:r>
            <a:r>
              <a:rPr lang="en-US" sz="1400" baseline="30000" dirty="0">
                <a:solidFill>
                  <a:schemeClr val="bg1"/>
                </a:solidFill>
                <a:latin typeface="Microsoft JhengHei" panose="020B0604030504040204" pitchFamily="34" charset="-120"/>
                <a:ea typeface="Microsoft JhengHei" panose="020B0604030504040204" pitchFamily="34" charset="-120"/>
              </a:rPr>
              <a:t>- Silk Cut Pile</a:t>
            </a:r>
          </a:p>
        </p:txBody>
      </p:sp>
      <p:sp>
        <p:nvSpPr>
          <p:cNvPr id="63" name="TextBox 62">
            <a:extLst>
              <a:ext uri="{FF2B5EF4-FFF2-40B4-BE49-F238E27FC236}">
                <a16:creationId xmlns:a16="http://schemas.microsoft.com/office/drawing/2014/main" id="{7D50E184-1A95-B886-3A5B-83D9C376F6C6}"/>
              </a:ext>
            </a:extLst>
          </p:cNvPr>
          <p:cNvSpPr txBox="1"/>
          <p:nvPr/>
        </p:nvSpPr>
        <p:spPr>
          <a:xfrm>
            <a:off x="5327495" y="3436826"/>
            <a:ext cx="2457171" cy="235962"/>
          </a:xfrm>
          <a:prstGeom prst="rect">
            <a:avLst/>
          </a:prstGeom>
          <a:solidFill>
            <a:srgbClr val="6E4B3C"/>
          </a:solidFill>
        </p:spPr>
        <p:txBody>
          <a:bodyPr wrap="square" rtlCol="0">
            <a:spAutoFit/>
          </a:bodyPr>
          <a:lstStyle/>
          <a:p>
            <a:r>
              <a:rPr lang="en-US" sz="1400" baseline="30000" dirty="0">
                <a:solidFill>
                  <a:schemeClr val="bg1"/>
                </a:solidFill>
                <a:latin typeface="Microsoft JhengHei" panose="020B0604030504040204" pitchFamily="34" charset="-120"/>
                <a:ea typeface="Microsoft JhengHei" panose="020B0604030504040204" pitchFamily="34" charset="-120"/>
              </a:rPr>
              <a:t>#7. 510- Silk Cut Pile</a:t>
            </a:r>
          </a:p>
        </p:txBody>
      </p:sp>
      <p:sp>
        <p:nvSpPr>
          <p:cNvPr id="65" name="TextBox 64">
            <a:extLst>
              <a:ext uri="{FF2B5EF4-FFF2-40B4-BE49-F238E27FC236}">
                <a16:creationId xmlns:a16="http://schemas.microsoft.com/office/drawing/2014/main" id="{187B8665-4B13-6F14-9E1E-D67283040A06}"/>
              </a:ext>
            </a:extLst>
          </p:cNvPr>
          <p:cNvSpPr txBox="1"/>
          <p:nvPr/>
        </p:nvSpPr>
        <p:spPr>
          <a:xfrm>
            <a:off x="5328812" y="3724183"/>
            <a:ext cx="2457171" cy="235962"/>
          </a:xfrm>
          <a:prstGeom prst="rect">
            <a:avLst/>
          </a:prstGeom>
          <a:solidFill>
            <a:srgbClr val="BC8874"/>
          </a:solidFill>
        </p:spPr>
        <p:txBody>
          <a:bodyPr wrap="square" rtlCol="0">
            <a:spAutoFit/>
          </a:bodyPr>
          <a:lstStyle>
            <a:defPPr>
              <a:defRPr lang="en-US"/>
            </a:defPPr>
            <a:lvl1pPr>
              <a:defRPr sz="1692" baseline="30000">
                <a:latin typeface="Microsoft JhengHei" panose="020B0604030504040204" pitchFamily="34" charset="-120"/>
                <a:ea typeface="Microsoft JhengHei" panose="020B0604030504040204" pitchFamily="34" charset="-120"/>
              </a:defRPr>
            </a:lvl1pPr>
          </a:lstStyle>
          <a:p>
            <a:r>
              <a:rPr lang="en-US" sz="1400" dirty="0">
                <a:solidFill>
                  <a:schemeClr val="bg1"/>
                </a:solidFill>
              </a:rPr>
              <a:t>#8. 2652</a:t>
            </a:r>
            <a:r>
              <a:rPr lang="en-US" sz="1400" baseline="30000" dirty="0">
                <a:solidFill>
                  <a:schemeClr val="bg1"/>
                </a:solidFill>
                <a:latin typeface="Microsoft JhengHei" panose="020B0604030504040204" pitchFamily="34" charset="-120"/>
                <a:ea typeface="Microsoft JhengHei" panose="020B0604030504040204" pitchFamily="34" charset="-120"/>
              </a:rPr>
              <a:t>- Silk Cut Pile</a:t>
            </a:r>
          </a:p>
        </p:txBody>
      </p:sp>
      <p:sp>
        <p:nvSpPr>
          <p:cNvPr id="67" name="TextBox 66">
            <a:extLst>
              <a:ext uri="{FF2B5EF4-FFF2-40B4-BE49-F238E27FC236}">
                <a16:creationId xmlns:a16="http://schemas.microsoft.com/office/drawing/2014/main" id="{6C662925-A53A-A893-BC34-5F2EB185BA28}"/>
              </a:ext>
            </a:extLst>
          </p:cNvPr>
          <p:cNvSpPr txBox="1"/>
          <p:nvPr/>
        </p:nvSpPr>
        <p:spPr>
          <a:xfrm>
            <a:off x="5332269" y="4003049"/>
            <a:ext cx="2457171" cy="235962"/>
          </a:xfrm>
          <a:prstGeom prst="rect">
            <a:avLst/>
          </a:prstGeom>
          <a:solidFill>
            <a:srgbClr val="A76350"/>
          </a:solidFill>
        </p:spPr>
        <p:txBody>
          <a:bodyPr wrap="square" rtlCol="0">
            <a:spAutoFit/>
          </a:bodyPr>
          <a:lstStyle>
            <a:defPPr>
              <a:defRPr lang="en-US"/>
            </a:defPPr>
            <a:lvl1pPr>
              <a:defRPr sz="1692" baseline="30000">
                <a:latin typeface="Microsoft JhengHei" panose="020B0604030504040204" pitchFamily="34" charset="-120"/>
                <a:ea typeface="Microsoft JhengHei" panose="020B0604030504040204" pitchFamily="34" charset="-120"/>
              </a:defRPr>
            </a:lvl1pPr>
          </a:lstStyle>
          <a:p>
            <a:r>
              <a:rPr lang="en-US" sz="1400" dirty="0">
                <a:solidFill>
                  <a:schemeClr val="bg1"/>
                </a:solidFill>
              </a:rPr>
              <a:t>#9. 620</a:t>
            </a:r>
            <a:r>
              <a:rPr lang="en-US" sz="1400" baseline="30000" dirty="0">
                <a:solidFill>
                  <a:schemeClr val="bg1"/>
                </a:solidFill>
                <a:latin typeface="Microsoft JhengHei" panose="020B0604030504040204" pitchFamily="34" charset="-120"/>
                <a:ea typeface="Microsoft JhengHei" panose="020B0604030504040204" pitchFamily="34" charset="-120"/>
              </a:rPr>
              <a:t>- Silk Cut Pile</a:t>
            </a:r>
          </a:p>
        </p:txBody>
      </p:sp>
      <p:sp>
        <p:nvSpPr>
          <p:cNvPr id="69" name="TextBox 68">
            <a:extLst>
              <a:ext uri="{FF2B5EF4-FFF2-40B4-BE49-F238E27FC236}">
                <a16:creationId xmlns:a16="http://schemas.microsoft.com/office/drawing/2014/main" id="{2C143647-3B58-BF67-7393-6C84F6C8D065}"/>
              </a:ext>
            </a:extLst>
          </p:cNvPr>
          <p:cNvSpPr txBox="1"/>
          <p:nvPr/>
        </p:nvSpPr>
        <p:spPr>
          <a:xfrm>
            <a:off x="3183308" y="7879459"/>
            <a:ext cx="2377054" cy="230832"/>
          </a:xfrm>
          <a:prstGeom prst="rect">
            <a:avLst/>
          </a:prstGeom>
          <a:noFill/>
        </p:spPr>
        <p:txBody>
          <a:bodyPr wrap="square" rtlCol="0">
            <a:spAutoFit/>
          </a:bodyPr>
          <a:lstStyle/>
          <a:p>
            <a:pPr algn="ctr"/>
            <a:r>
              <a:rPr lang="en-US" sz="900" dirty="0">
                <a:solidFill>
                  <a:schemeClr val="bg1"/>
                </a:solidFill>
                <a:highlight>
                  <a:srgbClr val="000080"/>
                </a:highlight>
                <a:latin typeface="Microsoft JhengHei" panose="020B0604030504040204" pitchFamily="34" charset="-120"/>
                <a:ea typeface="Microsoft JhengHei" panose="020B0604030504040204" pitchFamily="34" charset="-120"/>
                <a:cs typeface="Arial" panose="020B0604020202020204" pitchFamily="34" charset="0"/>
              </a:rPr>
              <a:t>Rug Image / Design Intent</a:t>
            </a:r>
          </a:p>
        </p:txBody>
      </p:sp>
      <p:sp>
        <p:nvSpPr>
          <p:cNvPr id="2" name="TextBox 1">
            <a:extLst>
              <a:ext uri="{FF2B5EF4-FFF2-40B4-BE49-F238E27FC236}">
                <a16:creationId xmlns:a16="http://schemas.microsoft.com/office/drawing/2014/main" id="{5CC4BA9D-EBA1-B991-E400-87E492E15DD9}"/>
              </a:ext>
            </a:extLst>
          </p:cNvPr>
          <p:cNvSpPr txBox="1"/>
          <p:nvPr/>
        </p:nvSpPr>
        <p:spPr>
          <a:xfrm>
            <a:off x="213386" y="10319944"/>
            <a:ext cx="3037518" cy="1169551"/>
          </a:xfrm>
          <a:prstGeom prst="rect">
            <a:avLst/>
          </a:prstGeom>
          <a:noFill/>
        </p:spPr>
        <p:txBody>
          <a:bodyPr wrap="square" rtlCol="0">
            <a:spAutoFit/>
          </a:bodyPr>
          <a:lstStyle/>
          <a:p>
            <a:r>
              <a:rPr lang="en-US" sz="1000" b="1" u="sng" dirty="0">
                <a:solidFill>
                  <a:srgbClr val="C00000"/>
                </a:solidFill>
                <a:latin typeface="Microsoft JhengHei" panose="020B0604030504040204" pitchFamily="34" charset="-120"/>
                <a:ea typeface="Microsoft JhengHei" panose="020B0604030504040204" pitchFamily="34" charset="-120"/>
                <a:cs typeface="Arial" panose="020B0604020202020204" pitchFamily="34" charset="0"/>
              </a:rPr>
              <a:t>IMPORTANT: Jaipur Rugs renderings are provided to illustrate pattern and color placement only. Color should be evaluated using actual yarn samples, as digital renderings cannot accurately represent final dyed yarns or handmade production variations.</a:t>
            </a:r>
          </a:p>
        </p:txBody>
      </p:sp>
      <p:pic>
        <p:nvPicPr>
          <p:cNvPr id="7" name="Picture 6">
            <a:extLst>
              <a:ext uri="{FF2B5EF4-FFF2-40B4-BE49-F238E27FC236}">
                <a16:creationId xmlns:a16="http://schemas.microsoft.com/office/drawing/2014/main" id="{7777B0A8-FA7A-42E6-8CE5-E56C8A86A146}"/>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432980" y="8233696"/>
            <a:ext cx="2227370" cy="1633405"/>
          </a:xfrm>
          <a:prstGeom prst="rect">
            <a:avLst/>
          </a:prstGeom>
        </p:spPr>
      </p:pic>
      <p:sp>
        <p:nvSpPr>
          <p:cNvPr id="9" name="TextBox 8">
            <a:extLst>
              <a:ext uri="{FF2B5EF4-FFF2-40B4-BE49-F238E27FC236}">
                <a16:creationId xmlns:a16="http://schemas.microsoft.com/office/drawing/2014/main" id="{2CA6DDFB-D05A-88AC-9AD0-ED569FE756DE}"/>
              </a:ext>
            </a:extLst>
          </p:cNvPr>
          <p:cNvSpPr txBox="1"/>
          <p:nvPr/>
        </p:nvSpPr>
        <p:spPr>
          <a:xfrm>
            <a:off x="5328536" y="5671338"/>
            <a:ext cx="2457171" cy="235962"/>
          </a:xfrm>
          <a:prstGeom prst="rect">
            <a:avLst/>
          </a:prstGeom>
          <a:solidFill>
            <a:srgbClr val="3C4425"/>
          </a:solidFill>
        </p:spPr>
        <p:txBody>
          <a:bodyPr wrap="square" rtlCol="0">
            <a:spAutoFit/>
          </a:bodyPr>
          <a:lstStyle>
            <a:defPPr>
              <a:defRPr lang="en-US"/>
            </a:defPPr>
            <a:lvl1pPr>
              <a:defRPr sz="1692" baseline="30000">
                <a:latin typeface="Microsoft JhengHei" panose="020B0604030504040204" pitchFamily="34" charset="-120"/>
                <a:ea typeface="Microsoft JhengHei" panose="020B0604030504040204" pitchFamily="34" charset="-120"/>
              </a:defRPr>
            </a:lvl1pPr>
          </a:lstStyle>
          <a:p>
            <a:r>
              <a:rPr lang="en-US" sz="1400" dirty="0">
                <a:solidFill>
                  <a:schemeClr val="bg1"/>
                </a:solidFill>
              </a:rPr>
              <a:t>#15. 315</a:t>
            </a:r>
            <a:r>
              <a:rPr lang="en-US" sz="1400" baseline="30000" dirty="0">
                <a:solidFill>
                  <a:schemeClr val="bg1"/>
                </a:solidFill>
                <a:latin typeface="Microsoft JhengHei" panose="020B0604030504040204" pitchFamily="34" charset="-120"/>
                <a:ea typeface="Microsoft JhengHei" panose="020B0604030504040204" pitchFamily="34" charset="-120"/>
              </a:rPr>
              <a:t>- Silk Cut Pile</a:t>
            </a:r>
          </a:p>
        </p:txBody>
      </p:sp>
      <p:sp>
        <p:nvSpPr>
          <p:cNvPr id="10" name="TextBox 9">
            <a:extLst>
              <a:ext uri="{FF2B5EF4-FFF2-40B4-BE49-F238E27FC236}">
                <a16:creationId xmlns:a16="http://schemas.microsoft.com/office/drawing/2014/main" id="{5C4A8A69-5FF3-95BB-99AE-0C359BE945A3}"/>
              </a:ext>
            </a:extLst>
          </p:cNvPr>
          <p:cNvSpPr txBox="1"/>
          <p:nvPr/>
        </p:nvSpPr>
        <p:spPr>
          <a:xfrm>
            <a:off x="5327219" y="5394998"/>
            <a:ext cx="2457171" cy="235962"/>
          </a:xfrm>
          <a:prstGeom prst="rect">
            <a:avLst/>
          </a:prstGeom>
          <a:solidFill>
            <a:srgbClr val="888F57"/>
          </a:solidFill>
        </p:spPr>
        <p:txBody>
          <a:bodyPr wrap="square" rtlCol="0">
            <a:spAutoFit/>
          </a:bodyPr>
          <a:lstStyle/>
          <a:p>
            <a:r>
              <a:rPr lang="en-US" sz="1400" baseline="30000" dirty="0">
                <a:solidFill>
                  <a:schemeClr val="bg1"/>
                </a:solidFill>
                <a:latin typeface="Microsoft JhengHei" panose="020B0604030504040204" pitchFamily="34" charset="-120"/>
                <a:ea typeface="Microsoft JhengHei" panose="020B0604030504040204" pitchFamily="34" charset="-120"/>
              </a:rPr>
              <a:t>#14. 202- Silk Cut Pile</a:t>
            </a:r>
          </a:p>
        </p:txBody>
      </p:sp>
      <p:sp>
        <p:nvSpPr>
          <p:cNvPr id="15" name="TextBox 14">
            <a:extLst>
              <a:ext uri="{FF2B5EF4-FFF2-40B4-BE49-F238E27FC236}">
                <a16:creationId xmlns:a16="http://schemas.microsoft.com/office/drawing/2014/main" id="{C9BDD40E-3F6F-0357-C551-300CFED2AEFD}"/>
              </a:ext>
            </a:extLst>
          </p:cNvPr>
          <p:cNvSpPr txBox="1"/>
          <p:nvPr/>
        </p:nvSpPr>
        <p:spPr>
          <a:xfrm>
            <a:off x="5328812" y="4836978"/>
            <a:ext cx="2457171" cy="235962"/>
          </a:xfrm>
          <a:prstGeom prst="rect">
            <a:avLst/>
          </a:prstGeom>
          <a:solidFill>
            <a:srgbClr val="3C5E7A"/>
          </a:solidFill>
        </p:spPr>
        <p:txBody>
          <a:bodyPr wrap="square" rtlCol="0">
            <a:spAutoFit/>
          </a:bodyPr>
          <a:lstStyle>
            <a:defPPr>
              <a:defRPr lang="en-US"/>
            </a:defPPr>
            <a:lvl1pPr>
              <a:defRPr sz="1692" baseline="30000">
                <a:latin typeface="Microsoft JhengHei" panose="020B0604030504040204" pitchFamily="34" charset="-120"/>
                <a:ea typeface="Microsoft JhengHei" panose="020B0604030504040204" pitchFamily="34" charset="-120"/>
              </a:defRPr>
            </a:lvl1pPr>
          </a:lstStyle>
          <a:p>
            <a:r>
              <a:rPr lang="en-US" sz="1400" dirty="0">
                <a:solidFill>
                  <a:schemeClr val="bg1"/>
                </a:solidFill>
              </a:rPr>
              <a:t>#12. 2173-</a:t>
            </a:r>
            <a:r>
              <a:rPr lang="en-US" sz="1400" baseline="30000" dirty="0">
                <a:solidFill>
                  <a:schemeClr val="bg1"/>
                </a:solidFill>
                <a:latin typeface="Microsoft JhengHei" panose="020B0604030504040204" pitchFamily="34" charset="-120"/>
                <a:ea typeface="Microsoft JhengHei" panose="020B0604030504040204" pitchFamily="34" charset="-120"/>
              </a:rPr>
              <a:t> Silk Cut Pile</a:t>
            </a:r>
          </a:p>
        </p:txBody>
      </p:sp>
      <p:sp>
        <p:nvSpPr>
          <p:cNvPr id="16" name="TextBox 15">
            <a:extLst>
              <a:ext uri="{FF2B5EF4-FFF2-40B4-BE49-F238E27FC236}">
                <a16:creationId xmlns:a16="http://schemas.microsoft.com/office/drawing/2014/main" id="{C1D2CBBB-B76F-0F15-57F7-1D2467F419C7}"/>
              </a:ext>
            </a:extLst>
          </p:cNvPr>
          <p:cNvSpPr txBox="1"/>
          <p:nvPr/>
        </p:nvSpPr>
        <p:spPr>
          <a:xfrm>
            <a:off x="5322744" y="5115844"/>
            <a:ext cx="2457171" cy="235962"/>
          </a:xfrm>
          <a:prstGeom prst="rect">
            <a:avLst/>
          </a:prstGeom>
          <a:solidFill>
            <a:srgbClr val="6B4B61"/>
          </a:solidFill>
        </p:spPr>
        <p:txBody>
          <a:bodyPr wrap="square" rtlCol="0">
            <a:spAutoFit/>
          </a:bodyPr>
          <a:lstStyle>
            <a:defPPr>
              <a:defRPr lang="en-US"/>
            </a:defPPr>
            <a:lvl1pPr>
              <a:defRPr sz="1692" baseline="30000">
                <a:latin typeface="Microsoft JhengHei" panose="020B0604030504040204" pitchFamily="34" charset="-120"/>
                <a:ea typeface="Microsoft JhengHei" panose="020B0604030504040204" pitchFamily="34" charset="-120"/>
              </a:defRPr>
            </a:lvl1pPr>
          </a:lstStyle>
          <a:p>
            <a:r>
              <a:rPr lang="en-US" sz="1400" dirty="0">
                <a:solidFill>
                  <a:schemeClr val="bg1"/>
                </a:solidFill>
              </a:rPr>
              <a:t>#13. 622</a:t>
            </a:r>
            <a:r>
              <a:rPr lang="en-US" sz="1400" baseline="30000" dirty="0">
                <a:solidFill>
                  <a:schemeClr val="bg1"/>
                </a:solidFill>
                <a:latin typeface="Microsoft JhengHei" panose="020B0604030504040204" pitchFamily="34" charset="-120"/>
                <a:ea typeface="Microsoft JhengHei" panose="020B0604030504040204" pitchFamily="34" charset="-120"/>
              </a:rPr>
              <a:t>- Silk Cut Pile</a:t>
            </a:r>
          </a:p>
        </p:txBody>
      </p:sp>
    </p:spTree>
    <p:extLst>
      <p:ext uri="{BB962C8B-B14F-4D97-AF65-F5344CB8AC3E}">
        <p14:creationId xmlns:p14="http://schemas.microsoft.com/office/powerpoint/2010/main" val="33042335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9C90CF-F49C-D0EF-F2BE-944F0D41AE30}"/>
            </a:ext>
          </a:extLst>
        </p:cNvPr>
        <p:cNvGrpSpPr/>
        <p:nvPr/>
      </p:nvGrpSpPr>
      <p:grpSpPr>
        <a:xfrm>
          <a:off x="0" y="0"/>
          <a:ext cx="0" cy="0"/>
          <a:chOff x="0" y="0"/>
          <a:chExt cx="0" cy="0"/>
        </a:xfrm>
      </p:grpSpPr>
      <p:sp>
        <p:nvSpPr>
          <p:cNvPr id="15" name="TextBox 14">
            <a:extLst>
              <a:ext uri="{FF2B5EF4-FFF2-40B4-BE49-F238E27FC236}">
                <a16:creationId xmlns:a16="http://schemas.microsoft.com/office/drawing/2014/main" id="{83A8E5E4-7CBF-0B07-629D-BE64551A9549}"/>
              </a:ext>
            </a:extLst>
          </p:cNvPr>
          <p:cNvSpPr txBox="1"/>
          <p:nvPr/>
        </p:nvSpPr>
        <p:spPr>
          <a:xfrm>
            <a:off x="269812" y="958089"/>
            <a:ext cx="6995842" cy="2435860"/>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n-US" sz="1400" b="1" i="0" u="none" strike="noStrike" baseline="30000" dirty="0">
                <a:solidFill>
                  <a:srgbClr val="000000"/>
                </a:solidFill>
                <a:latin typeface="Microsoft JhengHei" panose="020B0604030504040204" pitchFamily="34" charset="-120"/>
                <a:ea typeface="Microsoft JhengHei" panose="020B0604030504040204" pitchFamily="34" charset="-120"/>
              </a:rPr>
              <a:t> A custom rug is by nature a unique product. </a:t>
            </a:r>
          </a:p>
          <a:p>
            <a:pPr marL="285750" indent="-285750">
              <a:lnSpc>
                <a:spcPct val="150000"/>
              </a:lnSpc>
              <a:buFont typeface="Arial" panose="020B0604020202020204" pitchFamily="34" charset="0"/>
              <a:buChar char="•"/>
            </a:pPr>
            <a:r>
              <a:rPr lang="en-US" sz="1400" b="1" i="0" u="none" strike="noStrike" baseline="30000" dirty="0">
                <a:solidFill>
                  <a:srgbClr val="000000"/>
                </a:solidFill>
                <a:latin typeface="Microsoft JhengHei" panose="020B0604030504040204" pitchFamily="34" charset="-120"/>
                <a:ea typeface="Microsoft JhengHei" panose="020B0604030504040204" pitchFamily="34" charset="-120"/>
              </a:rPr>
              <a:t>Slight variations in color and size are normal.</a:t>
            </a:r>
          </a:p>
          <a:p>
            <a:pPr marL="285750" indent="-285750">
              <a:lnSpc>
                <a:spcPct val="150000"/>
              </a:lnSpc>
              <a:buFont typeface="Arial" panose="020B0604020202020204" pitchFamily="34" charset="0"/>
              <a:buChar char="•"/>
            </a:pPr>
            <a:r>
              <a:rPr lang="en-US" sz="1400" b="1" i="0" u="none" strike="noStrike" baseline="30000" dirty="0">
                <a:solidFill>
                  <a:srgbClr val="000000"/>
                </a:solidFill>
                <a:latin typeface="Microsoft JhengHei" panose="020B0604030504040204" pitchFamily="34" charset="-120"/>
                <a:ea typeface="Microsoft JhengHei" panose="020B0604030504040204" pitchFamily="34" charset="-120"/>
              </a:rPr>
              <a:t>Please note: all custom rugs can have a variance of +/- 3 inches.</a:t>
            </a:r>
          </a:p>
          <a:p>
            <a:pPr marL="285750" indent="-285750">
              <a:lnSpc>
                <a:spcPct val="150000"/>
              </a:lnSpc>
              <a:buFont typeface="Arial" panose="020B0604020202020204" pitchFamily="34" charset="0"/>
              <a:buChar char="•"/>
            </a:pPr>
            <a:r>
              <a:rPr lang="en-US" sz="1400" b="1" i="0" u="none" strike="noStrike" baseline="30000" dirty="0">
                <a:solidFill>
                  <a:srgbClr val="000000"/>
                </a:solidFill>
                <a:latin typeface="Microsoft JhengHei" panose="020B0604030504040204" pitchFamily="34" charset="-120"/>
                <a:ea typeface="Microsoft JhengHei" panose="020B0604030504040204" pitchFamily="34" charset="-120"/>
              </a:rPr>
              <a:t>No changes once order is placed.</a:t>
            </a:r>
          </a:p>
          <a:p>
            <a:pPr marL="285750" indent="-285750">
              <a:lnSpc>
                <a:spcPct val="150000"/>
              </a:lnSpc>
              <a:buFont typeface="Arial" panose="020B0604020202020204" pitchFamily="34" charset="0"/>
              <a:buChar char="•"/>
            </a:pPr>
            <a:r>
              <a:rPr lang="en-US" sz="1400" b="1" i="0" u="none" strike="noStrike" baseline="30000" dirty="0">
                <a:solidFill>
                  <a:srgbClr val="000000"/>
                </a:solidFill>
                <a:latin typeface="Microsoft JhengHei" panose="020B0604030504040204" pitchFamily="34" charset="-120"/>
                <a:ea typeface="Microsoft JhengHei" panose="020B0604030504040204" pitchFamily="34" charset="-120"/>
              </a:rPr>
              <a:t>No cancellations once items are in production.</a:t>
            </a:r>
          </a:p>
          <a:p>
            <a:pPr marL="285750" indent="-285750">
              <a:lnSpc>
                <a:spcPct val="150000"/>
              </a:lnSpc>
              <a:buFont typeface="Arial" panose="020B0604020202020204" pitchFamily="34" charset="0"/>
              <a:buChar char="•"/>
            </a:pPr>
            <a:r>
              <a:rPr lang="en-US" sz="1400" b="1" i="0" u="none" strike="noStrike" baseline="30000" dirty="0">
                <a:solidFill>
                  <a:srgbClr val="000000"/>
                </a:solidFill>
                <a:latin typeface="Microsoft JhengHei" panose="020B0604030504040204" pitchFamily="34" charset="-120"/>
                <a:ea typeface="Microsoft JhengHei" panose="020B0604030504040204" pitchFamily="34" charset="-120"/>
              </a:rPr>
              <a:t>You may cancel your custom rug order within 5 business days from the date of the order without penalty. If you wish to cancel standard customs after 5 business days, your deposit will be forfeited.</a:t>
            </a:r>
          </a:p>
          <a:p>
            <a:pPr marL="285750" indent="-285750">
              <a:lnSpc>
                <a:spcPct val="150000"/>
              </a:lnSpc>
              <a:buFont typeface="Arial" panose="020B0604020202020204" pitchFamily="34" charset="0"/>
              <a:buChar char="•"/>
            </a:pPr>
            <a:r>
              <a:rPr lang="en-US" sz="1400" b="1" i="0" u="none" strike="noStrike" baseline="30000" dirty="0">
                <a:solidFill>
                  <a:srgbClr val="000000"/>
                </a:solidFill>
                <a:latin typeface="Microsoft JhengHei" panose="020B0604030504040204" pitchFamily="34" charset="-120"/>
                <a:ea typeface="Microsoft JhengHei" panose="020B0604030504040204" pitchFamily="34" charset="-120"/>
              </a:rPr>
              <a:t> No returns/refunds of Custom Rug. </a:t>
            </a:r>
          </a:p>
          <a:p>
            <a:pPr marL="285750" indent="-285750">
              <a:lnSpc>
                <a:spcPct val="150000"/>
              </a:lnSpc>
              <a:buFont typeface="Arial" panose="020B0604020202020204" pitchFamily="34" charset="0"/>
              <a:buChar char="•"/>
            </a:pPr>
            <a:r>
              <a:rPr lang="en-US" sz="1400" b="1" i="0" u="none" strike="noStrike" baseline="30000" dirty="0">
                <a:solidFill>
                  <a:srgbClr val="000000"/>
                </a:solidFill>
                <a:latin typeface="Microsoft JhengHei" panose="020B0604030504040204" pitchFamily="34" charset="-120"/>
                <a:ea typeface="Microsoft JhengHei" panose="020B0604030504040204" pitchFamily="34" charset="-120"/>
              </a:rPr>
              <a:t>Size limitations vary between collections.</a:t>
            </a:r>
          </a:p>
          <a:p>
            <a:pPr marL="285750" indent="-285750">
              <a:lnSpc>
                <a:spcPct val="150000"/>
              </a:lnSpc>
              <a:buFont typeface="Arial" panose="020B0604020202020204" pitchFamily="34" charset="0"/>
              <a:buChar char="•"/>
            </a:pPr>
            <a:r>
              <a:rPr lang="en-US" sz="1400" b="1" i="0" u="none" strike="noStrike" baseline="30000" dirty="0">
                <a:solidFill>
                  <a:srgbClr val="000000"/>
                </a:solidFill>
                <a:latin typeface="Microsoft JhengHei" panose="020B0604030504040204" pitchFamily="34" charset="-120"/>
                <a:ea typeface="Microsoft JhengHei" panose="020B0604030504040204" pitchFamily="34" charset="-120"/>
              </a:rPr>
              <a:t> Production times are an estimate. All efforts will be made to produce in the time quoted.</a:t>
            </a:r>
          </a:p>
          <a:p>
            <a:pPr marL="285750" indent="-285750">
              <a:lnSpc>
                <a:spcPct val="150000"/>
              </a:lnSpc>
              <a:buFont typeface="Arial" panose="020B0604020202020204" pitchFamily="34" charset="0"/>
              <a:buChar char="•"/>
            </a:pPr>
            <a:r>
              <a:rPr lang="en-US" sz="1400" b="1" i="0" u="none" strike="noStrike" baseline="30000" dirty="0">
                <a:solidFill>
                  <a:srgbClr val="000000"/>
                </a:solidFill>
                <a:latin typeface="Microsoft JhengHei" panose="020B0604030504040204" pitchFamily="34" charset="-120"/>
                <a:ea typeface="Microsoft JhengHei" panose="020B0604030504040204" pitchFamily="34" charset="-120"/>
              </a:rPr>
              <a:t> Final delivery of your custom rug will vary  based on size, construction and shipping method.</a:t>
            </a:r>
          </a:p>
        </p:txBody>
      </p:sp>
      <p:sp>
        <p:nvSpPr>
          <p:cNvPr id="16" name="TextBox 15">
            <a:extLst>
              <a:ext uri="{FF2B5EF4-FFF2-40B4-BE49-F238E27FC236}">
                <a16:creationId xmlns:a16="http://schemas.microsoft.com/office/drawing/2014/main" id="{C7FEB3EB-52C9-14E6-5F75-46C69A9EEBAD}"/>
              </a:ext>
            </a:extLst>
          </p:cNvPr>
          <p:cNvSpPr txBox="1"/>
          <p:nvPr/>
        </p:nvSpPr>
        <p:spPr>
          <a:xfrm>
            <a:off x="248547" y="568796"/>
            <a:ext cx="1977655" cy="375872"/>
          </a:xfrm>
          <a:prstGeom prst="rect">
            <a:avLst/>
          </a:prstGeom>
          <a:noFill/>
        </p:spPr>
        <p:txBody>
          <a:bodyPr wrap="square" rtlCol="0">
            <a:spAutoFit/>
          </a:bodyPr>
          <a:lstStyle/>
          <a:p>
            <a:pPr>
              <a:lnSpc>
                <a:spcPct val="150000"/>
              </a:lnSpc>
            </a:pPr>
            <a:r>
              <a:rPr lang="en-US" sz="1400" b="1" dirty="0">
                <a:solidFill>
                  <a:schemeClr val="tx1">
                    <a:lumMod val="50000"/>
                    <a:lumOff val="50000"/>
                  </a:schemeClr>
                </a:solidFill>
                <a:latin typeface="Microsoft JhengHei" panose="020B0604030504040204" pitchFamily="34" charset="-120"/>
                <a:ea typeface="Microsoft JhengHei" panose="020B0604030504040204" pitchFamily="34" charset="-120"/>
              </a:rPr>
              <a:t>INFO SECTION</a:t>
            </a:r>
          </a:p>
        </p:txBody>
      </p:sp>
      <p:sp>
        <p:nvSpPr>
          <p:cNvPr id="3" name="TextBox 2">
            <a:extLst>
              <a:ext uri="{FF2B5EF4-FFF2-40B4-BE49-F238E27FC236}">
                <a16:creationId xmlns:a16="http://schemas.microsoft.com/office/drawing/2014/main" id="{2F806AC9-150B-0AC9-76D1-AC7598ABA2A5}"/>
              </a:ext>
            </a:extLst>
          </p:cNvPr>
          <p:cNvSpPr txBox="1"/>
          <p:nvPr/>
        </p:nvSpPr>
        <p:spPr>
          <a:xfrm>
            <a:off x="393283" y="11402102"/>
            <a:ext cx="2728641" cy="276999"/>
          </a:xfrm>
          <a:prstGeom prst="rect">
            <a:avLst/>
          </a:prstGeom>
          <a:noFill/>
        </p:spPr>
        <p:txBody>
          <a:bodyPr wrap="square" rtlCol="0">
            <a:spAutoFit/>
          </a:bodyPr>
          <a:lstStyle/>
          <a:p>
            <a:r>
              <a:rPr lang="en-US" sz="1200" b="1" dirty="0">
                <a:solidFill>
                  <a:schemeClr val="tx1">
                    <a:lumMod val="50000"/>
                    <a:lumOff val="50000"/>
                  </a:schemeClr>
                </a:solidFill>
              </a:rPr>
              <a:t>Signature : ____________________</a:t>
            </a:r>
          </a:p>
        </p:txBody>
      </p:sp>
      <p:sp>
        <p:nvSpPr>
          <p:cNvPr id="4" name="TextBox 3">
            <a:extLst>
              <a:ext uri="{FF2B5EF4-FFF2-40B4-BE49-F238E27FC236}">
                <a16:creationId xmlns:a16="http://schemas.microsoft.com/office/drawing/2014/main" id="{0D7BBC99-AE93-306B-4C4A-AE6280801EE2}"/>
              </a:ext>
            </a:extLst>
          </p:cNvPr>
          <p:cNvSpPr txBox="1"/>
          <p:nvPr/>
        </p:nvSpPr>
        <p:spPr>
          <a:xfrm>
            <a:off x="5119357" y="11435295"/>
            <a:ext cx="2419127" cy="276999"/>
          </a:xfrm>
          <a:prstGeom prst="rect">
            <a:avLst/>
          </a:prstGeom>
          <a:noFill/>
        </p:spPr>
        <p:txBody>
          <a:bodyPr wrap="square" rtlCol="0">
            <a:spAutoFit/>
          </a:bodyPr>
          <a:lstStyle/>
          <a:p>
            <a:r>
              <a:rPr lang="en-US" sz="1200" b="1" dirty="0">
                <a:solidFill>
                  <a:schemeClr val="tx1">
                    <a:lumMod val="50000"/>
                    <a:lumOff val="50000"/>
                  </a:schemeClr>
                </a:solidFill>
              </a:rPr>
              <a:t>Date of Approval :_____________</a:t>
            </a:r>
          </a:p>
        </p:txBody>
      </p:sp>
      <p:pic>
        <p:nvPicPr>
          <p:cNvPr id="6" name="Picture 5">
            <a:extLst>
              <a:ext uri="{FF2B5EF4-FFF2-40B4-BE49-F238E27FC236}">
                <a16:creationId xmlns:a16="http://schemas.microsoft.com/office/drawing/2014/main" id="{DA0D86CA-EFF2-DDAE-3FA1-BE971A68F276}"/>
              </a:ext>
            </a:extLst>
          </p:cNvPr>
          <p:cNvPicPr>
            <a:picLocks noChangeAspect="1"/>
          </p:cNvPicPr>
          <p:nvPr/>
        </p:nvPicPr>
        <p:blipFill rotWithShape="1">
          <a:blip r:embed="rId2">
            <a:extLst>
              <a:ext uri="{28A0092B-C50C-407E-A947-70E740481C1C}">
                <a14:useLocalDpi xmlns:a14="http://schemas.microsoft.com/office/drawing/2010/main" val="0"/>
              </a:ext>
            </a:extLst>
          </a:blip>
          <a:srcRect l="20526" t="48840" r="18681" b="45910"/>
          <a:stretch/>
        </p:blipFill>
        <p:spPr>
          <a:xfrm>
            <a:off x="272504" y="206421"/>
            <a:ext cx="1977655" cy="303711"/>
          </a:xfrm>
          <a:prstGeom prst="rect">
            <a:avLst/>
          </a:prstGeom>
        </p:spPr>
      </p:pic>
      <p:cxnSp>
        <p:nvCxnSpPr>
          <p:cNvPr id="7" name="Straight Connector 6">
            <a:extLst>
              <a:ext uri="{FF2B5EF4-FFF2-40B4-BE49-F238E27FC236}">
                <a16:creationId xmlns:a16="http://schemas.microsoft.com/office/drawing/2014/main" id="{5538F1C8-1094-B0E5-3C99-7BF843B6E72B}"/>
              </a:ext>
            </a:extLst>
          </p:cNvPr>
          <p:cNvCxnSpPr>
            <a:cxnSpLocks/>
          </p:cNvCxnSpPr>
          <p:nvPr/>
        </p:nvCxnSpPr>
        <p:spPr>
          <a:xfrm>
            <a:off x="2123089" y="452127"/>
            <a:ext cx="5659821" cy="22336"/>
          </a:xfrm>
          <a:prstGeom prst="line">
            <a:avLst/>
          </a:prstGeom>
          <a:ln w="3175">
            <a:solidFill>
              <a:schemeClr val="accent2"/>
            </a:solidFill>
          </a:ln>
        </p:spPr>
        <p:style>
          <a:lnRef idx="3">
            <a:schemeClr val="dk1"/>
          </a:lnRef>
          <a:fillRef idx="0">
            <a:schemeClr val="dk1"/>
          </a:fillRef>
          <a:effectRef idx="2">
            <a:schemeClr val="dk1"/>
          </a:effectRef>
          <a:fontRef idx="minor">
            <a:schemeClr val="tx1"/>
          </a:fontRef>
        </p:style>
      </p:cxnSp>
      <p:sp>
        <p:nvSpPr>
          <p:cNvPr id="13" name="TextBox 12">
            <a:extLst>
              <a:ext uri="{FF2B5EF4-FFF2-40B4-BE49-F238E27FC236}">
                <a16:creationId xmlns:a16="http://schemas.microsoft.com/office/drawing/2014/main" id="{2B54C10A-AAB6-FDF8-51A4-8D1C4CCAC7F7}"/>
              </a:ext>
            </a:extLst>
          </p:cNvPr>
          <p:cNvSpPr txBox="1"/>
          <p:nvPr/>
        </p:nvSpPr>
        <p:spPr>
          <a:xfrm>
            <a:off x="6388125" y="468723"/>
            <a:ext cx="1977655" cy="246221"/>
          </a:xfrm>
          <a:prstGeom prst="rect">
            <a:avLst/>
          </a:prstGeom>
          <a:noFill/>
        </p:spPr>
        <p:txBody>
          <a:bodyPr wrap="square" rtlCol="0">
            <a:spAutoFit/>
          </a:bodyPr>
          <a:lstStyle/>
          <a:p>
            <a:r>
              <a:rPr lang="en-US" sz="1000" dirty="0">
                <a:solidFill>
                  <a:schemeClr val="tx1">
                    <a:lumMod val="50000"/>
                    <a:lumOff val="50000"/>
                  </a:schemeClr>
                </a:solidFill>
                <a:latin typeface="Microsoft JhengHei Light" panose="020B0304030504040204" pitchFamily="34" charset="-120"/>
                <a:ea typeface="Microsoft JhengHei Light" panose="020B0304030504040204" pitchFamily="34" charset="-120"/>
              </a:rPr>
              <a:t>Customized Project</a:t>
            </a:r>
          </a:p>
        </p:txBody>
      </p:sp>
    </p:spTree>
    <p:extLst>
      <p:ext uri="{BB962C8B-B14F-4D97-AF65-F5344CB8AC3E}">
        <p14:creationId xmlns:p14="http://schemas.microsoft.com/office/powerpoint/2010/main" val="603856744"/>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6725</TotalTime>
  <Words>671</Words>
  <Application>Microsoft Office PowerPoint</Application>
  <PresentationFormat>Custom</PresentationFormat>
  <Paragraphs>110</Paragraphs>
  <Slides>3</Slides>
  <Notes>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vt:i4>
      </vt:variant>
    </vt:vector>
  </HeadingPairs>
  <TitlesOfParts>
    <vt:vector size="9" baseType="lpstr">
      <vt:lpstr>Microsoft JhengHei</vt:lpstr>
      <vt:lpstr>Microsoft JhengHei Light</vt:lpstr>
      <vt:lpstr>Arial</vt:lpstr>
      <vt:lpstr>Calibri</vt:lpstr>
      <vt:lpstr>Calibri Light</vt:lpstr>
      <vt:lpstr>Office Theme</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Ishita Karelia</dc:creator>
  <cp:lastModifiedBy>Ritika Singh</cp:lastModifiedBy>
  <cp:revision>250</cp:revision>
  <dcterms:created xsi:type="dcterms:W3CDTF">2023-06-02T05:25:28Z</dcterms:created>
  <dcterms:modified xsi:type="dcterms:W3CDTF">2026-09-19T10:42:22Z</dcterms:modified>
</cp:coreProperties>
</file>
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306" r:id="rId2"/>
    <p:sldId id="287" r:id="rId3"/>
  </p:sldIdLst>
  <p:sldSz cx="7772400" cy="11887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44" userDrawn="1">
          <p15:clr>
            <a:srgbClr val="A4A3A4"/>
          </p15:clr>
        </p15:guide>
        <p15:guide id="2" pos="3264" userDrawn="1">
          <p15:clr>
            <a:srgbClr val="A4A3A4"/>
          </p15:clr>
        </p15:guide>
        <p15:guide id="3" pos="288" userDrawn="1">
          <p15:clr>
            <a:srgbClr val="A4A3A4"/>
          </p15:clr>
        </p15:guide>
        <p15:guide id="4" pos="4603" userDrawn="1">
          <p15:clr>
            <a:srgbClr val="A4A3A4"/>
          </p15:clr>
        </p15:guide>
        <p15:guide id="5" orient="horz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A3A3"/>
    <a:srgbClr val="585D69"/>
    <a:srgbClr val="736927"/>
    <a:srgbClr val="EBBFB3"/>
    <a:srgbClr val="482C39"/>
    <a:srgbClr val="B26017"/>
    <a:srgbClr val="DFD7D5"/>
    <a:srgbClr val="F2C04C"/>
    <a:srgbClr val="F5AE0C"/>
    <a:srgbClr val="DE9E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7" autoAdjust="0"/>
    <p:restoredTop sz="96135" autoAdjust="0"/>
  </p:normalViewPr>
  <p:slideViewPr>
    <p:cSldViewPr snapToGrid="0" showGuides="1">
      <p:cViewPr varScale="1">
        <p:scale>
          <a:sx n="60" d="100"/>
          <a:sy n="60" d="100"/>
        </p:scale>
        <p:origin x="3120" y="102"/>
      </p:cViewPr>
      <p:guideLst>
        <p:guide orient="horz" pos="4344"/>
        <p:guide pos="3264"/>
        <p:guide pos="288"/>
        <p:guide pos="4603"/>
        <p:guide orient="horz"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A1B5F9-2745-4921-BE8D-322FCCFAD1D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19350" y="1143000"/>
            <a:ext cx="2019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E04D4-8DDB-4C0B-A2CE-0EF8FFC98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2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2F923-AA8F-C4EC-A6C2-3BD0BA24C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010D0-9321-3D9C-6688-3D2A3DC07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2D886-4041-2875-1CA1-F87DB0ED6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DCA48-DC29-B436-5581-A720C59BC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E04D4-8DDB-4C0B-A2CE-0EF8FFC98C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2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945429"/>
            <a:ext cx="6606540" cy="4138507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6243533"/>
            <a:ext cx="5829300" cy="2869987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929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616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963549"/>
            <a:ext cx="6703695" cy="494474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7955072"/>
            <a:ext cx="6703695" cy="260032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96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3164417"/>
            <a:ext cx="330327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3164417"/>
            <a:ext cx="330327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055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32886"/>
            <a:ext cx="6703695" cy="22976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914016"/>
            <a:ext cx="3288089" cy="142811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4342130"/>
            <a:ext cx="3288089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914016"/>
            <a:ext cx="3304282" cy="142811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4342130"/>
            <a:ext cx="3304282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724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724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55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792480"/>
            <a:ext cx="2506801" cy="277368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711539"/>
            <a:ext cx="3934778" cy="8447617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566160"/>
            <a:ext cx="2506801" cy="6606753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480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792480"/>
            <a:ext cx="2506801" cy="277368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711539"/>
            <a:ext cx="3934778" cy="8447617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566160"/>
            <a:ext cx="2506801" cy="6606753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465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364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632883"/>
            <a:ext cx="1675924" cy="100738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632883"/>
            <a:ext cx="4930616" cy="10073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7CA-245A-48BA-B134-2EEE86C5EC8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FD6E-9B24-4176-B318-6E4F28A526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09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632886"/>
            <a:ext cx="6703695" cy="2297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3164417"/>
            <a:ext cx="6703695" cy="754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11017676"/>
            <a:ext cx="174879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F97CA-245A-48BA-B134-2EEE86C5EC8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11017676"/>
            <a:ext cx="2623185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11017676"/>
            <a:ext cx="174879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4FD6E-9B24-4176-B318-6E4F28A526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909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99322-BD3F-40CD-8189-AE8775F54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15EFCA06-F4B9-93A2-D21F-62275374EF5E}"/>
              </a:ext>
            </a:extLst>
          </p:cNvPr>
          <p:cNvSpPr txBox="1"/>
          <p:nvPr/>
        </p:nvSpPr>
        <p:spPr>
          <a:xfrm>
            <a:off x="5325694" y="6262884"/>
            <a:ext cx="2457171" cy="265907"/>
          </a:xfrm>
          <a:prstGeom prst="rect">
            <a:avLst/>
          </a:prstGeom>
          <a:solidFill>
            <a:srgbClr val="DE9E31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#16. Silk Wool Mix Ply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708B15-1A95-5D35-025E-F4055DCEAC51}"/>
              </a:ext>
            </a:extLst>
          </p:cNvPr>
          <p:cNvSpPr txBox="1"/>
          <p:nvPr/>
        </p:nvSpPr>
        <p:spPr>
          <a:xfrm>
            <a:off x="5331271" y="5952410"/>
            <a:ext cx="2457171" cy="265907"/>
          </a:xfrm>
          <a:prstGeom prst="rect">
            <a:avLst/>
          </a:prstGeom>
          <a:solidFill>
            <a:srgbClr val="DC910D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#15. Silk Wool Mix Ply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B504F1-441B-A4D8-77C0-64F65CC4919F}"/>
              </a:ext>
            </a:extLst>
          </p:cNvPr>
          <p:cNvCxnSpPr>
            <a:cxnSpLocks/>
          </p:cNvCxnSpPr>
          <p:nvPr/>
        </p:nvCxnSpPr>
        <p:spPr>
          <a:xfrm>
            <a:off x="2123089" y="452127"/>
            <a:ext cx="5659821" cy="22336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426005B-2BFA-D192-DFDF-951DF1EC8CDA}"/>
              </a:ext>
            </a:extLst>
          </p:cNvPr>
          <p:cNvSpPr txBox="1"/>
          <p:nvPr/>
        </p:nvSpPr>
        <p:spPr>
          <a:xfrm>
            <a:off x="6415231" y="218716"/>
            <a:ext cx="197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i Baiti" panose="03000500000000000000" pitchFamily="66" charset="0"/>
                <a:ea typeface="Microsoft Yi Baiti" panose="03000500000000000000" pitchFamily="66" charset="0"/>
              </a:rPr>
              <a:t>Date : 20/05/026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86FAC-632E-5BE6-B666-67E822EE5440}"/>
              </a:ext>
            </a:extLst>
          </p:cNvPr>
          <p:cNvSpPr txBox="1"/>
          <p:nvPr/>
        </p:nvSpPr>
        <p:spPr>
          <a:xfrm>
            <a:off x="6436251" y="420597"/>
            <a:ext cx="19776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i Baiti" panose="03000500000000000000" pitchFamily="66" charset="0"/>
                <a:ea typeface="Microsoft Yi Baiti" panose="03000500000000000000" pitchFamily="66" charset="0"/>
              </a:rPr>
              <a:t>Customized Project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DA9655-9A1A-03D8-D02F-4DDCC0F93C03}"/>
              </a:ext>
            </a:extLst>
          </p:cNvPr>
          <p:cNvSpPr txBox="1"/>
          <p:nvPr/>
        </p:nvSpPr>
        <p:spPr>
          <a:xfrm>
            <a:off x="393283" y="11402102"/>
            <a:ext cx="27286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Signature : ____________________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A7E8B0-1930-3839-1189-87E9C60E4408}"/>
              </a:ext>
            </a:extLst>
          </p:cNvPr>
          <p:cNvSpPr txBox="1"/>
          <p:nvPr/>
        </p:nvSpPr>
        <p:spPr>
          <a:xfrm>
            <a:off x="5119357" y="11435295"/>
            <a:ext cx="2419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Date of Approval :_____________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CA981C-4909-9790-2983-C2BC663C079A}"/>
              </a:ext>
            </a:extLst>
          </p:cNvPr>
          <p:cNvSpPr txBox="1"/>
          <p:nvPr/>
        </p:nvSpPr>
        <p:spPr>
          <a:xfrm>
            <a:off x="272504" y="6802389"/>
            <a:ext cx="2419036" cy="1672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1400" b="0" i="0" u="none" strike="noStrike" baseline="30000" dirty="0">
                <a:latin typeface="Arial" panose="020B0604020202020204" pitchFamily="34" charset="0"/>
                <a:cs typeface="Arial" panose="020B0604020202020204" pitchFamily="34" charset="0"/>
              </a:rPr>
              <a:t>SIZE </a:t>
            </a:r>
          </a:p>
          <a:p>
            <a:pPr marR="0" algn="l" rtl="0"/>
            <a:r>
              <a:rPr lang="en-US" sz="1400" b="0" i="0" u="none" strike="noStrike" baseline="30000" dirty="0">
                <a:latin typeface="Arial" panose="020B0604020202020204" pitchFamily="34" charset="0"/>
                <a:cs typeface="Arial" panose="020B0604020202020204" pitchFamily="34" charset="0"/>
              </a:rPr>
              <a:t>CUSTOMER METRICS  </a:t>
            </a:r>
          </a:p>
          <a:p>
            <a:pPr marR="0" algn="l" rtl="0"/>
            <a:r>
              <a:rPr lang="en-US" sz="1400" b="0" i="0" u="none" strike="noStrike" baseline="30000" dirty="0">
                <a:latin typeface="Arial" panose="020B0604020202020204" pitchFamily="34" charset="0"/>
                <a:cs typeface="Arial" panose="020B0604020202020204" pitchFamily="34" charset="0"/>
              </a:rPr>
              <a:t>SHAPE </a:t>
            </a:r>
          </a:p>
          <a:p>
            <a:pPr marR="0" algn="l" rtl="0"/>
            <a:r>
              <a:rPr lang="en-US" sz="1400" b="0" i="0" u="none" strike="noStrike" baseline="30000" dirty="0">
                <a:latin typeface="Arial" panose="020B0604020202020204" pitchFamily="34" charset="0"/>
                <a:cs typeface="Arial" panose="020B0604020202020204" pitchFamily="34" charset="0"/>
              </a:rPr>
              <a:t>RUG QUALITY  </a:t>
            </a:r>
          </a:p>
          <a:p>
            <a:pPr marR="0" algn="l" rtl="0"/>
            <a:r>
              <a:rPr lang="en-US" sz="1400" b="0" i="0" u="none" strike="noStrike" baseline="30000" dirty="0">
                <a:latin typeface="Arial" panose="020B0604020202020204" pitchFamily="34" charset="0"/>
                <a:cs typeface="Arial" panose="020B0604020202020204" pitchFamily="34" charset="0"/>
              </a:rPr>
              <a:t>FIBRE CONTENT  </a:t>
            </a:r>
          </a:p>
          <a:p>
            <a:pPr marR="0" algn="l" rtl="0"/>
            <a:r>
              <a:rPr lang="en-US" sz="1400" b="0" i="0" u="none" strike="noStrike" baseline="30000" dirty="0">
                <a:latin typeface="Arial" panose="020B0604020202020204" pitchFamily="34" charset="0"/>
                <a:cs typeface="Arial" panose="020B0604020202020204" pitchFamily="34" charset="0"/>
              </a:rPr>
              <a:t>DYEING TECHNIQUE </a:t>
            </a:r>
          </a:p>
          <a:p>
            <a:pPr marR="0" algn="l" rtl="0"/>
            <a:r>
              <a:rPr lang="en-US" sz="1400" b="0" i="0" u="none" strike="noStrike" baseline="30000" dirty="0">
                <a:latin typeface="Arial" panose="020B0604020202020204" pitchFamily="34" charset="0"/>
                <a:cs typeface="Arial" panose="020B0604020202020204" pitchFamily="34" charset="0"/>
              </a:rPr>
              <a:t>FINISH EDGE </a:t>
            </a:r>
          </a:p>
          <a:p>
            <a:pPr marR="0" algn="l" rtl="0"/>
            <a:r>
              <a:rPr lang="en-US" sz="1400" b="0" i="0" u="none" strike="noStrike" baseline="30000" dirty="0">
                <a:latin typeface="Arial" panose="020B0604020202020204" pitchFamily="34" charset="0"/>
                <a:cs typeface="Arial" panose="020B0604020202020204" pitchFamily="34" charset="0"/>
              </a:rPr>
              <a:t>FINISH PILE HEIGHT  </a:t>
            </a:r>
          </a:p>
          <a:p>
            <a:pPr marR="0" algn="l" rtl="0"/>
            <a:r>
              <a:rPr lang="en-US" sz="1400" b="0" i="0" u="none" strike="noStrike" baseline="30000" dirty="0">
                <a:latin typeface="Arial" panose="020B0604020202020204" pitchFamily="34" charset="0"/>
                <a:cs typeface="Arial" panose="020B0604020202020204" pitchFamily="34" charset="0"/>
              </a:rPr>
              <a:t>FINISH PILE TYPE </a:t>
            </a:r>
          </a:p>
          <a:p>
            <a:pPr marR="0" algn="l" rtl="0"/>
            <a:r>
              <a:rPr lang="en-US" sz="1400" b="0" i="0" u="none" strike="noStrike" baseline="30000" dirty="0">
                <a:latin typeface="Arial" panose="020B0604020202020204" pitchFamily="34" charset="0"/>
                <a:cs typeface="Arial" panose="020B0604020202020204" pitchFamily="34" charset="0"/>
              </a:rPr>
              <a:t>FINISH BACKING </a:t>
            </a:r>
          </a:p>
          <a:p>
            <a:pPr marR="0" algn="l" rtl="0"/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FINISH WASH </a:t>
            </a:r>
            <a:endParaRPr lang="en-US" sz="1400" b="0" i="0" u="none" strike="noStrike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2E6B869-E6DA-A8EF-79CE-06E7A4746DBB}"/>
              </a:ext>
            </a:extLst>
          </p:cNvPr>
          <p:cNvGrpSpPr/>
          <p:nvPr/>
        </p:nvGrpSpPr>
        <p:grpSpPr>
          <a:xfrm>
            <a:off x="208336" y="1555603"/>
            <a:ext cx="4875404" cy="4787635"/>
            <a:chOff x="251699" y="2183122"/>
            <a:chExt cx="4789373" cy="3867260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9B247519-8027-1AFF-CEDF-82803F31EA1C}"/>
                </a:ext>
              </a:extLst>
            </p:cNvPr>
            <p:cNvCxnSpPr>
              <a:cxnSpLocks/>
            </p:cNvCxnSpPr>
            <p:nvPr/>
          </p:nvCxnSpPr>
          <p:spPr>
            <a:xfrm>
              <a:off x="251699" y="6050382"/>
              <a:ext cx="4684761" cy="0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76B014C-967C-163C-7F98-A469FB2F6C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3105" y="2183122"/>
              <a:ext cx="17967" cy="3824646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619D86BA-BFCC-4508-6418-76642A4FBAB7}"/>
              </a:ext>
            </a:extLst>
          </p:cNvPr>
          <p:cNvSpPr txBox="1"/>
          <p:nvPr/>
        </p:nvSpPr>
        <p:spPr>
          <a:xfrm>
            <a:off x="5368595" y="1354394"/>
            <a:ext cx="23770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highlight>
                  <a:srgbClr val="000080"/>
                </a:highlight>
                <a:latin typeface="Arial" panose="020B0604020202020204" pitchFamily="34" charset="0"/>
                <a:ea typeface="Microsoft Yi Baiti" panose="03000500000000000000" pitchFamily="66" charset="0"/>
                <a:cs typeface="Arial" panose="020B0604020202020204" pitchFamily="34" charset="0"/>
              </a:rPr>
              <a:t>JRC +ARS  reference 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BC6EEA-3605-83E5-99BD-91C7A9B92FD0}"/>
              </a:ext>
            </a:extLst>
          </p:cNvPr>
          <p:cNvSpPr txBox="1"/>
          <p:nvPr/>
        </p:nvSpPr>
        <p:spPr>
          <a:xfrm>
            <a:off x="1711707" y="6802390"/>
            <a:ext cx="2117540" cy="1672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: 5’ Feet X 5 Feet </a:t>
            </a:r>
            <a:b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: CMS </a:t>
            </a:r>
            <a:b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: RCT</a:t>
            </a:r>
            <a:b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: Hand Knotted 11/11 </a:t>
            </a:r>
            <a:b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: Silk &amp; NZ Wool </a:t>
            </a:r>
            <a:b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b="0" i="0" u="none" strike="noStrike" baseline="30000" dirty="0">
                <a:latin typeface="Arial" panose="020B0604020202020204" pitchFamily="34" charset="0"/>
                <a:cs typeface="Arial" panose="020B0604020202020204" pitchFamily="34" charset="0"/>
              </a:rPr>
              <a:t>Standard</a:t>
            </a:r>
          </a:p>
          <a:p>
            <a:pPr marR="0" algn="l" rtl="0"/>
            <a:r>
              <a:rPr lang="en-US" sz="1400" b="0" i="0" u="none" strike="noStrike" baseline="30000" dirty="0">
                <a:latin typeface="Arial" panose="020B0604020202020204" pitchFamily="34" charset="0"/>
                <a:cs typeface="Arial" panose="020B0604020202020204" pitchFamily="34" charset="0"/>
              </a:rPr>
              <a:t>: 4 side binding </a:t>
            </a:r>
          </a:p>
          <a:p>
            <a:pPr marR="0" algn="l" rtl="0"/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: Standard</a:t>
            </a:r>
            <a:endParaRPr lang="en-US" sz="1400" b="0" i="0" u="none" strike="noStrike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l" rtl="0"/>
            <a:r>
              <a:rPr lang="en-US" sz="1400" b="0" i="0" u="none" strike="noStrike" baseline="30000" dirty="0">
                <a:latin typeface="Arial" panose="020B0604020202020204" pitchFamily="34" charset="0"/>
                <a:cs typeface="Arial" panose="020B0604020202020204" pitchFamily="34" charset="0"/>
              </a:rPr>
              <a:t>: Cut Pile</a:t>
            </a:r>
            <a:b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: No </a:t>
            </a:r>
            <a:r>
              <a:rPr lang="en-US" sz="1400" b="0" i="0" u="none" strike="noStrike" baseline="30000" dirty="0">
                <a:latin typeface="Arial" panose="020B0604020202020204" pitchFamily="34" charset="0"/>
                <a:cs typeface="Arial" panose="020B0604020202020204" pitchFamily="34" charset="0"/>
              </a:rPr>
              <a:t>Backing </a:t>
            </a:r>
          </a:p>
          <a:p>
            <a:pPr marR="0" algn="l" rtl="0"/>
            <a:r>
              <a:rPr lang="en-US" sz="1400" b="0" i="0" u="none" strike="noStrike" baseline="30000" dirty="0">
                <a:latin typeface="Arial" panose="020B0604020202020204" pitchFamily="34" charset="0"/>
                <a:cs typeface="Arial" panose="020B0604020202020204" pitchFamily="34" charset="0"/>
              </a:rPr>
              <a:t>: Standard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4F198-D384-A917-C7B1-6487B42E2B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6" t="48840" r="18681" b="45910"/>
          <a:stretch/>
        </p:blipFill>
        <p:spPr>
          <a:xfrm>
            <a:off x="272504" y="206421"/>
            <a:ext cx="1977655" cy="303711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5359B23-35DC-36B6-19D9-A3340D44DF61}"/>
              </a:ext>
            </a:extLst>
          </p:cNvPr>
          <p:cNvCxnSpPr>
            <a:cxnSpLocks/>
          </p:cNvCxnSpPr>
          <p:nvPr/>
        </p:nvCxnSpPr>
        <p:spPr>
          <a:xfrm>
            <a:off x="2123089" y="452127"/>
            <a:ext cx="5659821" cy="22336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72980F0-E12E-EDC9-8464-F0376A337D7E}"/>
              </a:ext>
            </a:extLst>
          </p:cNvPr>
          <p:cNvSpPr txBox="1"/>
          <p:nvPr/>
        </p:nvSpPr>
        <p:spPr>
          <a:xfrm>
            <a:off x="243953" y="775433"/>
            <a:ext cx="48040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u="sng">
                <a:solidFill>
                  <a:srgbClr val="C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PD-12926-ND</a:t>
            </a:r>
            <a:endParaRPr lang="en-US" sz="900" b="1" u="sng" dirty="0">
              <a:solidFill>
                <a:srgbClr val="C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822D69-FCEE-3AE7-DD69-488445954DDD}"/>
              </a:ext>
            </a:extLst>
          </p:cNvPr>
          <p:cNvSpPr txBox="1"/>
          <p:nvPr/>
        </p:nvSpPr>
        <p:spPr>
          <a:xfrm>
            <a:off x="243953" y="522581"/>
            <a:ext cx="4479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Construction : Hand Knotted – 11/11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0FF66E-38A1-1BCA-166C-72B5771755AF}"/>
              </a:ext>
            </a:extLst>
          </p:cNvPr>
          <p:cNvSpPr txBox="1"/>
          <p:nvPr/>
        </p:nvSpPr>
        <p:spPr>
          <a:xfrm>
            <a:off x="5328536" y="1980765"/>
            <a:ext cx="2457171" cy="265907"/>
          </a:xfrm>
          <a:prstGeom prst="rect">
            <a:avLst/>
          </a:prstGeom>
          <a:solidFill>
            <a:srgbClr val="094680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#2. Silk Wool Mix Ply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D566B0-4E24-A172-CF5A-C4F9FA68B136}"/>
              </a:ext>
            </a:extLst>
          </p:cNvPr>
          <p:cNvSpPr txBox="1"/>
          <p:nvPr/>
        </p:nvSpPr>
        <p:spPr>
          <a:xfrm>
            <a:off x="5318071" y="1670291"/>
            <a:ext cx="2457171" cy="265907"/>
          </a:xfrm>
          <a:prstGeom prst="rect">
            <a:avLst/>
          </a:prstGeom>
          <a:solidFill>
            <a:srgbClr val="09255F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#1. Silk Wool Mix Ply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70869D-1663-BDAD-72EB-FC7FD5699B38}"/>
              </a:ext>
            </a:extLst>
          </p:cNvPr>
          <p:cNvSpPr txBox="1"/>
          <p:nvPr/>
        </p:nvSpPr>
        <p:spPr>
          <a:xfrm>
            <a:off x="2380908" y="11071125"/>
            <a:ext cx="23770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highlight>
                  <a:srgbClr val="000080"/>
                </a:highlight>
                <a:latin typeface="Arial" panose="020B0604020202020204" pitchFamily="34" charset="0"/>
                <a:ea typeface="Microsoft Yi Baiti" panose="03000500000000000000" pitchFamily="66" charset="0"/>
                <a:cs typeface="Arial" panose="020B0604020202020204" pitchFamily="34" charset="0"/>
              </a:rPr>
              <a:t>Rug Image / Design Intent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CC239B-C7C2-CA98-DFA6-BE790371D4E7}"/>
              </a:ext>
            </a:extLst>
          </p:cNvPr>
          <p:cNvSpPr txBox="1"/>
          <p:nvPr/>
        </p:nvSpPr>
        <p:spPr>
          <a:xfrm>
            <a:off x="5161429" y="9458654"/>
            <a:ext cx="19398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u="sng" dirty="0">
                <a:solidFill>
                  <a:srgbClr val="C00000"/>
                </a:solidFill>
                <a:highlight>
                  <a:srgbClr val="E8E0D8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Pile Height – 7-8 MM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CDD6AD-0BC5-0C7A-8EF0-83827C3CC1FB}"/>
              </a:ext>
            </a:extLst>
          </p:cNvPr>
          <p:cNvSpPr txBox="1"/>
          <p:nvPr/>
        </p:nvSpPr>
        <p:spPr>
          <a:xfrm>
            <a:off x="5161429" y="687481"/>
            <a:ext cx="23770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u="sng" dirty="0">
                <a:solidFill>
                  <a:srgbClr val="C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Sands Solution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9ADF02-6C8B-C4F6-A02A-508D03408E73}"/>
              </a:ext>
            </a:extLst>
          </p:cNvPr>
          <p:cNvSpPr txBox="1"/>
          <p:nvPr/>
        </p:nvSpPr>
        <p:spPr>
          <a:xfrm rot="16200000">
            <a:off x="4223145" y="3098021"/>
            <a:ext cx="19398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5 Feet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AD0667-E4DC-AFE0-F9CB-EE766AAB13F0}"/>
              </a:ext>
            </a:extLst>
          </p:cNvPr>
          <p:cNvSpPr txBox="1"/>
          <p:nvPr/>
        </p:nvSpPr>
        <p:spPr>
          <a:xfrm>
            <a:off x="2538774" y="6377456"/>
            <a:ext cx="19398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5’Feet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21F718-5E8F-E8B1-B58A-F26C8C64CD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00" t="15240" r="23529" b="5327"/>
          <a:stretch>
            <a:fillRect/>
          </a:stretch>
        </p:blipFill>
        <p:spPr>
          <a:xfrm>
            <a:off x="154652" y="8816435"/>
            <a:ext cx="2967271" cy="2526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5C99CE-3450-2829-78BC-17A56A1185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04" y="1535563"/>
            <a:ext cx="4736829" cy="47368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656EBA-1709-CBD3-4A2C-C1A703F82420}"/>
              </a:ext>
            </a:extLst>
          </p:cNvPr>
          <p:cNvSpPr txBox="1"/>
          <p:nvPr/>
        </p:nvSpPr>
        <p:spPr>
          <a:xfrm>
            <a:off x="5329966" y="2587999"/>
            <a:ext cx="2457171" cy="265907"/>
          </a:xfrm>
          <a:prstGeom prst="rect">
            <a:avLst/>
          </a:prstGeom>
          <a:solidFill>
            <a:srgbClr val="5A889A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#4. Silk Wool Mix Ply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8493C4-D6BF-21FC-57BB-F76855DC954E}"/>
              </a:ext>
            </a:extLst>
          </p:cNvPr>
          <p:cNvSpPr txBox="1"/>
          <p:nvPr/>
        </p:nvSpPr>
        <p:spPr>
          <a:xfrm>
            <a:off x="5319501" y="2277525"/>
            <a:ext cx="2457171" cy="265907"/>
          </a:xfrm>
          <a:prstGeom prst="rect">
            <a:avLst/>
          </a:prstGeom>
          <a:solidFill>
            <a:srgbClr val="116599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#3. Silk Wool Mix Ply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BBCB3C-0D7E-7A77-FF36-21046543AAE4}"/>
              </a:ext>
            </a:extLst>
          </p:cNvPr>
          <p:cNvSpPr txBox="1"/>
          <p:nvPr/>
        </p:nvSpPr>
        <p:spPr>
          <a:xfrm>
            <a:off x="5324309" y="3196217"/>
            <a:ext cx="2457171" cy="265907"/>
          </a:xfrm>
          <a:prstGeom prst="rect">
            <a:avLst/>
          </a:prstGeom>
          <a:solidFill>
            <a:srgbClr val="790A27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#6. Silk Wool Mix Ply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B624C4-1C6B-904A-4FDF-DFD0FC4CF680}"/>
              </a:ext>
            </a:extLst>
          </p:cNvPr>
          <p:cNvSpPr txBox="1"/>
          <p:nvPr/>
        </p:nvSpPr>
        <p:spPr>
          <a:xfrm>
            <a:off x="5329886" y="2885743"/>
            <a:ext cx="2457171" cy="265907"/>
          </a:xfrm>
          <a:prstGeom prst="rect">
            <a:avLst/>
          </a:prstGeom>
          <a:solidFill>
            <a:srgbClr val="77A5B0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#5. Silk Wool Mix Ply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FD8119-6912-5516-2CA3-EC214E8E3C30}"/>
              </a:ext>
            </a:extLst>
          </p:cNvPr>
          <p:cNvSpPr txBox="1"/>
          <p:nvPr/>
        </p:nvSpPr>
        <p:spPr>
          <a:xfrm>
            <a:off x="5325739" y="3803451"/>
            <a:ext cx="2457171" cy="265907"/>
          </a:xfrm>
          <a:prstGeom prst="rect">
            <a:avLst/>
          </a:prstGeom>
          <a:solidFill>
            <a:srgbClr val="9B3549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#8. Silk Wool Mix Ply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7CE086-7F46-F642-2401-47511F3EAD8F}"/>
              </a:ext>
            </a:extLst>
          </p:cNvPr>
          <p:cNvSpPr txBox="1"/>
          <p:nvPr/>
        </p:nvSpPr>
        <p:spPr>
          <a:xfrm>
            <a:off x="5331316" y="3492977"/>
            <a:ext cx="2457171" cy="265907"/>
          </a:xfrm>
          <a:prstGeom prst="rect">
            <a:avLst/>
          </a:prstGeom>
          <a:solidFill>
            <a:srgbClr val="892037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#7. Silk Wool Mix Ply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AD4DCC-77E5-E11B-9804-3ECB3E30D5D7}"/>
              </a:ext>
            </a:extLst>
          </p:cNvPr>
          <p:cNvSpPr txBox="1"/>
          <p:nvPr/>
        </p:nvSpPr>
        <p:spPr>
          <a:xfrm>
            <a:off x="5328491" y="4440198"/>
            <a:ext cx="2457171" cy="265907"/>
          </a:xfrm>
          <a:prstGeom prst="rect">
            <a:avLst/>
          </a:prstGeom>
          <a:solidFill>
            <a:srgbClr val="C27A82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#10. Silk Wool Mix Ply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38A023-3C29-9EA9-52C0-BE5D20F595D8}"/>
              </a:ext>
            </a:extLst>
          </p:cNvPr>
          <p:cNvSpPr txBox="1"/>
          <p:nvPr/>
        </p:nvSpPr>
        <p:spPr>
          <a:xfrm>
            <a:off x="5318026" y="4129724"/>
            <a:ext cx="2457171" cy="265907"/>
          </a:xfrm>
          <a:prstGeom prst="rect">
            <a:avLst/>
          </a:prstGeom>
          <a:solidFill>
            <a:srgbClr val="AF505B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#9. Silk Wool Mix Ply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20F403-F1EF-3C05-F2E6-7F5126346E90}"/>
              </a:ext>
            </a:extLst>
          </p:cNvPr>
          <p:cNvSpPr txBox="1"/>
          <p:nvPr/>
        </p:nvSpPr>
        <p:spPr>
          <a:xfrm>
            <a:off x="5329921" y="5047432"/>
            <a:ext cx="2457171" cy="265907"/>
          </a:xfrm>
          <a:prstGeom prst="rect">
            <a:avLst/>
          </a:prstGeom>
          <a:solidFill>
            <a:srgbClr val="C41129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#12. Silk Wool Mix Ply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CB9AEE-81E4-3691-557D-4B5A4FB820C0}"/>
              </a:ext>
            </a:extLst>
          </p:cNvPr>
          <p:cNvSpPr txBox="1"/>
          <p:nvPr/>
        </p:nvSpPr>
        <p:spPr>
          <a:xfrm>
            <a:off x="5319456" y="4736958"/>
            <a:ext cx="2457171" cy="265907"/>
          </a:xfrm>
          <a:prstGeom prst="rect">
            <a:avLst/>
          </a:prstGeom>
          <a:solidFill>
            <a:srgbClr val="E0650E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#11. Silk Wool Mix Ply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BC7C75-E641-23AD-946C-C7A7883CEAF8}"/>
              </a:ext>
            </a:extLst>
          </p:cNvPr>
          <p:cNvSpPr txBox="1"/>
          <p:nvPr/>
        </p:nvSpPr>
        <p:spPr>
          <a:xfrm>
            <a:off x="5324264" y="5655650"/>
            <a:ext cx="2457171" cy="265907"/>
          </a:xfrm>
          <a:prstGeom prst="rect">
            <a:avLst/>
          </a:prstGeom>
          <a:solidFill>
            <a:srgbClr val="F25F73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#14. Silk Wool Mix Ply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727967-1111-9904-6483-CA39EBFC8435}"/>
              </a:ext>
            </a:extLst>
          </p:cNvPr>
          <p:cNvSpPr txBox="1"/>
          <p:nvPr/>
        </p:nvSpPr>
        <p:spPr>
          <a:xfrm>
            <a:off x="5329841" y="5345176"/>
            <a:ext cx="2457171" cy="265907"/>
          </a:xfrm>
          <a:prstGeom prst="rect">
            <a:avLst/>
          </a:prstGeom>
          <a:solidFill>
            <a:srgbClr val="E8434B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#13. Silk Wool Mix Ply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C35F60-78A3-9D24-D4E1-6FE72F2391D2}"/>
              </a:ext>
            </a:extLst>
          </p:cNvPr>
          <p:cNvSpPr txBox="1"/>
          <p:nvPr/>
        </p:nvSpPr>
        <p:spPr>
          <a:xfrm>
            <a:off x="5327089" y="8702814"/>
            <a:ext cx="2457171" cy="265907"/>
          </a:xfrm>
          <a:prstGeom prst="rect">
            <a:avLst/>
          </a:prstGeom>
          <a:solidFill>
            <a:srgbClr val="585D69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#24. Silk Wool Mix Ply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F7FF85-B4E1-4B99-0C52-08B40BD9E9A7}"/>
              </a:ext>
            </a:extLst>
          </p:cNvPr>
          <p:cNvSpPr txBox="1"/>
          <p:nvPr/>
        </p:nvSpPr>
        <p:spPr>
          <a:xfrm>
            <a:off x="5332666" y="8392340"/>
            <a:ext cx="2457171" cy="265907"/>
          </a:xfrm>
          <a:prstGeom prst="rect">
            <a:avLst/>
          </a:prstGeom>
          <a:solidFill>
            <a:srgbClr val="736927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#23. Silk Wool Mix Ply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97560C-97A1-DF21-912F-F401F1324C4A}"/>
              </a:ext>
            </a:extLst>
          </p:cNvPr>
          <p:cNvSpPr txBox="1"/>
          <p:nvPr/>
        </p:nvSpPr>
        <p:spPr>
          <a:xfrm>
            <a:off x="5329886" y="6880128"/>
            <a:ext cx="2457171" cy="265907"/>
          </a:xfrm>
          <a:prstGeom prst="rect">
            <a:avLst/>
          </a:prstGeom>
          <a:solidFill>
            <a:srgbClr val="F2C04C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#18. Silk Wool Mix Ply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19C4F7-86A1-6D4D-CE31-E567C66732D3}"/>
              </a:ext>
            </a:extLst>
          </p:cNvPr>
          <p:cNvSpPr txBox="1"/>
          <p:nvPr/>
        </p:nvSpPr>
        <p:spPr>
          <a:xfrm>
            <a:off x="5319421" y="6569654"/>
            <a:ext cx="2457171" cy="265907"/>
          </a:xfrm>
          <a:prstGeom prst="rect">
            <a:avLst/>
          </a:prstGeom>
          <a:solidFill>
            <a:srgbClr val="F5AE0C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#17. Silk Wool Mix Ply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8C6CBC-E733-0B27-9BB8-06F3093D5F63}"/>
              </a:ext>
            </a:extLst>
          </p:cNvPr>
          <p:cNvSpPr txBox="1"/>
          <p:nvPr/>
        </p:nvSpPr>
        <p:spPr>
          <a:xfrm>
            <a:off x="5331316" y="7487362"/>
            <a:ext cx="2457171" cy="265907"/>
          </a:xfrm>
          <a:prstGeom prst="rect">
            <a:avLst/>
          </a:prstGeom>
          <a:solidFill>
            <a:srgbClr val="B26017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#20. Silk Wool Mix Ply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D3A41F-FC4F-F099-C06F-1D2EC62BA79C}"/>
              </a:ext>
            </a:extLst>
          </p:cNvPr>
          <p:cNvSpPr txBox="1"/>
          <p:nvPr/>
        </p:nvSpPr>
        <p:spPr>
          <a:xfrm>
            <a:off x="5320851" y="7176888"/>
            <a:ext cx="2457171" cy="265907"/>
          </a:xfrm>
          <a:prstGeom prst="rect">
            <a:avLst/>
          </a:prstGeom>
          <a:solidFill>
            <a:srgbClr val="DFD7D5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rPr>
              <a:t>#19. Silk Wool Mix Ply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1BDFC1-07D6-C1F6-5C5D-407D0E6BB776}"/>
              </a:ext>
            </a:extLst>
          </p:cNvPr>
          <p:cNvSpPr txBox="1"/>
          <p:nvPr/>
        </p:nvSpPr>
        <p:spPr>
          <a:xfrm>
            <a:off x="5325659" y="8095580"/>
            <a:ext cx="2457171" cy="265907"/>
          </a:xfrm>
          <a:prstGeom prst="rect">
            <a:avLst/>
          </a:prstGeom>
          <a:solidFill>
            <a:srgbClr val="EBBFB3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#22. Silk Wool Mix Ply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C84978-4877-EB52-38AF-739D855E849D}"/>
              </a:ext>
            </a:extLst>
          </p:cNvPr>
          <p:cNvSpPr txBox="1"/>
          <p:nvPr/>
        </p:nvSpPr>
        <p:spPr>
          <a:xfrm>
            <a:off x="5331236" y="7785106"/>
            <a:ext cx="2457171" cy="265907"/>
          </a:xfrm>
          <a:prstGeom prst="rect">
            <a:avLst/>
          </a:prstGeom>
          <a:solidFill>
            <a:srgbClr val="482C39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#21. Silk Wool Mix Ply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AF990-CF36-8495-A041-993191EC7E7A}"/>
              </a:ext>
            </a:extLst>
          </p:cNvPr>
          <p:cNvSpPr txBox="1"/>
          <p:nvPr/>
        </p:nvSpPr>
        <p:spPr>
          <a:xfrm>
            <a:off x="5327667" y="9012984"/>
            <a:ext cx="2457171" cy="265907"/>
          </a:xfrm>
          <a:prstGeom prst="rect">
            <a:avLst/>
          </a:prstGeom>
          <a:solidFill>
            <a:srgbClr val="D5A3A3"/>
          </a:solidFill>
        </p:spPr>
        <p:txBody>
          <a:bodyPr wrap="square" rtlCol="0">
            <a:spAutoFit/>
          </a:bodyPr>
          <a:lstStyle/>
          <a:p>
            <a:r>
              <a:rPr lang="en-US" sz="1692" baseline="30000" dirty="0">
                <a:solidFill>
                  <a:schemeClr val="bg1"/>
                </a:solidFill>
                <a:latin typeface="Tw Cen MT" panose="020B0602020104020603" pitchFamily="34" charset="0"/>
              </a:rPr>
              <a:t>#25. Silk Wool Mix Ply </a:t>
            </a:r>
          </a:p>
        </p:txBody>
      </p:sp>
    </p:spTree>
    <p:extLst>
      <p:ext uri="{BB962C8B-B14F-4D97-AF65-F5344CB8AC3E}">
        <p14:creationId xmlns:p14="http://schemas.microsoft.com/office/powerpoint/2010/main" val="222415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C90CF-F49C-D0EF-F2BE-944F0D41A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3A8E5E4-7CBF-0B07-629D-BE64551A9549}"/>
              </a:ext>
            </a:extLst>
          </p:cNvPr>
          <p:cNvSpPr txBox="1"/>
          <p:nvPr/>
        </p:nvSpPr>
        <p:spPr>
          <a:xfrm>
            <a:off x="269812" y="958089"/>
            <a:ext cx="6995842" cy="1672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u="none" strike="noStrike" baseline="30000" dirty="0">
                <a:solidFill>
                  <a:srgbClr val="000000"/>
                </a:solidFill>
                <a:latin typeface="Tw Cen MT" panose="020B0602020104020603" pitchFamily="34" charset="0"/>
              </a:rPr>
              <a:t> A custom rug is by nature a unique product.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u="none" strike="noStrike" baseline="30000" dirty="0">
                <a:solidFill>
                  <a:srgbClr val="000000"/>
                </a:solidFill>
                <a:latin typeface="Tw Cen MT" panose="020B0602020104020603" pitchFamily="34" charset="0"/>
              </a:rPr>
              <a:t>Slight variations in color and size are normal.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u="none" strike="noStrike" baseline="30000" dirty="0">
                <a:solidFill>
                  <a:srgbClr val="000000"/>
                </a:solidFill>
                <a:latin typeface="Tw Cen MT" panose="020B0602020104020603" pitchFamily="34" charset="0"/>
              </a:rPr>
              <a:t>Please note: all custom rugs can have a variance of +/- 3 inches.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u="none" strike="noStrike" baseline="30000" dirty="0">
                <a:solidFill>
                  <a:srgbClr val="000000"/>
                </a:solidFill>
                <a:latin typeface="Tw Cen MT" panose="020B0602020104020603" pitchFamily="34" charset="0"/>
              </a:rPr>
              <a:t>No changes once order is placed.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u="none" strike="noStrike" baseline="30000" dirty="0">
                <a:solidFill>
                  <a:srgbClr val="000000"/>
                </a:solidFill>
                <a:latin typeface="Tw Cen MT" panose="020B0602020104020603" pitchFamily="34" charset="0"/>
              </a:rPr>
              <a:t>No cancellations once items are in production.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u="none" strike="noStrike" baseline="30000" dirty="0">
                <a:solidFill>
                  <a:srgbClr val="000000"/>
                </a:solidFill>
                <a:latin typeface="Tw Cen MT" panose="020B0602020104020603" pitchFamily="34" charset="0"/>
              </a:rPr>
              <a:t>You may cancel your custom rug order within 5 business days from the date of the order without penalty. If you wish to cancel standard customs after 5 business days, your deposit will be forfeited.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u="none" strike="noStrike" baseline="30000" dirty="0">
                <a:solidFill>
                  <a:srgbClr val="000000"/>
                </a:solidFill>
                <a:latin typeface="Tw Cen MT" panose="020B0602020104020603" pitchFamily="34" charset="0"/>
              </a:rPr>
              <a:t> No returns/refunds of Custom Rug.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u="none" strike="noStrike" baseline="30000" dirty="0">
                <a:solidFill>
                  <a:srgbClr val="000000"/>
                </a:solidFill>
                <a:latin typeface="Tw Cen MT" panose="020B0602020104020603" pitchFamily="34" charset="0"/>
              </a:rPr>
              <a:t>Size limitations vary between collections.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u="none" strike="noStrike" baseline="30000" dirty="0">
                <a:solidFill>
                  <a:srgbClr val="000000"/>
                </a:solidFill>
                <a:latin typeface="Tw Cen MT" panose="020B0602020104020603" pitchFamily="34" charset="0"/>
              </a:rPr>
              <a:t> Production times are an estimate. All efforts will be made to produce in the time quoted.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u="none" strike="noStrike" baseline="30000" dirty="0">
                <a:solidFill>
                  <a:srgbClr val="000000"/>
                </a:solidFill>
                <a:latin typeface="Tw Cen MT" panose="020B0602020104020603" pitchFamily="34" charset="0"/>
              </a:rPr>
              <a:t> Final delivery of your custom rug will vary  based on size, construction and shipping method.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FEB3EB-52C9-14E6-5F75-46C69A9EEBAD}"/>
              </a:ext>
            </a:extLst>
          </p:cNvPr>
          <p:cNvSpPr txBox="1"/>
          <p:nvPr/>
        </p:nvSpPr>
        <p:spPr>
          <a:xfrm>
            <a:off x="248547" y="681090"/>
            <a:ext cx="197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anose="020B0602020104020603" pitchFamily="34" charset="0"/>
              </a:rPr>
              <a:t>INFO SECTION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A7D09-8D5C-6F80-82A4-BFDBA4EB6F2F}"/>
              </a:ext>
            </a:extLst>
          </p:cNvPr>
          <p:cNvSpPr txBox="1"/>
          <p:nvPr/>
        </p:nvSpPr>
        <p:spPr>
          <a:xfrm>
            <a:off x="6436251" y="420597"/>
            <a:ext cx="19776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i Baiti" panose="03000500000000000000" pitchFamily="66" charset="0"/>
                <a:ea typeface="Microsoft Yi Baiti" panose="03000500000000000000" pitchFamily="66" charset="0"/>
              </a:rPr>
              <a:t>Customized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806AC9-150B-0AC9-76D1-AC7598ABA2A5}"/>
              </a:ext>
            </a:extLst>
          </p:cNvPr>
          <p:cNvSpPr txBox="1"/>
          <p:nvPr/>
        </p:nvSpPr>
        <p:spPr>
          <a:xfrm>
            <a:off x="393283" y="11402102"/>
            <a:ext cx="27286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Signature : ____________________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7BBC99-AE93-306B-4C4A-AE6280801EE2}"/>
              </a:ext>
            </a:extLst>
          </p:cNvPr>
          <p:cNvSpPr txBox="1"/>
          <p:nvPr/>
        </p:nvSpPr>
        <p:spPr>
          <a:xfrm>
            <a:off x="5119357" y="11435295"/>
            <a:ext cx="2419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Date of Approval :_____________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0D86CA-EFF2-DDAE-3FA1-BE971A68F2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6" t="48840" r="18681" b="45910"/>
          <a:stretch/>
        </p:blipFill>
        <p:spPr>
          <a:xfrm>
            <a:off x="272504" y="206421"/>
            <a:ext cx="1977655" cy="30371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38F1C8-1094-B0E5-3C99-7BF843B6E72B}"/>
              </a:ext>
            </a:extLst>
          </p:cNvPr>
          <p:cNvCxnSpPr>
            <a:cxnSpLocks/>
          </p:cNvCxnSpPr>
          <p:nvPr/>
        </p:nvCxnSpPr>
        <p:spPr>
          <a:xfrm>
            <a:off x="2123089" y="452127"/>
            <a:ext cx="5659821" cy="22336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85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6084</TotalTime>
  <Words>429</Words>
  <Application>Microsoft Office PowerPoint</Application>
  <PresentationFormat>Custom</PresentationFormat>
  <Paragraphs>68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Microsoft JhengHei</vt:lpstr>
      <vt:lpstr>Microsoft JhengHei Light</vt:lpstr>
      <vt:lpstr>Arial</vt:lpstr>
      <vt:lpstr>Calibri</vt:lpstr>
      <vt:lpstr>Calibri Light</vt:lpstr>
      <vt:lpstr>Microsoft Yi Baiti</vt:lpstr>
      <vt:lpstr>Tw Cen MT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Ishita Karelia</dc:creator>
  <cp:lastModifiedBy>design</cp:lastModifiedBy>
  <cp:revision>224</cp:revision>
  <dcterms:created xsi:type="dcterms:W3CDTF">2023-06-02T05:25:28Z</dcterms:created>
  <dcterms:modified xsi:type="dcterms:W3CDTF">2026-07-20T09:53:37Z</dcterms:modified>
</cp:coreProperties>
</file>
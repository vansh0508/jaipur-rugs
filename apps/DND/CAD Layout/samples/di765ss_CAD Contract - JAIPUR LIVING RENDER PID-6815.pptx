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60" r:id="rId2"/>
    <p:sldId id="261" r:id="rId3"/>
    <p:sldId id="262" r:id="rId4"/>
    <p:sldId id="263" r:id="rId5"/>
    <p:sldId id="259" r:id="rId6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84" userDrawn="1">
          <p15:clr>
            <a:srgbClr val="A4A3A4"/>
          </p15:clr>
        </p15:guide>
        <p15:guide id="2" pos="3264" userDrawn="1">
          <p15:clr>
            <a:srgbClr val="A4A3A4"/>
          </p15:clr>
        </p15:guide>
        <p15:guide id="3" pos="264" userDrawn="1">
          <p15:clr>
            <a:srgbClr val="A4A3A4"/>
          </p15:clr>
        </p15:guide>
        <p15:guide id="4" pos="4584" userDrawn="1">
          <p15:clr>
            <a:srgbClr val="A4A3A4"/>
          </p15:clr>
        </p15:guide>
        <p15:guide id="5" orient="horz" pos="4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7C69"/>
    <a:srgbClr val="EDE2D1"/>
    <a:srgbClr val="EDE4DA"/>
    <a:srgbClr val="E0D4C5"/>
    <a:srgbClr val="D9D2B6"/>
    <a:srgbClr val="D4C4AB"/>
    <a:srgbClr val="CCC2AD"/>
    <a:srgbClr val="8F856B"/>
    <a:srgbClr val="AAADA5"/>
    <a:srgbClr val="BDBD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1B1011-697F-443C-ACBC-1B40D9E9E867}" v="1" dt="2025-08-04T13:54:43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57" autoAdjust="0"/>
  </p:normalViewPr>
  <p:slideViewPr>
    <p:cSldViewPr snapToGrid="0" showGuides="1">
      <p:cViewPr varScale="1">
        <p:scale>
          <a:sx n="71" d="100"/>
          <a:sy n="71" d="100"/>
        </p:scale>
        <p:origin x="534" y="78"/>
      </p:cViewPr>
      <p:guideLst>
        <p:guide orient="horz" pos="3984"/>
        <p:guide pos="3264"/>
        <p:guide pos="264"/>
        <p:guide pos="4584"/>
        <p:guide orient="horz" pos="4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t Schneider" userId="280d61e1-7e04-4851-8a6a-5e91a9d02e05" providerId="ADAL" clId="{9B1B1011-697F-443C-ACBC-1B40D9E9E867}"/>
    <pc:docChg chg="undo custSel delSld modSld">
      <pc:chgData name="Kent Schneider" userId="280d61e1-7e04-4851-8a6a-5e91a9d02e05" providerId="ADAL" clId="{9B1B1011-697F-443C-ACBC-1B40D9E9E867}" dt="2025-08-04T14:02:45.279" v="209" actId="552"/>
      <pc:docMkLst>
        <pc:docMk/>
      </pc:docMkLst>
      <pc:sldChg chg="addSp delSp modSp mod">
        <pc:chgData name="Kent Schneider" userId="280d61e1-7e04-4851-8a6a-5e91a9d02e05" providerId="ADAL" clId="{9B1B1011-697F-443C-ACBC-1B40D9E9E867}" dt="2025-08-04T14:02:45.279" v="209" actId="552"/>
        <pc:sldMkLst>
          <pc:docMk/>
          <pc:sldMk cId="3710354785" sldId="257"/>
        </pc:sldMkLst>
        <pc:spChg chg="add mod">
          <ac:chgData name="Kent Schneider" userId="280d61e1-7e04-4851-8a6a-5e91a9d02e05" providerId="ADAL" clId="{9B1B1011-697F-443C-ACBC-1B40D9E9E867}" dt="2025-08-04T13:57:02.046" v="134" actId="20577"/>
          <ac:spMkLst>
            <pc:docMk/>
            <pc:sldMk cId="3710354785" sldId="257"/>
            <ac:spMk id="2" creationId="{9850CF1F-0374-F466-E2A5-0BFA1407897D}"/>
          </ac:spMkLst>
        </pc:spChg>
        <pc:spChg chg="del">
          <ac:chgData name="Kent Schneider" userId="280d61e1-7e04-4851-8a6a-5e91a9d02e05" providerId="ADAL" clId="{9B1B1011-697F-443C-ACBC-1B40D9E9E867}" dt="2025-08-04T14:00:23.948" v="182" actId="478"/>
          <ac:spMkLst>
            <pc:docMk/>
            <pc:sldMk cId="3710354785" sldId="257"/>
            <ac:spMk id="23" creationId="{0DF52D4A-C94A-AC7F-C12D-88196A2F59F1}"/>
          </ac:spMkLst>
        </pc:spChg>
        <pc:spChg chg="del">
          <ac:chgData name="Kent Schneider" userId="280d61e1-7e04-4851-8a6a-5e91a9d02e05" providerId="ADAL" clId="{9B1B1011-697F-443C-ACBC-1B40D9E9E867}" dt="2025-08-04T14:00:22.187" v="181" actId="478"/>
          <ac:spMkLst>
            <pc:docMk/>
            <pc:sldMk cId="3710354785" sldId="257"/>
            <ac:spMk id="30" creationId="{CE711BC2-0D61-259B-E89A-9A0E3D2BC96D}"/>
          </ac:spMkLst>
        </pc:spChg>
        <pc:spChg chg="mod">
          <ac:chgData name="Kent Schneider" userId="280d61e1-7e04-4851-8a6a-5e91a9d02e05" providerId="ADAL" clId="{9B1B1011-697F-443C-ACBC-1B40D9E9E867}" dt="2025-08-04T14:02:45.279" v="209" actId="552"/>
          <ac:spMkLst>
            <pc:docMk/>
            <pc:sldMk cId="3710354785" sldId="257"/>
            <ac:spMk id="32" creationId="{548C10D9-B12D-DA41-AD09-0A5A62221805}"/>
          </ac:spMkLst>
        </pc:spChg>
        <pc:spChg chg="mod">
          <ac:chgData name="Kent Schneider" userId="280d61e1-7e04-4851-8a6a-5e91a9d02e05" providerId="ADAL" clId="{9B1B1011-697F-443C-ACBC-1B40D9E9E867}" dt="2025-08-04T14:02:45.279" v="209" actId="552"/>
          <ac:spMkLst>
            <pc:docMk/>
            <pc:sldMk cId="3710354785" sldId="257"/>
            <ac:spMk id="33" creationId="{A14EDD65-5951-4751-92C9-AEF2F798C4CB}"/>
          </ac:spMkLst>
        </pc:spChg>
        <pc:spChg chg="mod">
          <ac:chgData name="Kent Schneider" userId="280d61e1-7e04-4851-8a6a-5e91a9d02e05" providerId="ADAL" clId="{9B1B1011-697F-443C-ACBC-1B40D9E9E867}" dt="2025-08-04T13:57:51.381" v="147" actId="6549"/>
          <ac:spMkLst>
            <pc:docMk/>
            <pc:sldMk cId="3710354785" sldId="257"/>
            <ac:spMk id="37" creationId="{5E378F6A-C705-4699-BE02-647684F38BEE}"/>
          </ac:spMkLst>
        </pc:spChg>
        <pc:spChg chg="del mod">
          <ac:chgData name="Kent Schneider" userId="280d61e1-7e04-4851-8a6a-5e91a9d02e05" providerId="ADAL" clId="{9B1B1011-697F-443C-ACBC-1B40D9E9E867}" dt="2025-08-04T13:57:22.791" v="138" actId="478"/>
          <ac:spMkLst>
            <pc:docMk/>
            <pc:sldMk cId="3710354785" sldId="257"/>
            <ac:spMk id="38" creationId="{B92D335B-088E-1667-A168-65326DBB52D1}"/>
          </ac:spMkLst>
        </pc:spChg>
        <pc:spChg chg="mod">
          <ac:chgData name="Kent Schneider" userId="280d61e1-7e04-4851-8a6a-5e91a9d02e05" providerId="ADAL" clId="{9B1B1011-697F-443C-ACBC-1B40D9E9E867}" dt="2025-08-04T13:57:45.712" v="146" actId="20577"/>
          <ac:spMkLst>
            <pc:docMk/>
            <pc:sldMk cId="3710354785" sldId="257"/>
            <ac:spMk id="39" creationId="{AF754A34-06A5-4384-9E35-1C9F808676B1}"/>
          </ac:spMkLst>
        </pc:spChg>
        <pc:spChg chg="del">
          <ac:chgData name="Kent Schneider" userId="280d61e1-7e04-4851-8a6a-5e91a9d02e05" providerId="ADAL" clId="{9B1B1011-697F-443C-ACBC-1B40D9E9E867}" dt="2025-08-04T13:57:24.563" v="139" actId="478"/>
          <ac:spMkLst>
            <pc:docMk/>
            <pc:sldMk cId="3710354785" sldId="257"/>
            <ac:spMk id="40" creationId="{526F94E5-9BBD-9E35-D125-D1DC51B92384}"/>
          </ac:spMkLst>
        </pc:spChg>
        <pc:spChg chg="del">
          <ac:chgData name="Kent Schneider" userId="280d61e1-7e04-4851-8a6a-5e91a9d02e05" providerId="ADAL" clId="{9B1B1011-697F-443C-ACBC-1B40D9E9E867}" dt="2025-08-04T13:58:59.460" v="151" actId="478"/>
          <ac:spMkLst>
            <pc:docMk/>
            <pc:sldMk cId="3710354785" sldId="257"/>
            <ac:spMk id="41" creationId="{E811A302-4AF3-4DEF-923A-3184F837DE50}"/>
          </ac:spMkLst>
        </pc:spChg>
        <pc:spChg chg="del">
          <ac:chgData name="Kent Schneider" userId="280d61e1-7e04-4851-8a6a-5e91a9d02e05" providerId="ADAL" clId="{9B1B1011-697F-443C-ACBC-1B40D9E9E867}" dt="2025-08-04T13:59:31.913" v="161" actId="478"/>
          <ac:spMkLst>
            <pc:docMk/>
            <pc:sldMk cId="3710354785" sldId="257"/>
            <ac:spMk id="42" creationId="{9810DA54-6814-4B79-A029-1FB906FE4575}"/>
          </ac:spMkLst>
        </pc:spChg>
        <pc:spChg chg="mod">
          <ac:chgData name="Kent Schneider" userId="280d61e1-7e04-4851-8a6a-5e91a9d02e05" providerId="ADAL" clId="{9B1B1011-697F-443C-ACBC-1B40D9E9E867}" dt="2025-08-04T14:02:45.279" v="209" actId="552"/>
          <ac:spMkLst>
            <pc:docMk/>
            <pc:sldMk cId="3710354785" sldId="257"/>
            <ac:spMk id="44" creationId="{55F0CDAF-8C85-4B15-88A6-C923DD2543B5}"/>
          </ac:spMkLst>
        </pc:spChg>
        <pc:spChg chg="del">
          <ac:chgData name="Kent Schneider" userId="280d61e1-7e04-4851-8a6a-5e91a9d02e05" providerId="ADAL" clId="{9B1B1011-697F-443C-ACBC-1B40D9E9E867}" dt="2025-08-04T14:00:27.620" v="185" actId="478"/>
          <ac:spMkLst>
            <pc:docMk/>
            <pc:sldMk cId="3710354785" sldId="257"/>
            <ac:spMk id="46" creationId="{A262769B-3373-4CD1-A259-AB1C02CE6392}"/>
          </ac:spMkLst>
        </pc:spChg>
        <pc:spChg chg="mod">
          <ac:chgData name="Kent Schneider" userId="280d61e1-7e04-4851-8a6a-5e91a9d02e05" providerId="ADAL" clId="{9B1B1011-697F-443C-ACBC-1B40D9E9E867}" dt="2025-08-04T14:02:45.279" v="209" actId="552"/>
          <ac:spMkLst>
            <pc:docMk/>
            <pc:sldMk cId="3710354785" sldId="257"/>
            <ac:spMk id="47" creationId="{98BE85CE-AB94-405E-8C8F-E7A88D65FE01}"/>
          </ac:spMkLst>
        </pc:spChg>
        <pc:spChg chg="add del mod">
          <ac:chgData name="Kent Schneider" userId="280d61e1-7e04-4851-8a6a-5e91a9d02e05" providerId="ADAL" clId="{9B1B1011-697F-443C-ACBC-1B40D9E9E867}" dt="2025-08-04T14:02:45.279" v="209" actId="552"/>
          <ac:spMkLst>
            <pc:docMk/>
            <pc:sldMk cId="3710354785" sldId="257"/>
            <ac:spMk id="48" creationId="{59C32A10-690D-423A-B52D-CCC52919B0D3}"/>
          </ac:spMkLst>
        </pc:spChg>
        <pc:spChg chg="del">
          <ac:chgData name="Kent Schneider" userId="280d61e1-7e04-4851-8a6a-5e91a9d02e05" providerId="ADAL" clId="{9B1B1011-697F-443C-ACBC-1B40D9E9E867}" dt="2025-08-04T13:59:33.418" v="162" actId="478"/>
          <ac:spMkLst>
            <pc:docMk/>
            <pc:sldMk cId="3710354785" sldId="257"/>
            <ac:spMk id="49" creationId="{34F15955-4C07-4663-8A7E-7E4CB9C05A49}"/>
          </ac:spMkLst>
        </pc:spChg>
        <pc:spChg chg="del">
          <ac:chgData name="Kent Schneider" userId="280d61e1-7e04-4851-8a6a-5e91a9d02e05" providerId="ADAL" clId="{9B1B1011-697F-443C-ACBC-1B40D9E9E867}" dt="2025-08-04T13:59:24.651" v="158" actId="478"/>
          <ac:spMkLst>
            <pc:docMk/>
            <pc:sldMk cId="3710354785" sldId="257"/>
            <ac:spMk id="51" creationId="{BC8529D2-30BD-4AED-98DE-CD248F9B56B7}"/>
          </ac:spMkLst>
        </pc:spChg>
        <pc:spChg chg="mod">
          <ac:chgData name="Kent Schneider" userId="280d61e1-7e04-4851-8a6a-5e91a9d02e05" providerId="ADAL" clId="{9B1B1011-697F-443C-ACBC-1B40D9E9E867}" dt="2025-08-04T14:02:45.279" v="209" actId="552"/>
          <ac:spMkLst>
            <pc:docMk/>
            <pc:sldMk cId="3710354785" sldId="257"/>
            <ac:spMk id="53" creationId="{8432A426-DBAE-4FA2-BD6D-215AA1A553FC}"/>
          </ac:spMkLst>
        </pc:spChg>
        <pc:spChg chg="mod">
          <ac:chgData name="Kent Schneider" userId="280d61e1-7e04-4851-8a6a-5e91a9d02e05" providerId="ADAL" clId="{9B1B1011-697F-443C-ACBC-1B40D9E9E867}" dt="2025-08-04T14:02:45.279" v="209" actId="552"/>
          <ac:spMkLst>
            <pc:docMk/>
            <pc:sldMk cId="3710354785" sldId="257"/>
            <ac:spMk id="54" creationId="{4EB6DC4A-EDF8-47B7-9E52-AFEC360E770B}"/>
          </ac:spMkLst>
        </pc:spChg>
        <pc:spChg chg="del">
          <ac:chgData name="Kent Schneider" userId="280d61e1-7e04-4851-8a6a-5e91a9d02e05" providerId="ADAL" clId="{9B1B1011-697F-443C-ACBC-1B40D9E9E867}" dt="2025-08-04T14:00:26.616" v="184" actId="478"/>
          <ac:spMkLst>
            <pc:docMk/>
            <pc:sldMk cId="3710354785" sldId="257"/>
            <ac:spMk id="59" creationId="{CF1D77A0-89DF-450F-803C-49C9EB60698B}"/>
          </ac:spMkLst>
        </pc:spChg>
        <pc:spChg chg="mod">
          <ac:chgData name="Kent Schneider" userId="280d61e1-7e04-4851-8a6a-5e91a9d02e05" providerId="ADAL" clId="{9B1B1011-697F-443C-ACBC-1B40D9E9E867}" dt="2025-08-04T14:02:45.279" v="209" actId="552"/>
          <ac:spMkLst>
            <pc:docMk/>
            <pc:sldMk cId="3710354785" sldId="257"/>
            <ac:spMk id="60" creationId="{214BC213-5F87-4CD8-B672-3B9E657FC17F}"/>
          </ac:spMkLst>
        </pc:spChg>
        <pc:spChg chg="del">
          <ac:chgData name="Kent Schneider" userId="280d61e1-7e04-4851-8a6a-5e91a9d02e05" providerId="ADAL" clId="{9B1B1011-697F-443C-ACBC-1B40D9E9E867}" dt="2025-08-04T14:00:25.237" v="183" actId="478"/>
          <ac:spMkLst>
            <pc:docMk/>
            <pc:sldMk cId="3710354785" sldId="257"/>
            <ac:spMk id="61" creationId="{05BB4804-DD7F-4911-A28A-F534F2D2F8CC}"/>
          </ac:spMkLst>
        </pc:spChg>
        <pc:spChg chg="mod">
          <ac:chgData name="Kent Schneider" userId="280d61e1-7e04-4851-8a6a-5e91a9d02e05" providerId="ADAL" clId="{9B1B1011-697F-443C-ACBC-1B40D9E9E867}" dt="2025-08-04T14:02:45.279" v="209" actId="552"/>
          <ac:spMkLst>
            <pc:docMk/>
            <pc:sldMk cId="3710354785" sldId="257"/>
            <ac:spMk id="62" creationId="{FF0D6DB1-6C79-4E13-B497-871B54A4B3F8}"/>
          </ac:spMkLst>
        </pc:spChg>
        <pc:spChg chg="del">
          <ac:chgData name="Kent Schneider" userId="280d61e1-7e04-4851-8a6a-5e91a9d02e05" providerId="ADAL" clId="{9B1B1011-697F-443C-ACBC-1B40D9E9E867}" dt="2025-08-04T13:57:20.978" v="136" actId="478"/>
          <ac:spMkLst>
            <pc:docMk/>
            <pc:sldMk cId="3710354785" sldId="257"/>
            <ac:spMk id="72" creationId="{9CA23053-7593-4B2F-8C8F-34EC96832960}"/>
          </ac:spMkLst>
        </pc:spChg>
        <pc:picChg chg="del">
          <ac:chgData name="Kent Schneider" userId="280d61e1-7e04-4851-8a6a-5e91a9d02e05" providerId="ADAL" clId="{9B1B1011-697F-443C-ACBC-1B40D9E9E867}" dt="2025-08-04T13:57:17.613" v="135" actId="478"/>
          <ac:picMkLst>
            <pc:docMk/>
            <pc:sldMk cId="3710354785" sldId="257"/>
            <ac:picMk id="11" creationId="{D9BCAC37-C762-19C8-A199-4FA869683C46}"/>
          </ac:picMkLst>
        </pc:picChg>
        <pc:cxnChg chg="mod">
          <ac:chgData name="Kent Schneider" userId="280d61e1-7e04-4851-8a6a-5e91a9d02e05" providerId="ADAL" clId="{9B1B1011-697F-443C-ACBC-1B40D9E9E867}" dt="2025-08-04T14:01:25.019" v="195" actId="553"/>
          <ac:cxnSpMkLst>
            <pc:docMk/>
            <pc:sldMk cId="3710354785" sldId="257"/>
            <ac:cxnSpMk id="36" creationId="{6048EB61-CB63-4E16-A9ED-40E41AC4D5C5}"/>
          </ac:cxnSpMkLst>
        </pc:cxnChg>
        <pc:cxnChg chg="mod">
          <ac:chgData name="Kent Schneider" userId="280d61e1-7e04-4851-8a6a-5e91a9d02e05" providerId="ADAL" clId="{9B1B1011-697F-443C-ACBC-1B40D9E9E867}" dt="2025-08-04T14:02:29.070" v="207" actId="1076"/>
          <ac:cxnSpMkLst>
            <pc:docMk/>
            <pc:sldMk cId="3710354785" sldId="257"/>
            <ac:cxnSpMk id="67" creationId="{920F630A-8DB9-47B3-AD8D-C7F0CF2A1F0A}"/>
          </ac:cxnSpMkLst>
        </pc:cxnChg>
        <pc:cxnChg chg="mod">
          <ac:chgData name="Kent Schneider" userId="280d61e1-7e04-4851-8a6a-5e91a9d02e05" providerId="ADAL" clId="{9B1B1011-697F-443C-ACBC-1B40D9E9E867}" dt="2025-08-04T14:02:45.279" v="209" actId="552"/>
          <ac:cxnSpMkLst>
            <pc:docMk/>
            <pc:sldMk cId="3710354785" sldId="257"/>
            <ac:cxnSpMk id="69" creationId="{198179A1-9F21-4B98-88A4-5B0BF9EA04D5}"/>
          </ac:cxnSpMkLst>
        </pc:cxnChg>
        <pc:cxnChg chg="mod">
          <ac:chgData name="Kent Schneider" userId="280d61e1-7e04-4851-8a6a-5e91a9d02e05" providerId="ADAL" clId="{9B1B1011-697F-443C-ACBC-1B40D9E9E867}" dt="2025-08-04T14:02:29.070" v="207" actId="1076"/>
          <ac:cxnSpMkLst>
            <pc:docMk/>
            <pc:sldMk cId="3710354785" sldId="257"/>
            <ac:cxnSpMk id="71" creationId="{9C97E333-CA79-4D09-8D2B-B9E1F849191E}"/>
          </ac:cxnSpMkLst>
        </pc:cxnChg>
        <pc:cxnChg chg="mod">
          <ac:chgData name="Kent Schneider" userId="280d61e1-7e04-4851-8a6a-5e91a9d02e05" providerId="ADAL" clId="{9B1B1011-697F-443C-ACBC-1B40D9E9E867}" dt="2025-08-04T14:02:29.070" v="207" actId="1076"/>
          <ac:cxnSpMkLst>
            <pc:docMk/>
            <pc:sldMk cId="3710354785" sldId="257"/>
            <ac:cxnSpMk id="74" creationId="{A1FA68A4-F7C2-4820-9E45-A605D61658A1}"/>
          </ac:cxnSpMkLst>
        </pc:cxnChg>
        <pc:cxnChg chg="del">
          <ac:chgData name="Kent Schneider" userId="280d61e1-7e04-4851-8a6a-5e91a9d02e05" providerId="ADAL" clId="{9B1B1011-697F-443C-ACBC-1B40D9E9E867}" dt="2025-08-04T13:57:26.462" v="140" actId="478"/>
          <ac:cxnSpMkLst>
            <pc:docMk/>
            <pc:sldMk cId="3710354785" sldId="257"/>
            <ac:cxnSpMk id="75" creationId="{42503DFF-0E96-47F2-8136-E8E17D8DF3EC}"/>
          </ac:cxnSpMkLst>
        </pc:cxnChg>
        <pc:cxnChg chg="del">
          <ac:chgData name="Kent Schneider" userId="280d61e1-7e04-4851-8a6a-5e91a9d02e05" providerId="ADAL" clId="{9B1B1011-697F-443C-ACBC-1B40D9E9E867}" dt="2025-08-04T13:57:26.462" v="140" actId="478"/>
          <ac:cxnSpMkLst>
            <pc:docMk/>
            <pc:sldMk cId="3710354785" sldId="257"/>
            <ac:cxnSpMk id="83" creationId="{3AFDA1C3-798C-4C41-8F54-6FE8DD58ECBF}"/>
          </ac:cxnSpMkLst>
        </pc:cxnChg>
        <pc:cxnChg chg="mod">
          <ac:chgData name="Kent Schneider" userId="280d61e1-7e04-4851-8a6a-5e91a9d02e05" providerId="ADAL" clId="{9B1B1011-697F-443C-ACBC-1B40D9E9E867}" dt="2025-08-04T14:02:29.070" v="207" actId="1076"/>
          <ac:cxnSpMkLst>
            <pc:docMk/>
            <pc:sldMk cId="3710354785" sldId="257"/>
            <ac:cxnSpMk id="85" creationId="{61EF3D62-92DE-4E6C-8AC2-B67B4D937A7F}"/>
          </ac:cxnSpMkLst>
        </pc:cxnChg>
        <pc:cxnChg chg="mod">
          <ac:chgData name="Kent Schneider" userId="280d61e1-7e04-4851-8a6a-5e91a9d02e05" providerId="ADAL" clId="{9B1B1011-697F-443C-ACBC-1B40D9E9E867}" dt="2025-08-04T14:02:07.653" v="204" actId="14100"/>
          <ac:cxnSpMkLst>
            <pc:docMk/>
            <pc:sldMk cId="3710354785" sldId="257"/>
            <ac:cxnSpMk id="89" creationId="{B285B34A-AD41-4FEF-87CC-65C1733D8298}"/>
          </ac:cxnSpMkLst>
        </pc:cxnChg>
        <pc:cxnChg chg="mod">
          <ac:chgData name="Kent Schneider" userId="280d61e1-7e04-4851-8a6a-5e91a9d02e05" providerId="ADAL" clId="{9B1B1011-697F-443C-ACBC-1B40D9E9E867}" dt="2025-08-04T14:02:10.822" v="205" actId="14100"/>
          <ac:cxnSpMkLst>
            <pc:docMk/>
            <pc:sldMk cId="3710354785" sldId="257"/>
            <ac:cxnSpMk id="91" creationId="{64AAD478-4871-4459-911F-507BD2FD6C45}"/>
          </ac:cxnSpMkLst>
        </pc:cxnChg>
        <pc:cxnChg chg="mod">
          <ac:chgData name="Kent Schneider" userId="280d61e1-7e04-4851-8a6a-5e91a9d02e05" providerId="ADAL" clId="{9B1B1011-697F-443C-ACBC-1B40D9E9E867}" dt="2025-08-04T14:02:12.891" v="206" actId="14100"/>
          <ac:cxnSpMkLst>
            <pc:docMk/>
            <pc:sldMk cId="3710354785" sldId="257"/>
            <ac:cxnSpMk id="94" creationId="{DB550771-291F-4A97-A256-08B99B8DB23F}"/>
          </ac:cxnSpMkLst>
        </pc:cxnChg>
      </pc:sldChg>
      <pc:sldChg chg="del">
        <pc:chgData name="Kent Schneider" userId="280d61e1-7e04-4851-8a6a-5e91a9d02e05" providerId="ADAL" clId="{9B1B1011-697F-443C-ACBC-1B40D9E9E867}" dt="2025-08-04T13:54:23.593" v="0" actId="47"/>
        <pc:sldMkLst>
          <pc:docMk/>
          <pc:sldMk cId="2524866225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90E6C-90F6-4E7B-A275-2981D0486112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7B288-7923-47E5-9464-628E1FE78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714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A203-289E-235F-D60E-3AF95AF66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A4529-0031-6555-0516-B8CB8C6B5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7FD75-DB23-1F61-9481-976C4D919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6A00F-288E-DD09-BCC4-ED9E942AF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7B288-7923-47E5-9464-628E1FE782B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924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2FD03-0AC0-9EF2-DFE7-356136F00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73ACC-68DB-1F54-DF2D-4E33715DE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3C06A-2EDD-ACAC-8293-BDE874A21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A0F87-6A0C-0366-83C8-A8753850E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7B288-7923-47E5-9464-628E1FE782B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940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5E56-102E-D23C-1A73-B92334C0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03EC4-0B54-AAF3-5E3D-17EDD5B44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D561C-6DB8-43F1-125B-34E6FF452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5F3C4-73B8-9C55-7B66-7F6222A57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7B288-7923-47E5-9464-628E1FE782B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325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E039B-FA55-25D8-B00D-4AF8777D4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C4A85-0349-AA3A-63F1-1EC961A82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D9410-905B-C84E-F964-C58F2F3BB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4D3F4-BC50-F5A8-51AA-246A53C2D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7B288-7923-47E5-9464-628E1FE782B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329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19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57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53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7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0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40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4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83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3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6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96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F97CA-245A-48BA-B134-2EEE86C5EC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4FD6E-9B24-4176-B318-6E4F28A52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57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886E-C9C7-0815-EAE3-164B4AF7D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4859FF-14E0-E1C9-F779-5D1B9D0B7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847" y="182183"/>
            <a:ext cx="2676546" cy="2958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7A4987-7D52-6E9E-8497-4D57E88557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25814" y="402943"/>
            <a:ext cx="799917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15" b="1" dirty="0">
                <a:latin typeface="Tw Cen MT" panose="020B0602020104020603" pitchFamily="34" charset="0"/>
              </a:rPr>
              <a:t>Project#:  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709CEE-61CF-D089-8375-0DE6DBE789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6848" y="522648"/>
            <a:ext cx="1157487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latin typeface="Tw Cen MT" panose="020B0602020104020603" pitchFamily="34" charset="0"/>
              </a:rPr>
              <a:t>Construction: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0705CB-208F-3ABB-4684-FACE7B589B4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264" y="8770388"/>
            <a:ext cx="543185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5" b="1" dirty="0">
                <a:latin typeface="Tw Cen MT" panose="020B0602020104020603" pitchFamily="34" charset="0"/>
              </a:rPr>
              <a:t>Notes:  </a:t>
            </a:r>
            <a:endParaRPr lang="en-US" sz="1200" baseline="30000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1C28D8-3EB7-EBA2-C89D-1D21E7FFF3F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115642" y="7362008"/>
            <a:ext cx="16399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SIZE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SHAPE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RUG QUALITY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FIBRE CONTENT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DYEING TECHNIQUE :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EDGE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PILE HEIGHT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PILE TYPE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BACKING :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WASH 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0C5C0F-F2CD-A288-A6BB-6B6F31A5E8EE}"/>
              </a:ext>
            </a:extLst>
          </p:cNvPr>
          <p:cNvSpPr txBox="1"/>
          <p:nvPr/>
        </p:nvSpPr>
        <p:spPr>
          <a:xfrm>
            <a:off x="1495512" y="7361960"/>
            <a:ext cx="15550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14 ft X 19 ft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RCT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Hand Tufted HD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Wool Viscose</a:t>
            </a:r>
            <a:b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</a:b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Standard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4 side binding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Standard pile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Cut pile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XN backing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Standard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B06189-BD85-D84E-63BC-DEAAFEBBB798}"/>
              </a:ext>
            </a:extLst>
          </p:cNvPr>
          <p:cNvCxnSpPr>
            <a:cxnSpLocks/>
          </p:cNvCxnSpPr>
          <p:nvPr/>
        </p:nvCxnSpPr>
        <p:spPr>
          <a:xfrm flipV="1">
            <a:off x="426102" y="8715869"/>
            <a:ext cx="4143287" cy="770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0C9FFAE-8467-F75C-9555-311FC462768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26101" y="7198566"/>
            <a:ext cx="4263894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2DCB762-C0F6-0E76-1808-1ADA1D19CBC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55817" y="1161009"/>
            <a:ext cx="0" cy="586327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28A8C53-C288-F1B2-FBCC-AA379A2F703E}"/>
              </a:ext>
            </a:extLst>
          </p:cNvPr>
          <p:cNvSpPr txBox="1"/>
          <p:nvPr/>
        </p:nvSpPr>
        <p:spPr>
          <a:xfrm>
            <a:off x="2482593" y="7227099"/>
            <a:ext cx="1641626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4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Width : 14 ft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E55042-1D12-37FF-1A18-4B6549F85C11}"/>
              </a:ext>
            </a:extLst>
          </p:cNvPr>
          <p:cNvSpPr txBox="1"/>
          <p:nvPr/>
        </p:nvSpPr>
        <p:spPr>
          <a:xfrm rot="16200000">
            <a:off x="4098557" y="4089384"/>
            <a:ext cx="1951260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4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Length :19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E9ABF-CFA1-3089-16FA-28C0CA7A85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05211" y="171048"/>
            <a:ext cx="720520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15" b="1" dirty="0">
                <a:latin typeface="Tw Cen MT" panose="020B0602020104020603" pitchFamily="34" charset="0"/>
              </a:rPr>
              <a:t>Date: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FFF298-F210-B578-B965-BAB2095382A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5884" y="634838"/>
            <a:ext cx="769847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15" b="1" dirty="0">
                <a:latin typeface="Tw Cen MT" panose="020B0602020104020603" pitchFamily="34" charset="0"/>
              </a:rPr>
              <a:t>Area: 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DD6CA9-18A9-8EB8-BF22-D3C5C1701623}"/>
              </a:ext>
            </a:extLst>
          </p:cNvPr>
          <p:cNvSpPr txBox="1"/>
          <p:nvPr/>
        </p:nvSpPr>
        <p:spPr>
          <a:xfrm>
            <a:off x="6839889" y="181980"/>
            <a:ext cx="769847" cy="2485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/>
              </a:rPr>
              <a:t>31/08/26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9E795E-FB6C-F321-45CF-97C12ADAE2DD}"/>
              </a:ext>
            </a:extLst>
          </p:cNvPr>
          <p:cNvSpPr txBox="1"/>
          <p:nvPr/>
        </p:nvSpPr>
        <p:spPr>
          <a:xfrm>
            <a:off x="6839889" y="409722"/>
            <a:ext cx="769847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/>
              </a:rPr>
              <a:t>PID-6815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52A247-F944-4435-FF3D-EF2332CDA1EB}"/>
              </a:ext>
            </a:extLst>
          </p:cNvPr>
          <p:cNvSpPr txBox="1"/>
          <p:nvPr/>
        </p:nvSpPr>
        <p:spPr>
          <a:xfrm>
            <a:off x="819152" y="9790658"/>
            <a:ext cx="60086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u="none" strike="noStrike" baseline="30000" dirty="0">
                <a:solidFill>
                  <a:srgbClr val="48182C"/>
                </a:solidFill>
                <a:latin typeface="Tw Cen MT" panose="020B0602020104020603" pitchFamily="34" charset="0"/>
              </a:rPr>
              <a:t>Jaipur Living - 1800 Cherokee Pkwy, Acworth, GA 30102 - jaipurliving.com</a:t>
            </a:r>
            <a:endParaRPr lang="en-US" sz="1200" b="0" i="0" u="none" strike="noStrike" baseline="30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CFBD0-ED7B-6256-D647-A4121BD2ACA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265" y="750189"/>
            <a:ext cx="779736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latin typeface="Tw Cen MT" panose="020B0602020104020603" pitchFamily="34" charset="0"/>
              </a:rPr>
              <a:t>Design: </a:t>
            </a:r>
            <a:endParaRPr lang="en-US" sz="1354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53012-E32E-11E3-9224-32023A754430}"/>
              </a:ext>
            </a:extLst>
          </p:cNvPr>
          <p:cNvSpPr txBox="1"/>
          <p:nvPr/>
        </p:nvSpPr>
        <p:spPr>
          <a:xfrm>
            <a:off x="1460886" y="750189"/>
            <a:ext cx="4251067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DI765ss-CIT05-opt-01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8C54BD-6800-EE07-E571-19D75AEFEDDE}"/>
              </a:ext>
            </a:extLst>
          </p:cNvPr>
          <p:cNvGrpSpPr/>
          <p:nvPr/>
        </p:nvGrpSpPr>
        <p:grpSpPr>
          <a:xfrm>
            <a:off x="4792132" y="8559804"/>
            <a:ext cx="2646312" cy="861132"/>
            <a:chOff x="4792132" y="8559804"/>
            <a:chExt cx="2646312" cy="86113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C94F57-9366-312B-D209-98F19D8216D8}"/>
                </a:ext>
              </a:extLst>
            </p:cNvPr>
            <p:cNvSpPr/>
            <p:nvPr/>
          </p:nvSpPr>
          <p:spPr>
            <a:xfrm>
              <a:off x="4855817" y="8723571"/>
              <a:ext cx="2582627" cy="6973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946C857-EF48-FB5C-98CE-C625EF54EEB9}"/>
                </a:ext>
              </a:extLst>
            </p:cNvPr>
            <p:cNvSpPr txBox="1"/>
            <p:nvPr/>
          </p:nvSpPr>
          <p:spPr>
            <a:xfrm>
              <a:off x="4792132" y="8559804"/>
              <a:ext cx="14393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w Cen MT" panose="020B0602020104020603" pitchFamily="34" charset="0"/>
                </a:rPr>
                <a:t>APPROVAL BOX: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3017954-A4C7-87D3-2D19-2E684589CAA6}"/>
                </a:ext>
              </a:extLst>
            </p:cNvPr>
            <p:cNvSpPr txBox="1"/>
            <p:nvPr/>
          </p:nvSpPr>
          <p:spPr>
            <a:xfrm>
              <a:off x="4944526" y="8824029"/>
              <a:ext cx="2464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w Cen MT" panose="020B0602020104020603" pitchFamily="34" charset="0"/>
                </a:rPr>
                <a:t>Approved By:	__________________________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E47305A-E61D-B314-95F9-1548EF0929CC}"/>
                </a:ext>
              </a:extLst>
            </p:cNvPr>
            <p:cNvSpPr txBox="1"/>
            <p:nvPr/>
          </p:nvSpPr>
          <p:spPr>
            <a:xfrm>
              <a:off x="4940608" y="9072081"/>
              <a:ext cx="2464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w Cen MT" panose="020B0602020104020603" pitchFamily="34" charset="0"/>
                </a:rPr>
                <a:t>Date:		__________________________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2C4A51CC-D884-6C33-0D16-9F1CEC7EE4C9}"/>
              </a:ext>
            </a:extLst>
          </p:cNvPr>
          <p:cNvSpPr txBox="1"/>
          <p:nvPr/>
        </p:nvSpPr>
        <p:spPr>
          <a:xfrm>
            <a:off x="1460885" y="544779"/>
            <a:ext cx="4251067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Hand Tufted HD-14 pic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0938E3-9747-19EB-16B7-AC1EA0E780A7}"/>
              </a:ext>
            </a:extLst>
          </p:cNvPr>
          <p:cNvSpPr txBox="1"/>
          <p:nvPr/>
        </p:nvSpPr>
        <p:spPr>
          <a:xfrm>
            <a:off x="595774" y="9249390"/>
            <a:ext cx="29299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  <a:effectLst/>
                <a:latin typeface="Tw Cen MT" panose="020B0602020104020603" pitchFamily="34" charset="0"/>
              </a:rPr>
              <a:t>*IMPORTANT: Before approving a render, always consult accrual yarns to ensure color precision.</a:t>
            </a:r>
            <a:endParaRPr lang="en-US" sz="1050" b="0" i="0" u="none" strike="noStrike" baseline="30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73CE9-793C-C1C8-823D-E9BA927D6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934"/>
          <a:stretch>
            <a:fillRect/>
          </a:stretch>
        </p:blipFill>
        <p:spPr>
          <a:xfrm>
            <a:off x="350987" y="1217904"/>
            <a:ext cx="4394273" cy="585489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FF000E4-95F5-1722-2A6C-9CE3C0A11F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461" y="5683812"/>
            <a:ext cx="2074763" cy="2742581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D1F4647-3B4B-D9B9-1F43-223C0465F4AC}"/>
              </a:ext>
            </a:extLst>
          </p:cNvPr>
          <p:cNvSpPr txBox="1"/>
          <p:nvPr/>
        </p:nvSpPr>
        <p:spPr>
          <a:xfrm>
            <a:off x="5271247" y="1255797"/>
            <a:ext cx="2514600" cy="265907"/>
          </a:xfrm>
          <a:prstGeom prst="rect">
            <a:avLst/>
          </a:prstGeom>
          <a:solidFill>
            <a:srgbClr val="A8A891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#2: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DCDF29-54C4-7331-0CFE-9A91270EAA9D}"/>
              </a:ext>
            </a:extLst>
          </p:cNvPr>
          <p:cNvSpPr txBox="1"/>
          <p:nvPr/>
        </p:nvSpPr>
        <p:spPr>
          <a:xfrm>
            <a:off x="5271247" y="961936"/>
            <a:ext cx="2514600" cy="265907"/>
          </a:xfrm>
          <a:prstGeom prst="rect">
            <a:avLst/>
          </a:prstGeom>
          <a:solidFill>
            <a:srgbClr val="D1CCC0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#1: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9F4E41-7E0B-B64E-64DF-05D93C46A9F3}"/>
              </a:ext>
            </a:extLst>
          </p:cNvPr>
          <p:cNvSpPr txBox="1"/>
          <p:nvPr/>
        </p:nvSpPr>
        <p:spPr>
          <a:xfrm>
            <a:off x="5270982" y="1837407"/>
            <a:ext cx="2514600" cy="265907"/>
          </a:xfrm>
          <a:prstGeom prst="rect">
            <a:avLst/>
          </a:prstGeom>
          <a:solidFill>
            <a:srgbClr val="BDBDAE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#4: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790978-E2BF-E35B-C512-BA675058FDB8}"/>
              </a:ext>
            </a:extLst>
          </p:cNvPr>
          <p:cNvSpPr txBox="1"/>
          <p:nvPr/>
        </p:nvSpPr>
        <p:spPr>
          <a:xfrm>
            <a:off x="5270982" y="1543546"/>
            <a:ext cx="2514600" cy="265907"/>
          </a:xfrm>
          <a:prstGeom prst="rect">
            <a:avLst/>
          </a:prstGeom>
          <a:solidFill>
            <a:srgbClr val="8C8F7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#3: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B1C213-C41C-601D-C82D-F79045331915}"/>
              </a:ext>
            </a:extLst>
          </p:cNvPr>
          <p:cNvSpPr txBox="1"/>
          <p:nvPr/>
        </p:nvSpPr>
        <p:spPr>
          <a:xfrm>
            <a:off x="5270982" y="2125354"/>
            <a:ext cx="2514600" cy="265907"/>
          </a:xfrm>
          <a:prstGeom prst="rect">
            <a:avLst/>
          </a:prstGeom>
          <a:solidFill>
            <a:srgbClr val="AAADA5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#5: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87EA2B-71D3-5935-1949-7E2F36ADDA69}"/>
              </a:ext>
            </a:extLst>
          </p:cNvPr>
          <p:cNvSpPr txBox="1"/>
          <p:nvPr/>
        </p:nvSpPr>
        <p:spPr>
          <a:xfrm>
            <a:off x="5261276" y="2417748"/>
            <a:ext cx="2514600" cy="265907"/>
          </a:xfrm>
          <a:prstGeom prst="rect">
            <a:avLst/>
          </a:prstGeom>
          <a:solidFill>
            <a:srgbClr val="8F856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#6: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D3400C-D79D-846E-9DA3-8D1BB64160D6}"/>
              </a:ext>
            </a:extLst>
          </p:cNvPr>
          <p:cNvSpPr txBox="1"/>
          <p:nvPr/>
        </p:nvSpPr>
        <p:spPr>
          <a:xfrm>
            <a:off x="5268151" y="3005225"/>
            <a:ext cx="2514600" cy="265907"/>
          </a:xfrm>
          <a:prstGeom prst="rect">
            <a:avLst/>
          </a:prstGeom>
          <a:solidFill>
            <a:srgbClr val="D4C4A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#8: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5D93A12-B970-9F8F-C8CA-8B00E70B9E37}"/>
              </a:ext>
            </a:extLst>
          </p:cNvPr>
          <p:cNvSpPr txBox="1"/>
          <p:nvPr/>
        </p:nvSpPr>
        <p:spPr>
          <a:xfrm>
            <a:off x="5268151" y="2711364"/>
            <a:ext cx="2514600" cy="265907"/>
          </a:xfrm>
          <a:prstGeom prst="rect">
            <a:avLst/>
          </a:prstGeom>
          <a:solidFill>
            <a:srgbClr val="CCC2AD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#7: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24E326-5923-E674-F1FB-FF356E9C7E9A}"/>
              </a:ext>
            </a:extLst>
          </p:cNvPr>
          <p:cNvSpPr txBox="1"/>
          <p:nvPr/>
        </p:nvSpPr>
        <p:spPr>
          <a:xfrm>
            <a:off x="5267886" y="3586835"/>
            <a:ext cx="2514600" cy="265907"/>
          </a:xfrm>
          <a:prstGeom prst="rect">
            <a:avLst/>
          </a:prstGeom>
          <a:solidFill>
            <a:srgbClr val="E0D4C5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#10: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1B529D-A2C9-5C99-79B2-D91964DF19BA}"/>
              </a:ext>
            </a:extLst>
          </p:cNvPr>
          <p:cNvSpPr txBox="1"/>
          <p:nvPr/>
        </p:nvSpPr>
        <p:spPr>
          <a:xfrm>
            <a:off x="5267886" y="3292974"/>
            <a:ext cx="2514600" cy="265907"/>
          </a:xfrm>
          <a:prstGeom prst="rect">
            <a:avLst/>
          </a:prstGeom>
          <a:solidFill>
            <a:srgbClr val="D9D2B6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#9: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9CE7901-5D7E-C6E0-F352-95993C6F732F}"/>
              </a:ext>
            </a:extLst>
          </p:cNvPr>
          <p:cNvSpPr txBox="1"/>
          <p:nvPr/>
        </p:nvSpPr>
        <p:spPr>
          <a:xfrm>
            <a:off x="5267886" y="3874782"/>
            <a:ext cx="2514600" cy="265907"/>
          </a:xfrm>
          <a:prstGeom prst="rect">
            <a:avLst/>
          </a:prstGeom>
          <a:solidFill>
            <a:srgbClr val="EDE4DA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#11: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C9E32CC-A862-8FE4-5A5F-3D1FC2379E99}"/>
              </a:ext>
            </a:extLst>
          </p:cNvPr>
          <p:cNvSpPr txBox="1"/>
          <p:nvPr/>
        </p:nvSpPr>
        <p:spPr>
          <a:xfrm>
            <a:off x="5298970" y="4166602"/>
            <a:ext cx="2514600" cy="265907"/>
          </a:xfrm>
          <a:prstGeom prst="rect">
            <a:avLst/>
          </a:prstGeom>
          <a:solidFill>
            <a:srgbClr val="EDE2D1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#12: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4CC0740-5330-A464-7CDF-4372C670DB73}"/>
              </a:ext>
            </a:extLst>
          </p:cNvPr>
          <p:cNvSpPr txBox="1"/>
          <p:nvPr/>
        </p:nvSpPr>
        <p:spPr>
          <a:xfrm>
            <a:off x="5264141" y="4461852"/>
            <a:ext cx="2514600" cy="265907"/>
          </a:xfrm>
          <a:prstGeom prst="rect">
            <a:avLst/>
          </a:prstGeom>
          <a:solidFill>
            <a:srgbClr val="987C69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#10:</a:t>
            </a:r>
          </a:p>
        </p:txBody>
      </p:sp>
    </p:spTree>
    <p:extLst>
      <p:ext uri="{BB962C8B-B14F-4D97-AF65-F5344CB8AC3E}">
        <p14:creationId xmlns:p14="http://schemas.microsoft.com/office/powerpoint/2010/main" val="1097443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37E32-2044-645F-21A3-341E48AB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AED32427-9106-11E2-5C85-031696847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1"/>
          <a:stretch>
            <a:fillRect/>
          </a:stretch>
        </p:blipFill>
        <p:spPr>
          <a:xfrm>
            <a:off x="307385" y="1139810"/>
            <a:ext cx="4434925" cy="591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049A64-B849-7BC7-1467-8804CA529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847" y="182183"/>
            <a:ext cx="2676546" cy="2958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6C9FFB-DE93-FFC7-C211-E4FE269D68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25814" y="402943"/>
            <a:ext cx="799917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15" b="1" dirty="0">
                <a:latin typeface="Tw Cen MT" panose="020B0602020104020603" pitchFamily="34" charset="0"/>
              </a:rPr>
              <a:t>Project#:  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991591-BB1B-3110-8D18-89049C6AC33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6848" y="522648"/>
            <a:ext cx="1157487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latin typeface="Tw Cen MT" panose="020B0602020104020603" pitchFamily="34" charset="0"/>
              </a:rPr>
              <a:t>Construction: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88CB09-D094-33F8-464C-5FF92EA7276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264" y="8770388"/>
            <a:ext cx="543185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5" b="1" dirty="0">
                <a:latin typeface="Tw Cen MT" panose="020B0602020104020603" pitchFamily="34" charset="0"/>
              </a:rPr>
              <a:t>Notes:  </a:t>
            </a:r>
            <a:endParaRPr lang="en-US" sz="1200" baseline="30000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B66773-0FBD-D3F9-58D6-DB2BAF0E94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115642" y="7362008"/>
            <a:ext cx="16399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SIZE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SHAPE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RUG QUALITY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FIBRE CONTENT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DYEING TECHNIQUE :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EDGE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PILE HEIGHT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PILE TYPE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BACKING :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WASH 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6C4C3D-01D0-039A-9B27-00A45879DAB6}"/>
              </a:ext>
            </a:extLst>
          </p:cNvPr>
          <p:cNvSpPr txBox="1"/>
          <p:nvPr/>
        </p:nvSpPr>
        <p:spPr>
          <a:xfrm>
            <a:off x="1495512" y="7361960"/>
            <a:ext cx="15550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14 ft X 19 ft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RCT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Hand Tufted HD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Wool Viscose</a:t>
            </a:r>
            <a:b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</a:b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Standard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4 side binding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Standard pile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Cut pile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XN backing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Standard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396BFC-1E0F-B82F-BA6D-D2395E2DBADA}"/>
              </a:ext>
            </a:extLst>
          </p:cNvPr>
          <p:cNvCxnSpPr>
            <a:cxnSpLocks/>
          </p:cNvCxnSpPr>
          <p:nvPr/>
        </p:nvCxnSpPr>
        <p:spPr>
          <a:xfrm flipV="1">
            <a:off x="426102" y="8715869"/>
            <a:ext cx="4143287" cy="770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32ADA8-CBE7-5454-58F9-95C5F5D34B3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26101" y="7198566"/>
            <a:ext cx="4263894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7CF139-02BF-E750-9011-54293AFD7B7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55817" y="1161009"/>
            <a:ext cx="0" cy="586327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BA314E4-C752-CD3F-4087-E4A7FEBCC7BC}"/>
              </a:ext>
            </a:extLst>
          </p:cNvPr>
          <p:cNvSpPr txBox="1"/>
          <p:nvPr/>
        </p:nvSpPr>
        <p:spPr>
          <a:xfrm>
            <a:off x="2482593" y="7227099"/>
            <a:ext cx="1641626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4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Width : 14 ft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849395-6A3B-91B6-7721-A370E154F380}"/>
              </a:ext>
            </a:extLst>
          </p:cNvPr>
          <p:cNvSpPr txBox="1"/>
          <p:nvPr/>
        </p:nvSpPr>
        <p:spPr>
          <a:xfrm rot="16200000">
            <a:off x="4098557" y="4089384"/>
            <a:ext cx="1951260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4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Length :19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F9E9D7-5475-ADF9-414D-F0F6548B9B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05211" y="171048"/>
            <a:ext cx="720520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15" b="1" dirty="0">
                <a:latin typeface="Tw Cen MT" panose="020B0602020104020603" pitchFamily="34" charset="0"/>
              </a:rPr>
              <a:t>Date: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29C334-21DA-FD98-4DBF-659866D334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5884" y="634838"/>
            <a:ext cx="769847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15" b="1" dirty="0">
                <a:latin typeface="Tw Cen MT" panose="020B0602020104020603" pitchFamily="34" charset="0"/>
              </a:rPr>
              <a:t>Area: 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6DD8F5-A961-8040-F266-8AB441E1BFBA}"/>
              </a:ext>
            </a:extLst>
          </p:cNvPr>
          <p:cNvSpPr txBox="1"/>
          <p:nvPr/>
        </p:nvSpPr>
        <p:spPr>
          <a:xfrm>
            <a:off x="6839889" y="181980"/>
            <a:ext cx="769847" cy="2485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/>
              </a:rPr>
              <a:t>31/08/26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B49DA4-4B72-584B-A3E7-D06311AD4B86}"/>
              </a:ext>
            </a:extLst>
          </p:cNvPr>
          <p:cNvSpPr txBox="1"/>
          <p:nvPr/>
        </p:nvSpPr>
        <p:spPr>
          <a:xfrm>
            <a:off x="6839889" y="409722"/>
            <a:ext cx="769847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/>
              </a:rPr>
              <a:t>PID-6815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44D352-4CA7-971C-E0BE-DFE8526BF72F}"/>
              </a:ext>
            </a:extLst>
          </p:cNvPr>
          <p:cNvSpPr txBox="1"/>
          <p:nvPr/>
        </p:nvSpPr>
        <p:spPr>
          <a:xfrm>
            <a:off x="819152" y="9790658"/>
            <a:ext cx="60086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u="none" strike="noStrike" baseline="30000" dirty="0">
                <a:solidFill>
                  <a:srgbClr val="48182C"/>
                </a:solidFill>
                <a:latin typeface="Tw Cen MT" panose="020B0602020104020603" pitchFamily="34" charset="0"/>
              </a:rPr>
              <a:t>Jaipur Living - 1800 Cherokee Pkwy, Acworth, GA 30102 - jaipurliving.com</a:t>
            </a:r>
            <a:endParaRPr lang="en-US" sz="1200" b="0" i="0" u="none" strike="noStrike" baseline="30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91E1D-5C85-F732-555F-AFAE7891D6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265" y="750189"/>
            <a:ext cx="779736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latin typeface="Tw Cen MT" panose="020B0602020104020603" pitchFamily="34" charset="0"/>
              </a:rPr>
              <a:t>Design: </a:t>
            </a:r>
            <a:endParaRPr lang="en-US" sz="1354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0ED252-1FCF-E4D7-8239-85F8A6EFF2CC}"/>
              </a:ext>
            </a:extLst>
          </p:cNvPr>
          <p:cNvSpPr txBox="1"/>
          <p:nvPr/>
        </p:nvSpPr>
        <p:spPr>
          <a:xfrm>
            <a:off x="1460886" y="750189"/>
            <a:ext cx="4251067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DI765ss-CIT05-opt-01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24CDFF7-725F-C708-24B0-9334379890FC}"/>
              </a:ext>
            </a:extLst>
          </p:cNvPr>
          <p:cNvGrpSpPr/>
          <p:nvPr/>
        </p:nvGrpSpPr>
        <p:grpSpPr>
          <a:xfrm>
            <a:off x="4792132" y="8559804"/>
            <a:ext cx="2646312" cy="861132"/>
            <a:chOff x="4792132" y="8559804"/>
            <a:chExt cx="2646312" cy="86113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3D1B5B-E33B-F8F2-4180-D21D6C33EDAD}"/>
                </a:ext>
              </a:extLst>
            </p:cNvPr>
            <p:cNvSpPr/>
            <p:nvPr/>
          </p:nvSpPr>
          <p:spPr>
            <a:xfrm>
              <a:off x="4855817" y="8723571"/>
              <a:ext cx="2582627" cy="6973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0EEBAD5-A814-2CC5-8462-FB142EBE10E3}"/>
                </a:ext>
              </a:extLst>
            </p:cNvPr>
            <p:cNvSpPr txBox="1"/>
            <p:nvPr/>
          </p:nvSpPr>
          <p:spPr>
            <a:xfrm>
              <a:off x="4792132" y="8559804"/>
              <a:ext cx="14393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w Cen MT" panose="020B0602020104020603" pitchFamily="34" charset="0"/>
                </a:rPr>
                <a:t>APPROVAL BOX: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36AE390-9BFE-44BE-7830-66596BEA105C}"/>
                </a:ext>
              </a:extLst>
            </p:cNvPr>
            <p:cNvSpPr txBox="1"/>
            <p:nvPr/>
          </p:nvSpPr>
          <p:spPr>
            <a:xfrm>
              <a:off x="4944526" y="8824029"/>
              <a:ext cx="2464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w Cen MT" panose="020B0602020104020603" pitchFamily="34" charset="0"/>
                </a:rPr>
                <a:t>Approved By:	__________________________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BB74694-8140-E8FF-00BD-7E6B3859F56D}"/>
                </a:ext>
              </a:extLst>
            </p:cNvPr>
            <p:cNvSpPr txBox="1"/>
            <p:nvPr/>
          </p:nvSpPr>
          <p:spPr>
            <a:xfrm>
              <a:off x="4940608" y="9072081"/>
              <a:ext cx="2464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w Cen MT" panose="020B0602020104020603" pitchFamily="34" charset="0"/>
                </a:rPr>
                <a:t>Date:		__________________________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62087F74-5813-A6B5-4A74-9CD63C2EA398}"/>
              </a:ext>
            </a:extLst>
          </p:cNvPr>
          <p:cNvSpPr txBox="1"/>
          <p:nvPr/>
        </p:nvSpPr>
        <p:spPr>
          <a:xfrm>
            <a:off x="1460885" y="544779"/>
            <a:ext cx="4251067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Hand Tufted HD-14 pic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FB202C-3B0C-86FD-9A96-BAC553CA3960}"/>
              </a:ext>
            </a:extLst>
          </p:cNvPr>
          <p:cNvSpPr txBox="1"/>
          <p:nvPr/>
        </p:nvSpPr>
        <p:spPr>
          <a:xfrm>
            <a:off x="595774" y="9249390"/>
            <a:ext cx="29299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  <a:effectLst/>
                <a:latin typeface="Tw Cen MT" panose="020B0602020104020603" pitchFamily="34" charset="0"/>
              </a:rPr>
              <a:t>*IMPORTANT: Before approving a render, always consult accrual yarns to ensure color precision.</a:t>
            </a:r>
            <a:endParaRPr lang="en-US" sz="1050" b="0" i="0" u="none" strike="noStrike" baseline="30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8E68C23-C69C-0D12-E47E-F1F9104F75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461" y="5683812"/>
            <a:ext cx="2074763" cy="274258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ADF1241-3CDA-D655-8E7F-6CA01577C5EE}"/>
              </a:ext>
            </a:extLst>
          </p:cNvPr>
          <p:cNvSpPr txBox="1"/>
          <p:nvPr/>
        </p:nvSpPr>
        <p:spPr>
          <a:xfrm>
            <a:off x="5271247" y="1255797"/>
            <a:ext cx="2514600" cy="265907"/>
          </a:xfrm>
          <a:prstGeom prst="rect">
            <a:avLst/>
          </a:prstGeom>
          <a:solidFill>
            <a:srgbClr val="A8A891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#2: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78A990-237A-2320-2F73-73E947240B08}"/>
              </a:ext>
            </a:extLst>
          </p:cNvPr>
          <p:cNvSpPr txBox="1"/>
          <p:nvPr/>
        </p:nvSpPr>
        <p:spPr>
          <a:xfrm>
            <a:off x="5271247" y="961936"/>
            <a:ext cx="2514600" cy="265907"/>
          </a:xfrm>
          <a:prstGeom prst="rect">
            <a:avLst/>
          </a:prstGeom>
          <a:solidFill>
            <a:srgbClr val="D1CCC0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#1: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D13A65-EB1F-BA6B-6D92-BFD847E1B696}"/>
              </a:ext>
            </a:extLst>
          </p:cNvPr>
          <p:cNvSpPr txBox="1"/>
          <p:nvPr/>
        </p:nvSpPr>
        <p:spPr>
          <a:xfrm>
            <a:off x="5270982" y="1837407"/>
            <a:ext cx="2514600" cy="265907"/>
          </a:xfrm>
          <a:prstGeom prst="rect">
            <a:avLst/>
          </a:prstGeom>
          <a:solidFill>
            <a:srgbClr val="BDBDAE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#4: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49F89C-0FEE-B432-E6E9-7933B5BEF5BD}"/>
              </a:ext>
            </a:extLst>
          </p:cNvPr>
          <p:cNvSpPr txBox="1"/>
          <p:nvPr/>
        </p:nvSpPr>
        <p:spPr>
          <a:xfrm>
            <a:off x="5270982" y="1543546"/>
            <a:ext cx="2514600" cy="265907"/>
          </a:xfrm>
          <a:prstGeom prst="rect">
            <a:avLst/>
          </a:prstGeom>
          <a:solidFill>
            <a:srgbClr val="8C8F7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#3: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A8AC69-1EBB-AE5C-87ED-0010760FE800}"/>
              </a:ext>
            </a:extLst>
          </p:cNvPr>
          <p:cNvSpPr txBox="1"/>
          <p:nvPr/>
        </p:nvSpPr>
        <p:spPr>
          <a:xfrm>
            <a:off x="5270982" y="2125354"/>
            <a:ext cx="2514600" cy="265907"/>
          </a:xfrm>
          <a:prstGeom prst="rect">
            <a:avLst/>
          </a:prstGeom>
          <a:solidFill>
            <a:srgbClr val="AAADA5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#5: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9F3443-8550-129C-413B-1FF3BEAF8A52}"/>
              </a:ext>
            </a:extLst>
          </p:cNvPr>
          <p:cNvSpPr txBox="1"/>
          <p:nvPr/>
        </p:nvSpPr>
        <p:spPr>
          <a:xfrm>
            <a:off x="5261276" y="2417748"/>
            <a:ext cx="2514600" cy="265907"/>
          </a:xfrm>
          <a:prstGeom prst="rect">
            <a:avLst/>
          </a:prstGeom>
          <a:solidFill>
            <a:srgbClr val="8F856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#6: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81E86F-EE2A-9513-0DE7-D3AF9AA8A687}"/>
              </a:ext>
            </a:extLst>
          </p:cNvPr>
          <p:cNvSpPr txBox="1"/>
          <p:nvPr/>
        </p:nvSpPr>
        <p:spPr>
          <a:xfrm>
            <a:off x="5268151" y="3005225"/>
            <a:ext cx="2514600" cy="265907"/>
          </a:xfrm>
          <a:prstGeom prst="rect">
            <a:avLst/>
          </a:prstGeom>
          <a:solidFill>
            <a:srgbClr val="D4C4A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#8: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51A662-BE6C-6972-DCF5-498F749D86DA}"/>
              </a:ext>
            </a:extLst>
          </p:cNvPr>
          <p:cNvSpPr txBox="1"/>
          <p:nvPr/>
        </p:nvSpPr>
        <p:spPr>
          <a:xfrm>
            <a:off x="5268151" y="2711364"/>
            <a:ext cx="2514600" cy="265907"/>
          </a:xfrm>
          <a:prstGeom prst="rect">
            <a:avLst/>
          </a:prstGeom>
          <a:solidFill>
            <a:srgbClr val="CCC2AD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#7: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D2A0C5D-8EB6-7529-09A5-12A3EE828579}"/>
              </a:ext>
            </a:extLst>
          </p:cNvPr>
          <p:cNvSpPr txBox="1"/>
          <p:nvPr/>
        </p:nvSpPr>
        <p:spPr>
          <a:xfrm>
            <a:off x="5267886" y="3586835"/>
            <a:ext cx="2514600" cy="265907"/>
          </a:xfrm>
          <a:prstGeom prst="rect">
            <a:avLst/>
          </a:prstGeom>
          <a:solidFill>
            <a:srgbClr val="E0D4C5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#10: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E727B0-CECB-1401-BB6B-6506E52C33D9}"/>
              </a:ext>
            </a:extLst>
          </p:cNvPr>
          <p:cNvSpPr txBox="1"/>
          <p:nvPr/>
        </p:nvSpPr>
        <p:spPr>
          <a:xfrm>
            <a:off x="5267886" y="3292974"/>
            <a:ext cx="2514600" cy="265907"/>
          </a:xfrm>
          <a:prstGeom prst="rect">
            <a:avLst/>
          </a:prstGeom>
          <a:solidFill>
            <a:srgbClr val="D9D2B6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#9: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8496BE-1D3D-5EDF-F102-93AB73736EE6}"/>
              </a:ext>
            </a:extLst>
          </p:cNvPr>
          <p:cNvSpPr txBox="1"/>
          <p:nvPr/>
        </p:nvSpPr>
        <p:spPr>
          <a:xfrm>
            <a:off x="5267886" y="3874782"/>
            <a:ext cx="2514600" cy="265907"/>
          </a:xfrm>
          <a:prstGeom prst="rect">
            <a:avLst/>
          </a:prstGeom>
          <a:solidFill>
            <a:srgbClr val="EDE4DA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#11: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F5441A-5AC7-9143-875B-075F900F9579}"/>
              </a:ext>
            </a:extLst>
          </p:cNvPr>
          <p:cNvSpPr txBox="1"/>
          <p:nvPr/>
        </p:nvSpPr>
        <p:spPr>
          <a:xfrm>
            <a:off x="5298970" y="4166602"/>
            <a:ext cx="2514600" cy="265907"/>
          </a:xfrm>
          <a:prstGeom prst="rect">
            <a:avLst/>
          </a:prstGeom>
          <a:solidFill>
            <a:srgbClr val="EDE2D1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#12: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15A06A-297F-1957-8183-C4AF29A1B582}"/>
              </a:ext>
            </a:extLst>
          </p:cNvPr>
          <p:cNvSpPr txBox="1"/>
          <p:nvPr/>
        </p:nvSpPr>
        <p:spPr>
          <a:xfrm>
            <a:off x="5264141" y="4461852"/>
            <a:ext cx="2514600" cy="265907"/>
          </a:xfrm>
          <a:prstGeom prst="rect">
            <a:avLst/>
          </a:prstGeom>
          <a:solidFill>
            <a:srgbClr val="987C69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#10:</a:t>
            </a:r>
          </a:p>
        </p:txBody>
      </p:sp>
    </p:spTree>
    <p:extLst>
      <p:ext uri="{BB962C8B-B14F-4D97-AF65-F5344CB8AC3E}">
        <p14:creationId xmlns:p14="http://schemas.microsoft.com/office/powerpoint/2010/main" val="42452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1F0FD-377F-15CB-6C9A-0AB972559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C7E32F-E9E1-366A-DB7C-7B0A05F6C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0"/>
          <a:stretch>
            <a:fillRect/>
          </a:stretch>
        </p:blipFill>
        <p:spPr>
          <a:xfrm>
            <a:off x="329351" y="1156100"/>
            <a:ext cx="4415774" cy="5879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2E561F-FE83-6BE0-89A5-D5993042A2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847" y="182183"/>
            <a:ext cx="2676546" cy="2958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608C56-DDE5-5A15-223F-4A814D7274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25814" y="402943"/>
            <a:ext cx="799917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15" b="1" dirty="0">
                <a:latin typeface="Tw Cen MT" panose="020B0602020104020603" pitchFamily="34" charset="0"/>
              </a:rPr>
              <a:t>Project#:  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0D3F2-5D86-CE3A-5D27-26FC0C2445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6848" y="522648"/>
            <a:ext cx="1157487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latin typeface="Tw Cen MT" panose="020B0602020104020603" pitchFamily="34" charset="0"/>
              </a:rPr>
              <a:t>Construction: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EDF56A-218A-612F-C4DE-AFDCA6DBEB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264" y="8770388"/>
            <a:ext cx="543185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5" b="1" dirty="0">
                <a:latin typeface="Tw Cen MT" panose="020B0602020104020603" pitchFamily="34" charset="0"/>
              </a:rPr>
              <a:t>Notes:  </a:t>
            </a:r>
            <a:endParaRPr lang="en-US" sz="1200" baseline="30000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5F26BB-EE8A-C22E-CDAD-EA7E13B4F6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115642" y="7362008"/>
            <a:ext cx="16399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SIZE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SHAPE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RUG QUALITY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FIBRE CONTENT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DYEING TECHNIQUE :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EDGE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PILE HEIGHT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PILE TYPE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BACKING :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WASH 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64467-E45B-BB75-4857-4DCB5F92C168}"/>
              </a:ext>
            </a:extLst>
          </p:cNvPr>
          <p:cNvSpPr txBox="1"/>
          <p:nvPr/>
        </p:nvSpPr>
        <p:spPr>
          <a:xfrm>
            <a:off x="1495512" y="7361960"/>
            <a:ext cx="15550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14 ft X 19 ft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RCT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Hand Tufted HD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Wool Viscose</a:t>
            </a:r>
            <a:b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</a:b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Standard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4 side binding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Standard pile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Cut pile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XN backing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Standard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63DE12-9BB2-D39F-A045-013BDE7C1C2C}"/>
              </a:ext>
            </a:extLst>
          </p:cNvPr>
          <p:cNvCxnSpPr>
            <a:cxnSpLocks/>
          </p:cNvCxnSpPr>
          <p:nvPr/>
        </p:nvCxnSpPr>
        <p:spPr>
          <a:xfrm flipV="1">
            <a:off x="426102" y="8715869"/>
            <a:ext cx="4143287" cy="770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4AE6FAA-E96F-71FE-3AFE-BD14442B23E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26101" y="7198566"/>
            <a:ext cx="4263894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2818396-8E49-81C1-C239-934F7800144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55817" y="1161009"/>
            <a:ext cx="0" cy="586327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D5EFB18-94ED-0D39-721A-09281809363E}"/>
              </a:ext>
            </a:extLst>
          </p:cNvPr>
          <p:cNvSpPr txBox="1"/>
          <p:nvPr/>
        </p:nvSpPr>
        <p:spPr>
          <a:xfrm>
            <a:off x="2482593" y="7227099"/>
            <a:ext cx="1641626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4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Width : 14 ft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38C0E7-6586-37EB-6C0A-653D82EE6B4B}"/>
              </a:ext>
            </a:extLst>
          </p:cNvPr>
          <p:cNvSpPr txBox="1"/>
          <p:nvPr/>
        </p:nvSpPr>
        <p:spPr>
          <a:xfrm rot="16200000">
            <a:off x="4098557" y="4089384"/>
            <a:ext cx="1951260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4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Length :19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0865E-E340-9874-1ECF-142C4F55D0F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05211" y="171048"/>
            <a:ext cx="720520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15" b="1" dirty="0">
                <a:latin typeface="Tw Cen MT" panose="020B0602020104020603" pitchFamily="34" charset="0"/>
              </a:rPr>
              <a:t>Date: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47F4D-E20F-0C81-FD9C-96E8D22326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5884" y="634838"/>
            <a:ext cx="769847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15" b="1" dirty="0">
                <a:latin typeface="Tw Cen MT" panose="020B0602020104020603" pitchFamily="34" charset="0"/>
              </a:rPr>
              <a:t>Area: 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E7F96F-FF55-A15B-C410-009B7618B299}"/>
              </a:ext>
            </a:extLst>
          </p:cNvPr>
          <p:cNvSpPr txBox="1"/>
          <p:nvPr/>
        </p:nvSpPr>
        <p:spPr>
          <a:xfrm>
            <a:off x="6839889" y="181980"/>
            <a:ext cx="769847" cy="2485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/>
              </a:rPr>
              <a:t>31/08/26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68362C-1E60-FCC3-45A6-5ED47A6E5F15}"/>
              </a:ext>
            </a:extLst>
          </p:cNvPr>
          <p:cNvSpPr txBox="1"/>
          <p:nvPr/>
        </p:nvSpPr>
        <p:spPr>
          <a:xfrm>
            <a:off x="6839889" y="409722"/>
            <a:ext cx="769847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/>
              </a:rPr>
              <a:t>PID-6815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445BE2-97A0-EFBE-EEAD-325E89C9AC67}"/>
              </a:ext>
            </a:extLst>
          </p:cNvPr>
          <p:cNvSpPr txBox="1"/>
          <p:nvPr/>
        </p:nvSpPr>
        <p:spPr>
          <a:xfrm>
            <a:off x="819152" y="9790658"/>
            <a:ext cx="60086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u="none" strike="noStrike" baseline="30000" dirty="0">
                <a:solidFill>
                  <a:srgbClr val="48182C"/>
                </a:solidFill>
                <a:latin typeface="Tw Cen MT" panose="020B0602020104020603" pitchFamily="34" charset="0"/>
              </a:rPr>
              <a:t>Jaipur Living - 1800 Cherokee Pkwy, Acworth, GA 30102 - jaipurliving.com</a:t>
            </a:r>
            <a:endParaRPr lang="en-US" sz="1200" b="0" i="0" u="none" strike="noStrike" baseline="30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B85B5-23AC-B67F-35B5-93727BBDC7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265" y="750189"/>
            <a:ext cx="779736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latin typeface="Tw Cen MT" panose="020B0602020104020603" pitchFamily="34" charset="0"/>
              </a:rPr>
              <a:t>Design: </a:t>
            </a:r>
            <a:endParaRPr lang="en-US" sz="1354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DA554-F666-67CA-2954-DBF683439942}"/>
              </a:ext>
            </a:extLst>
          </p:cNvPr>
          <p:cNvSpPr txBox="1"/>
          <p:nvPr/>
        </p:nvSpPr>
        <p:spPr>
          <a:xfrm>
            <a:off x="1460886" y="750189"/>
            <a:ext cx="4251067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DI765ss-CIT05-opt-01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BAE89F-6264-032D-2D0E-CA820673B0A5}"/>
              </a:ext>
            </a:extLst>
          </p:cNvPr>
          <p:cNvGrpSpPr/>
          <p:nvPr/>
        </p:nvGrpSpPr>
        <p:grpSpPr>
          <a:xfrm>
            <a:off x="4792132" y="8559804"/>
            <a:ext cx="2646312" cy="861132"/>
            <a:chOff x="4792132" y="8559804"/>
            <a:chExt cx="2646312" cy="86113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9983B76-0F5E-58C6-2450-27F41ABA92D7}"/>
                </a:ext>
              </a:extLst>
            </p:cNvPr>
            <p:cNvSpPr/>
            <p:nvPr/>
          </p:nvSpPr>
          <p:spPr>
            <a:xfrm>
              <a:off x="4855817" y="8723571"/>
              <a:ext cx="2582627" cy="6973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659F8C-B8D7-2823-C849-4EA1BB0D13A6}"/>
                </a:ext>
              </a:extLst>
            </p:cNvPr>
            <p:cNvSpPr txBox="1"/>
            <p:nvPr/>
          </p:nvSpPr>
          <p:spPr>
            <a:xfrm>
              <a:off x="4792132" y="8559804"/>
              <a:ext cx="14393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w Cen MT" panose="020B0602020104020603" pitchFamily="34" charset="0"/>
                </a:rPr>
                <a:t>APPROVAL BOX: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359F5D6-0072-05F9-3641-5B6604F347BE}"/>
                </a:ext>
              </a:extLst>
            </p:cNvPr>
            <p:cNvSpPr txBox="1"/>
            <p:nvPr/>
          </p:nvSpPr>
          <p:spPr>
            <a:xfrm>
              <a:off x="4944526" y="8824029"/>
              <a:ext cx="2464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w Cen MT" panose="020B0602020104020603" pitchFamily="34" charset="0"/>
                </a:rPr>
                <a:t>Approved By:	__________________________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748C5CB-7EDA-9165-672F-D8E6CED8F28E}"/>
                </a:ext>
              </a:extLst>
            </p:cNvPr>
            <p:cNvSpPr txBox="1"/>
            <p:nvPr/>
          </p:nvSpPr>
          <p:spPr>
            <a:xfrm>
              <a:off x="4940608" y="9072081"/>
              <a:ext cx="2464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w Cen MT" panose="020B0602020104020603" pitchFamily="34" charset="0"/>
                </a:rPr>
                <a:t>Date:		__________________________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1B44E4D-6CAB-99DC-A485-FC0F816CDD05}"/>
              </a:ext>
            </a:extLst>
          </p:cNvPr>
          <p:cNvSpPr txBox="1"/>
          <p:nvPr/>
        </p:nvSpPr>
        <p:spPr>
          <a:xfrm>
            <a:off x="1460885" y="544779"/>
            <a:ext cx="4251067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Hand Tufted HD-14 pic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605348-0AC5-C528-40D0-2D30865A7537}"/>
              </a:ext>
            </a:extLst>
          </p:cNvPr>
          <p:cNvSpPr txBox="1"/>
          <p:nvPr/>
        </p:nvSpPr>
        <p:spPr>
          <a:xfrm>
            <a:off x="595774" y="9249390"/>
            <a:ext cx="29299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  <a:effectLst/>
                <a:latin typeface="Tw Cen MT" panose="020B0602020104020603" pitchFamily="34" charset="0"/>
              </a:rPr>
              <a:t>*IMPORTANT: Before approving a render, always consult accrual yarns to ensure color precision.</a:t>
            </a:r>
            <a:endParaRPr lang="en-US" sz="1050" b="0" i="0" u="none" strike="noStrike" baseline="30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B69D182-7761-930A-3FA8-1977BC8A88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461" y="5683812"/>
            <a:ext cx="2074763" cy="27425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E0A9825-4CB9-449C-28DE-2FA43DED1C19}"/>
              </a:ext>
            </a:extLst>
          </p:cNvPr>
          <p:cNvSpPr txBox="1"/>
          <p:nvPr/>
        </p:nvSpPr>
        <p:spPr>
          <a:xfrm>
            <a:off x="5271247" y="1255797"/>
            <a:ext cx="2514600" cy="265907"/>
          </a:xfrm>
          <a:prstGeom prst="rect">
            <a:avLst/>
          </a:prstGeom>
          <a:solidFill>
            <a:srgbClr val="A8A891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#2: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6D9927-0C56-D64B-FCBA-F87943A5B299}"/>
              </a:ext>
            </a:extLst>
          </p:cNvPr>
          <p:cNvSpPr txBox="1"/>
          <p:nvPr/>
        </p:nvSpPr>
        <p:spPr>
          <a:xfrm>
            <a:off x="5271247" y="961936"/>
            <a:ext cx="2514600" cy="265907"/>
          </a:xfrm>
          <a:prstGeom prst="rect">
            <a:avLst/>
          </a:prstGeom>
          <a:solidFill>
            <a:srgbClr val="D1CCC0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#1: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5EC777-ACE1-CA6B-9B3C-198322FE35C8}"/>
              </a:ext>
            </a:extLst>
          </p:cNvPr>
          <p:cNvSpPr txBox="1"/>
          <p:nvPr/>
        </p:nvSpPr>
        <p:spPr>
          <a:xfrm>
            <a:off x="5270982" y="1837407"/>
            <a:ext cx="2514600" cy="265907"/>
          </a:xfrm>
          <a:prstGeom prst="rect">
            <a:avLst/>
          </a:prstGeom>
          <a:solidFill>
            <a:srgbClr val="BDBDAE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#4: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C8B215-2437-F96A-1ADC-EFB1837281D8}"/>
              </a:ext>
            </a:extLst>
          </p:cNvPr>
          <p:cNvSpPr txBox="1"/>
          <p:nvPr/>
        </p:nvSpPr>
        <p:spPr>
          <a:xfrm>
            <a:off x="5270982" y="1543546"/>
            <a:ext cx="2514600" cy="265907"/>
          </a:xfrm>
          <a:prstGeom prst="rect">
            <a:avLst/>
          </a:prstGeom>
          <a:solidFill>
            <a:srgbClr val="8C8F7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#3: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D0213B-7632-806D-339A-903D6B8B13D9}"/>
              </a:ext>
            </a:extLst>
          </p:cNvPr>
          <p:cNvSpPr txBox="1"/>
          <p:nvPr/>
        </p:nvSpPr>
        <p:spPr>
          <a:xfrm>
            <a:off x="5270982" y="2125354"/>
            <a:ext cx="2514600" cy="265907"/>
          </a:xfrm>
          <a:prstGeom prst="rect">
            <a:avLst/>
          </a:prstGeom>
          <a:solidFill>
            <a:srgbClr val="AAADA5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#5: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BEDF6D-9CDD-4977-612D-CBFA4B9638B5}"/>
              </a:ext>
            </a:extLst>
          </p:cNvPr>
          <p:cNvSpPr txBox="1"/>
          <p:nvPr/>
        </p:nvSpPr>
        <p:spPr>
          <a:xfrm>
            <a:off x="5261276" y="2417748"/>
            <a:ext cx="2514600" cy="265907"/>
          </a:xfrm>
          <a:prstGeom prst="rect">
            <a:avLst/>
          </a:prstGeom>
          <a:solidFill>
            <a:srgbClr val="8F856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#6: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AAF6A6-D62C-0701-D3DA-403E13521198}"/>
              </a:ext>
            </a:extLst>
          </p:cNvPr>
          <p:cNvSpPr txBox="1"/>
          <p:nvPr/>
        </p:nvSpPr>
        <p:spPr>
          <a:xfrm>
            <a:off x="5268151" y="3005225"/>
            <a:ext cx="2514600" cy="265907"/>
          </a:xfrm>
          <a:prstGeom prst="rect">
            <a:avLst/>
          </a:prstGeom>
          <a:solidFill>
            <a:srgbClr val="D4C4A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#8: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1FC5C6-B2C8-0E5A-BB72-9EEE03095DBB}"/>
              </a:ext>
            </a:extLst>
          </p:cNvPr>
          <p:cNvSpPr txBox="1"/>
          <p:nvPr/>
        </p:nvSpPr>
        <p:spPr>
          <a:xfrm>
            <a:off x="5268151" y="2711364"/>
            <a:ext cx="2514600" cy="265907"/>
          </a:xfrm>
          <a:prstGeom prst="rect">
            <a:avLst/>
          </a:prstGeom>
          <a:solidFill>
            <a:srgbClr val="CCC2AD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#7: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F582FB-E28D-4292-5534-C4820C86A3E7}"/>
              </a:ext>
            </a:extLst>
          </p:cNvPr>
          <p:cNvSpPr txBox="1"/>
          <p:nvPr/>
        </p:nvSpPr>
        <p:spPr>
          <a:xfrm>
            <a:off x="5267886" y="3586835"/>
            <a:ext cx="2514600" cy="265907"/>
          </a:xfrm>
          <a:prstGeom prst="rect">
            <a:avLst/>
          </a:prstGeom>
          <a:solidFill>
            <a:srgbClr val="E0D4C5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#10: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505F31-80FF-4887-5308-6B8CCDDBFC88}"/>
              </a:ext>
            </a:extLst>
          </p:cNvPr>
          <p:cNvSpPr txBox="1"/>
          <p:nvPr/>
        </p:nvSpPr>
        <p:spPr>
          <a:xfrm>
            <a:off x="5267886" y="3292974"/>
            <a:ext cx="2514600" cy="265907"/>
          </a:xfrm>
          <a:prstGeom prst="rect">
            <a:avLst/>
          </a:prstGeom>
          <a:solidFill>
            <a:srgbClr val="D9D2B6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#9: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3E715A-8C8D-D489-CA91-1664A2BB6F92}"/>
              </a:ext>
            </a:extLst>
          </p:cNvPr>
          <p:cNvSpPr txBox="1"/>
          <p:nvPr/>
        </p:nvSpPr>
        <p:spPr>
          <a:xfrm>
            <a:off x="5267886" y="3874782"/>
            <a:ext cx="2514600" cy="265907"/>
          </a:xfrm>
          <a:prstGeom prst="rect">
            <a:avLst/>
          </a:prstGeom>
          <a:solidFill>
            <a:srgbClr val="EDE4DA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#11: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53CAB6-CA45-7B50-A5E7-D3D0B2B92E08}"/>
              </a:ext>
            </a:extLst>
          </p:cNvPr>
          <p:cNvSpPr txBox="1"/>
          <p:nvPr/>
        </p:nvSpPr>
        <p:spPr>
          <a:xfrm>
            <a:off x="5298970" y="4166602"/>
            <a:ext cx="2514600" cy="265907"/>
          </a:xfrm>
          <a:prstGeom prst="rect">
            <a:avLst/>
          </a:prstGeom>
          <a:solidFill>
            <a:srgbClr val="EDE2D1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#12: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8CE937-5B15-32EB-3F25-353B7AE82103}"/>
              </a:ext>
            </a:extLst>
          </p:cNvPr>
          <p:cNvSpPr txBox="1"/>
          <p:nvPr/>
        </p:nvSpPr>
        <p:spPr>
          <a:xfrm>
            <a:off x="5264141" y="4461852"/>
            <a:ext cx="2514600" cy="265907"/>
          </a:xfrm>
          <a:prstGeom prst="rect">
            <a:avLst/>
          </a:prstGeom>
          <a:solidFill>
            <a:srgbClr val="987C69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#10:</a:t>
            </a:r>
          </a:p>
        </p:txBody>
      </p:sp>
    </p:spTree>
    <p:extLst>
      <p:ext uri="{BB962C8B-B14F-4D97-AF65-F5344CB8AC3E}">
        <p14:creationId xmlns:p14="http://schemas.microsoft.com/office/powerpoint/2010/main" val="133951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5D81D-0DAD-EF46-56D4-AC11041A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7D997E-9F2E-D539-5CA9-526CCA0EC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1"/>
          <a:stretch>
            <a:fillRect/>
          </a:stretch>
        </p:blipFill>
        <p:spPr>
          <a:xfrm>
            <a:off x="329351" y="1192333"/>
            <a:ext cx="4415774" cy="58941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F8FCE5-4F7E-97A7-F375-D05C81A426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847" y="182183"/>
            <a:ext cx="2676546" cy="2958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DAE032-7E68-0284-B60F-52124B5214A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25814" y="402943"/>
            <a:ext cx="799917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15" b="1" dirty="0">
                <a:latin typeface="Tw Cen MT" panose="020B0602020104020603" pitchFamily="34" charset="0"/>
              </a:rPr>
              <a:t>Project#:  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B84205-143D-64E8-C9E6-3BAFF599E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6848" y="522648"/>
            <a:ext cx="1157487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latin typeface="Tw Cen MT" panose="020B0602020104020603" pitchFamily="34" charset="0"/>
              </a:rPr>
              <a:t>Construction: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80999A-3051-707A-E79C-2105A61D3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264" y="8770388"/>
            <a:ext cx="543185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5" b="1" dirty="0">
                <a:latin typeface="Tw Cen MT" panose="020B0602020104020603" pitchFamily="34" charset="0"/>
              </a:rPr>
              <a:t>Notes:  </a:t>
            </a:r>
            <a:endParaRPr lang="en-US" sz="1200" baseline="30000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A4DC76-8BCF-5D00-CA47-2DE0265AFAD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115642" y="7362008"/>
            <a:ext cx="16399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SIZE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SHAPE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RUG QUALITY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FIBRE CONTENT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DYEING TECHNIQUE :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EDGE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PILE HEIGHT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PILE TYPE : 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BACKING :</a:t>
            </a:r>
          </a:p>
          <a:p>
            <a:pPr algn="r"/>
            <a:r>
              <a:rPr lang="en-US" sz="1200" b="1" baseline="30000" dirty="0">
                <a:latin typeface="Tw Cen MT" panose="020B0602020104020603" pitchFamily="34" charset="0"/>
              </a:rPr>
              <a:t>FINISH WASH 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223398-87F7-BD5B-372A-305C5802F1DC}"/>
              </a:ext>
            </a:extLst>
          </p:cNvPr>
          <p:cNvSpPr txBox="1"/>
          <p:nvPr/>
        </p:nvSpPr>
        <p:spPr>
          <a:xfrm>
            <a:off x="1495512" y="7361960"/>
            <a:ext cx="15550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14 ft X 19 ft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RCT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Hand Tufted HD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Wool Viscose</a:t>
            </a:r>
            <a:b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</a:b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Standard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4 side binding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Standard pile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Cut pile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XN backing </a:t>
            </a:r>
          </a:p>
          <a:p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Standard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9AD4BD-B6BB-C9E7-8C20-B24412AF0545}"/>
              </a:ext>
            </a:extLst>
          </p:cNvPr>
          <p:cNvCxnSpPr>
            <a:cxnSpLocks/>
          </p:cNvCxnSpPr>
          <p:nvPr/>
        </p:nvCxnSpPr>
        <p:spPr>
          <a:xfrm flipV="1">
            <a:off x="426102" y="8715869"/>
            <a:ext cx="4143287" cy="770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B3C92D-F6F2-BDFD-FE75-E9A8F5E0765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26101" y="7198566"/>
            <a:ext cx="4263894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222AD21-7EF0-2E8A-EFA4-586333F328D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55817" y="1161009"/>
            <a:ext cx="0" cy="586327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5ACFD71-9686-245C-8DEE-EA65F43FF459}"/>
              </a:ext>
            </a:extLst>
          </p:cNvPr>
          <p:cNvSpPr txBox="1"/>
          <p:nvPr/>
        </p:nvSpPr>
        <p:spPr>
          <a:xfrm>
            <a:off x="2482593" y="7227099"/>
            <a:ext cx="1641626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4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Width : 14 ft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CAF536-C557-4B42-1FE1-6B855689DE30}"/>
              </a:ext>
            </a:extLst>
          </p:cNvPr>
          <p:cNvSpPr txBox="1"/>
          <p:nvPr/>
        </p:nvSpPr>
        <p:spPr>
          <a:xfrm rot="16200000">
            <a:off x="4098557" y="4089384"/>
            <a:ext cx="1951260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4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Length :19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A85717-F258-FB91-BA60-1C6A2BC3AA6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05211" y="171048"/>
            <a:ext cx="720520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15" b="1" dirty="0">
                <a:latin typeface="Tw Cen MT" panose="020B0602020104020603" pitchFamily="34" charset="0"/>
              </a:rPr>
              <a:t>Date: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B61852-4B8F-3E8A-7318-E7B6E34039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5884" y="634838"/>
            <a:ext cx="769847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15" b="1" dirty="0">
                <a:latin typeface="Tw Cen MT" panose="020B0602020104020603" pitchFamily="34" charset="0"/>
              </a:rPr>
              <a:t>Area: 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69A9C3-94BA-6FE0-511E-31707A2CF65F}"/>
              </a:ext>
            </a:extLst>
          </p:cNvPr>
          <p:cNvSpPr txBox="1"/>
          <p:nvPr/>
        </p:nvSpPr>
        <p:spPr>
          <a:xfrm>
            <a:off x="6839889" y="181980"/>
            <a:ext cx="769847" cy="2485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/>
              </a:rPr>
              <a:t>31/08/26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BBCFA0-DF2B-5241-BE22-E2D2BB6C48E0}"/>
              </a:ext>
            </a:extLst>
          </p:cNvPr>
          <p:cNvSpPr txBox="1"/>
          <p:nvPr/>
        </p:nvSpPr>
        <p:spPr>
          <a:xfrm>
            <a:off x="6839889" y="409722"/>
            <a:ext cx="769847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/>
              </a:rPr>
              <a:t>PID-6815</a:t>
            </a:r>
            <a:endParaRPr lang="en-US" sz="1015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CFC92C-8F09-3073-2EEE-532F5828F6CF}"/>
              </a:ext>
            </a:extLst>
          </p:cNvPr>
          <p:cNvSpPr txBox="1"/>
          <p:nvPr/>
        </p:nvSpPr>
        <p:spPr>
          <a:xfrm>
            <a:off x="819152" y="9790658"/>
            <a:ext cx="60086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u="none" strike="noStrike" baseline="30000" dirty="0">
                <a:solidFill>
                  <a:srgbClr val="48182C"/>
                </a:solidFill>
                <a:latin typeface="Tw Cen MT" panose="020B0602020104020603" pitchFamily="34" charset="0"/>
              </a:rPr>
              <a:t>Jaipur Living - 1800 Cherokee Pkwy, Acworth, GA 30102 - jaipurliving.com</a:t>
            </a:r>
            <a:endParaRPr lang="en-US" sz="1200" b="0" i="0" u="none" strike="noStrike" baseline="30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E9AA29-BB4C-D29E-D92E-098DB74012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265" y="750189"/>
            <a:ext cx="779736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latin typeface="Tw Cen MT" panose="020B0602020104020603" pitchFamily="34" charset="0"/>
              </a:rPr>
              <a:t>Design: </a:t>
            </a:r>
            <a:endParaRPr lang="en-US" sz="1354" b="1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178FCA-A5CD-2558-1E7B-96AD4975AD19}"/>
              </a:ext>
            </a:extLst>
          </p:cNvPr>
          <p:cNvSpPr txBox="1"/>
          <p:nvPr/>
        </p:nvSpPr>
        <p:spPr>
          <a:xfrm>
            <a:off x="1460886" y="750189"/>
            <a:ext cx="4251067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DI765ss-CIT05-opt-01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5311DB7-8F7F-96BB-AEF7-40391108AB8D}"/>
              </a:ext>
            </a:extLst>
          </p:cNvPr>
          <p:cNvGrpSpPr/>
          <p:nvPr/>
        </p:nvGrpSpPr>
        <p:grpSpPr>
          <a:xfrm>
            <a:off x="4792132" y="8559804"/>
            <a:ext cx="2646312" cy="861132"/>
            <a:chOff x="4792132" y="8559804"/>
            <a:chExt cx="2646312" cy="86113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AD4FD53-D7A2-3041-AE0B-4436AE303EE9}"/>
                </a:ext>
              </a:extLst>
            </p:cNvPr>
            <p:cNvSpPr/>
            <p:nvPr/>
          </p:nvSpPr>
          <p:spPr>
            <a:xfrm>
              <a:off x="4855817" y="8723571"/>
              <a:ext cx="2582627" cy="6973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F18BCA9-E7BD-568A-4B67-20A77A98207E}"/>
                </a:ext>
              </a:extLst>
            </p:cNvPr>
            <p:cNvSpPr txBox="1"/>
            <p:nvPr/>
          </p:nvSpPr>
          <p:spPr>
            <a:xfrm>
              <a:off x="4792132" y="8559804"/>
              <a:ext cx="14393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w Cen MT" panose="020B0602020104020603" pitchFamily="34" charset="0"/>
                </a:rPr>
                <a:t>APPROVAL BOX: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29134B-8F2D-A4BF-AF7A-FD3921BE1B45}"/>
                </a:ext>
              </a:extLst>
            </p:cNvPr>
            <p:cNvSpPr txBox="1"/>
            <p:nvPr/>
          </p:nvSpPr>
          <p:spPr>
            <a:xfrm>
              <a:off x="4944526" y="8824029"/>
              <a:ext cx="2464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w Cen MT" panose="020B0602020104020603" pitchFamily="34" charset="0"/>
                </a:rPr>
                <a:t>Approved By:	__________________________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8029EA-E9FB-86CE-032F-AADBCC14940F}"/>
                </a:ext>
              </a:extLst>
            </p:cNvPr>
            <p:cNvSpPr txBox="1"/>
            <p:nvPr/>
          </p:nvSpPr>
          <p:spPr>
            <a:xfrm>
              <a:off x="4940608" y="9072081"/>
              <a:ext cx="2464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w Cen MT" panose="020B0602020104020603" pitchFamily="34" charset="0"/>
                </a:rPr>
                <a:t>Date:		__________________________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D030353-F846-DAC7-E464-003CE911D477}"/>
              </a:ext>
            </a:extLst>
          </p:cNvPr>
          <p:cNvSpPr txBox="1"/>
          <p:nvPr/>
        </p:nvSpPr>
        <p:spPr>
          <a:xfrm>
            <a:off x="1460885" y="544779"/>
            <a:ext cx="4251067" cy="30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4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Hand Tufted HD-14 pic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84B63-5DC8-374D-1F10-903CE027BBD8}"/>
              </a:ext>
            </a:extLst>
          </p:cNvPr>
          <p:cNvSpPr txBox="1"/>
          <p:nvPr/>
        </p:nvSpPr>
        <p:spPr>
          <a:xfrm>
            <a:off x="595774" y="9249390"/>
            <a:ext cx="29299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  <a:effectLst/>
                <a:latin typeface="Tw Cen MT" panose="020B0602020104020603" pitchFamily="34" charset="0"/>
              </a:rPr>
              <a:t>*IMPORTANT: Before approving a render, always consult accrual yarns to ensure color precision.</a:t>
            </a:r>
            <a:endParaRPr lang="en-US" sz="1050" b="0" i="0" u="none" strike="noStrike" baseline="30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2BD5C4-2FA2-A0D6-D270-6162F4577613}"/>
              </a:ext>
            </a:extLst>
          </p:cNvPr>
          <p:cNvSpPr txBox="1"/>
          <p:nvPr/>
        </p:nvSpPr>
        <p:spPr>
          <a:xfrm>
            <a:off x="5271247" y="1255797"/>
            <a:ext cx="2514600" cy="265907"/>
          </a:xfrm>
          <a:prstGeom prst="rect">
            <a:avLst/>
          </a:prstGeom>
          <a:solidFill>
            <a:srgbClr val="A8A891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#2: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A5C594-0F07-140A-03A3-284F22DF3112}"/>
              </a:ext>
            </a:extLst>
          </p:cNvPr>
          <p:cNvSpPr txBox="1"/>
          <p:nvPr/>
        </p:nvSpPr>
        <p:spPr>
          <a:xfrm>
            <a:off x="5271247" y="961936"/>
            <a:ext cx="2514600" cy="265907"/>
          </a:xfrm>
          <a:prstGeom prst="rect">
            <a:avLst/>
          </a:prstGeom>
          <a:solidFill>
            <a:srgbClr val="D1CCC0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#1: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CF1424-FC9E-E9D3-6FA8-79814D333BD8}"/>
              </a:ext>
            </a:extLst>
          </p:cNvPr>
          <p:cNvSpPr txBox="1"/>
          <p:nvPr/>
        </p:nvSpPr>
        <p:spPr>
          <a:xfrm>
            <a:off x="5270982" y="1837407"/>
            <a:ext cx="2514600" cy="265907"/>
          </a:xfrm>
          <a:prstGeom prst="rect">
            <a:avLst/>
          </a:prstGeom>
          <a:solidFill>
            <a:srgbClr val="BDBDAE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#4: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F81DE9-73F1-CA0A-4153-A4863E084ADA}"/>
              </a:ext>
            </a:extLst>
          </p:cNvPr>
          <p:cNvSpPr txBox="1"/>
          <p:nvPr/>
        </p:nvSpPr>
        <p:spPr>
          <a:xfrm>
            <a:off x="5270982" y="1543546"/>
            <a:ext cx="2514600" cy="265907"/>
          </a:xfrm>
          <a:prstGeom prst="rect">
            <a:avLst/>
          </a:prstGeom>
          <a:solidFill>
            <a:srgbClr val="8C8F7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#3: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3A6B8C-7497-AC84-F5F0-AC9062A4A7DD}"/>
              </a:ext>
            </a:extLst>
          </p:cNvPr>
          <p:cNvSpPr txBox="1"/>
          <p:nvPr/>
        </p:nvSpPr>
        <p:spPr>
          <a:xfrm>
            <a:off x="5270982" y="2125354"/>
            <a:ext cx="2514600" cy="265907"/>
          </a:xfrm>
          <a:prstGeom prst="rect">
            <a:avLst/>
          </a:prstGeom>
          <a:solidFill>
            <a:srgbClr val="AAADA5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#5: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FA784F-A63A-BAF4-EC71-EFFD633FEBC0}"/>
              </a:ext>
            </a:extLst>
          </p:cNvPr>
          <p:cNvSpPr txBox="1"/>
          <p:nvPr/>
        </p:nvSpPr>
        <p:spPr>
          <a:xfrm>
            <a:off x="5261276" y="2417748"/>
            <a:ext cx="2514600" cy="265907"/>
          </a:xfrm>
          <a:prstGeom prst="rect">
            <a:avLst/>
          </a:prstGeom>
          <a:solidFill>
            <a:srgbClr val="8F856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#6: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681E9FA-04A5-9B74-94DC-8275F90458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461" y="5683812"/>
            <a:ext cx="2074763" cy="274258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BA978CA-2808-347E-907D-AF04EA847848}"/>
              </a:ext>
            </a:extLst>
          </p:cNvPr>
          <p:cNvSpPr txBox="1"/>
          <p:nvPr/>
        </p:nvSpPr>
        <p:spPr>
          <a:xfrm>
            <a:off x="5268151" y="3005225"/>
            <a:ext cx="2514600" cy="265907"/>
          </a:xfrm>
          <a:prstGeom prst="rect">
            <a:avLst/>
          </a:prstGeom>
          <a:solidFill>
            <a:srgbClr val="D4C4A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#8: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270EA8-E02A-6637-95EA-037DE50AE9FC}"/>
              </a:ext>
            </a:extLst>
          </p:cNvPr>
          <p:cNvSpPr txBox="1"/>
          <p:nvPr/>
        </p:nvSpPr>
        <p:spPr>
          <a:xfrm>
            <a:off x="5268151" y="2711364"/>
            <a:ext cx="2514600" cy="265907"/>
          </a:xfrm>
          <a:prstGeom prst="rect">
            <a:avLst/>
          </a:prstGeom>
          <a:solidFill>
            <a:srgbClr val="CCC2AD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#7: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31CBAF-5F90-464D-3A7D-817CBC9A7BD1}"/>
              </a:ext>
            </a:extLst>
          </p:cNvPr>
          <p:cNvSpPr txBox="1"/>
          <p:nvPr/>
        </p:nvSpPr>
        <p:spPr>
          <a:xfrm>
            <a:off x="5267886" y="3586835"/>
            <a:ext cx="2514600" cy="265907"/>
          </a:xfrm>
          <a:prstGeom prst="rect">
            <a:avLst/>
          </a:prstGeom>
          <a:solidFill>
            <a:srgbClr val="E0D4C5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#10: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01EF36-8AD2-94ED-51BF-2B58F671C2CF}"/>
              </a:ext>
            </a:extLst>
          </p:cNvPr>
          <p:cNvSpPr txBox="1"/>
          <p:nvPr/>
        </p:nvSpPr>
        <p:spPr>
          <a:xfrm>
            <a:off x="5267886" y="3292974"/>
            <a:ext cx="2514600" cy="265907"/>
          </a:xfrm>
          <a:prstGeom prst="rect">
            <a:avLst/>
          </a:prstGeom>
          <a:solidFill>
            <a:srgbClr val="D9D2B6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#9: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3E856A-12A0-E8AB-9FDE-C715843EC79A}"/>
              </a:ext>
            </a:extLst>
          </p:cNvPr>
          <p:cNvSpPr txBox="1"/>
          <p:nvPr/>
        </p:nvSpPr>
        <p:spPr>
          <a:xfrm>
            <a:off x="5267886" y="3874782"/>
            <a:ext cx="2514600" cy="265907"/>
          </a:xfrm>
          <a:prstGeom prst="rect">
            <a:avLst/>
          </a:prstGeom>
          <a:solidFill>
            <a:srgbClr val="EDE4DA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#11: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A18566-633C-2E9F-38C7-141965C7E2C0}"/>
              </a:ext>
            </a:extLst>
          </p:cNvPr>
          <p:cNvSpPr txBox="1"/>
          <p:nvPr/>
        </p:nvSpPr>
        <p:spPr>
          <a:xfrm>
            <a:off x="5298970" y="4166602"/>
            <a:ext cx="2514600" cy="265907"/>
          </a:xfrm>
          <a:prstGeom prst="rect">
            <a:avLst/>
          </a:prstGeom>
          <a:solidFill>
            <a:srgbClr val="EDE2D1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#12: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8D5C84-7A5B-5D7A-F8D3-336BCC08C7BA}"/>
              </a:ext>
            </a:extLst>
          </p:cNvPr>
          <p:cNvSpPr txBox="1"/>
          <p:nvPr/>
        </p:nvSpPr>
        <p:spPr>
          <a:xfrm>
            <a:off x="5264141" y="4461852"/>
            <a:ext cx="2514600" cy="265907"/>
          </a:xfrm>
          <a:prstGeom prst="rect">
            <a:avLst/>
          </a:prstGeom>
          <a:solidFill>
            <a:srgbClr val="987C69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#10:</a:t>
            </a:r>
          </a:p>
        </p:txBody>
      </p:sp>
    </p:spTree>
    <p:extLst>
      <p:ext uri="{BB962C8B-B14F-4D97-AF65-F5344CB8AC3E}">
        <p14:creationId xmlns:p14="http://schemas.microsoft.com/office/powerpoint/2010/main" val="1651986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5A350-4B9E-345B-1B60-22F238E8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94DB97-A8BE-E195-0F28-CB9F837D8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847" y="182183"/>
            <a:ext cx="2676546" cy="2958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8906D5C-4346-CF5B-1797-DFB0018FC15A}"/>
              </a:ext>
            </a:extLst>
          </p:cNvPr>
          <p:cNvSpPr txBox="1"/>
          <p:nvPr/>
        </p:nvSpPr>
        <p:spPr>
          <a:xfrm>
            <a:off x="639620" y="870191"/>
            <a:ext cx="687877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1802" indent="-241802">
              <a:buFont typeface="Arial" panose="020B0604020202020204" pitchFamily="34" charset="0"/>
              <a:buChar char="•"/>
            </a:pP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A custom rug is by nature a unique product. Slight variations in color and size are normal and should be expected.</a:t>
            </a:r>
          </a:p>
          <a:p>
            <a:pPr marL="241802" indent="-241802">
              <a:buFont typeface="Arial" panose="020B0604020202020204" pitchFamily="34" charset="0"/>
              <a:buChar char="•"/>
            </a:pP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All custom rugs can have a variance of +/- 3 inches.</a:t>
            </a:r>
          </a:p>
          <a:p>
            <a:pPr marL="241802" indent="-241802">
              <a:buFont typeface="Arial" panose="020B0604020202020204" pitchFamily="34" charset="0"/>
              <a:buChar char="•"/>
            </a:pP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Colors on screen may vary from the actual product due to differences in screen calibration and settings.</a:t>
            </a:r>
          </a:p>
          <a:p>
            <a:pPr marL="241802" indent="-241802">
              <a:buFont typeface="Arial" panose="020B0604020202020204" pitchFamily="34" charset="0"/>
              <a:buChar char="•"/>
            </a:pP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No changes may be made once order is placed.</a:t>
            </a:r>
          </a:p>
          <a:p>
            <a:pPr marL="241802" indent="-241802">
              <a:buFont typeface="Arial" panose="020B0604020202020204" pitchFamily="34" charset="0"/>
              <a:buChar char="•"/>
            </a:pP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No cancellations once items are in production.</a:t>
            </a:r>
          </a:p>
          <a:p>
            <a:pPr marL="241802" indent="-241802">
              <a:buFont typeface="Arial" panose="020B0604020202020204" pitchFamily="34" charset="0"/>
              <a:buChar char="•"/>
            </a:pP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You may cancel your custom rug order within 5 business days from the date of the order without penalty. If you wish to cancel standard customs after 5 business days, your deposit will be forfeited.</a:t>
            </a:r>
          </a:p>
          <a:p>
            <a:pPr marL="241802" indent="-241802">
              <a:buFont typeface="Arial" panose="020B0604020202020204" pitchFamily="34" charset="0"/>
              <a:buChar char="•"/>
            </a:pP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No returns/refunds of Custom Rug. </a:t>
            </a:r>
          </a:p>
          <a:p>
            <a:pPr marL="241802" indent="-241802">
              <a:buFont typeface="Arial" panose="020B0604020202020204" pitchFamily="34" charset="0"/>
              <a:buChar char="•"/>
            </a:pP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Size limitations vary between collections.</a:t>
            </a:r>
          </a:p>
          <a:p>
            <a:pPr marL="241802" indent="-241802">
              <a:buFont typeface="Arial" panose="020B0604020202020204" pitchFamily="34" charset="0"/>
              <a:buChar char="•"/>
            </a:pP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Production times are an estimate. All efforts will be made to produce in the time quoted.</a:t>
            </a:r>
          </a:p>
          <a:p>
            <a:pPr marL="241802" indent="-241802">
              <a:buFont typeface="Arial" panose="020B0604020202020204" pitchFamily="34" charset="0"/>
              <a:buChar char="•"/>
            </a:pPr>
            <a:r>
              <a:rPr lang="en-US" sz="12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Final delivery of your custom rug will vary  based on size, construction and shipping method.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E81982-DF47-432F-6E8E-8662D1101164}"/>
              </a:ext>
            </a:extLst>
          </p:cNvPr>
          <p:cNvSpPr txBox="1"/>
          <p:nvPr/>
        </p:nvSpPr>
        <p:spPr>
          <a:xfrm>
            <a:off x="406185" y="642201"/>
            <a:ext cx="1831172" cy="24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5" b="1" dirty="0">
                <a:latin typeface="Tw Cen MT" panose="020B0602020104020603" pitchFamily="34" charset="0"/>
              </a:rPr>
              <a:t>Policies: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8D59D7-A3FB-BA86-9BE8-0A6EF531EE58}"/>
              </a:ext>
            </a:extLst>
          </p:cNvPr>
          <p:cNvSpPr txBox="1"/>
          <p:nvPr/>
        </p:nvSpPr>
        <p:spPr>
          <a:xfrm>
            <a:off x="819152" y="9790658"/>
            <a:ext cx="60086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u="none" strike="noStrike" baseline="30000" dirty="0">
                <a:solidFill>
                  <a:srgbClr val="48182C"/>
                </a:solidFill>
                <a:latin typeface="Tw Cen MT" panose="020B0602020104020603" pitchFamily="34" charset="0"/>
              </a:rPr>
              <a:t>Jaipur Living - 1800 Cherokee Pkwy, Acworth, GA 30102 - jaipurliving.com</a:t>
            </a:r>
            <a:endParaRPr lang="en-US" sz="1200" b="0" i="0" u="none" strike="noStrike" baseline="30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41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6692</TotalTime>
  <Words>831</Words>
  <Application>Microsoft Office PowerPoint</Application>
  <PresentationFormat>Custom</PresentationFormat>
  <Paragraphs>212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Tw Cen MT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Ishita Karelia</dc:creator>
  <cp:lastModifiedBy>design</cp:lastModifiedBy>
  <cp:revision>356</cp:revision>
  <dcterms:created xsi:type="dcterms:W3CDTF">2023-06-02T05:25:28Z</dcterms:created>
  <dcterms:modified xsi:type="dcterms:W3CDTF">2026-08-31T12:55:02Z</dcterms:modified>
</cp:coreProperties>
</file>